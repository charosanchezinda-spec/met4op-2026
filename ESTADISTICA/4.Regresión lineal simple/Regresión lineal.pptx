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Poppins"/>
      <p:regular r:id="rId50"/>
      <p:bold r:id="rId51"/>
      <p:italic r:id="rId52"/>
      <p:boldItalic r:id="rId53"/>
    </p:embeddedFont>
    <p:embeddedFont>
      <p:font typeface="Average"/>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font" Target="fonts/Average-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d4336fec3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d4336fec3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d4336fec3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d4336fec3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d4336fec3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d4336fec3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d4336fec36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d4336fec36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d4336fec36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d4336fec3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4336fec36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d4336fec36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4336fec36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4336fec36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433f29f0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433f29f0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d433f29f0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d433f29f0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d433f29f0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d433f29f0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433f29f0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433f29f0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d433f29f0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d433f29f0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d433f29f0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d433f29f0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433f29f0a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433f29f0a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433f29f0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d433f29f0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7dfdde8e5f41588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7dfdde8e5f41588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d433f29f0a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d433f29f0a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d433f29f0a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d433f29f0a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d433f29f0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d433f29f0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d433f29f0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d433f29f0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433f29f0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d433f29f0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d433f29f0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d433f29f0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d433f29f0a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d433f29f0a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433f29f0a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d433f29f0a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d433f29f0a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d433f29f0a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7dfdde8e5f415883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7dfdde8e5f415883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d433f29f0a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d433f29f0a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d433f29f0a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d433f29f0a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d44370170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d44370170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d44370170f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d44370170f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433f29f0a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433f29f0a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d433f29f0a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d433f29f0a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d433f29f0a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d433f29f0a_0_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d4437017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d4437017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d44370170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d44370170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d44370170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d44370170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d44370170f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d44370170f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d44370170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d44370170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d44370170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2d44370170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d44370170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2d44370170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d44370170f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d44370170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d44370170f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d44370170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d44370170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d44370170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33.png"/><Relationship Id="rId9"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24.png"/><Relationship Id="rId7" Type="http://schemas.openxmlformats.org/officeDocument/2006/relationships/image" Target="../media/image29.png"/><Relationship Id="rId8"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latin typeface="Poppins"/>
                <a:ea typeface="Poppins"/>
                <a:cs typeface="Poppins"/>
                <a:sym typeface="Poppins"/>
              </a:rPr>
              <a:t>Regresión lineal</a:t>
            </a:r>
            <a:endParaRPr>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Regresión - ¿para qué se usa?</a:t>
            </a:r>
            <a:endParaRPr>
              <a:latin typeface="Poppins"/>
              <a:ea typeface="Poppins"/>
              <a:cs typeface="Poppins"/>
              <a:sym typeface="Poppins"/>
            </a:endParaRPr>
          </a:p>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 ¿para qué se usa?</a:t>
            </a:r>
            <a:endParaRPr/>
          </a:p>
          <a:p>
            <a:pPr indent="0" lvl="0" marL="0" rtl="0" algn="l">
              <a:spcBef>
                <a:spcPts val="0"/>
              </a:spcBef>
              <a:spcAft>
                <a:spcPts val="0"/>
              </a:spcAft>
              <a:buNone/>
            </a:pPr>
            <a:r>
              <a:t/>
            </a:r>
            <a:endParaRPr sz="2467">
              <a:latin typeface="Poppins"/>
              <a:ea typeface="Poppins"/>
              <a:cs typeface="Poppins"/>
              <a:sym typeface="Poppins"/>
            </a:endParaRPr>
          </a:p>
        </p:txBody>
      </p:sp>
      <p:sp>
        <p:nvSpPr>
          <p:cNvPr id="65" name="Google Shape;65;p15"/>
          <p:cNvSpPr txBox="1"/>
          <p:nvPr/>
        </p:nvSpPr>
        <p:spPr>
          <a:xfrm>
            <a:off x="96150" y="811950"/>
            <a:ext cx="8951700" cy="373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2167">
                <a:solidFill>
                  <a:schemeClr val="dk1"/>
                </a:solidFill>
              </a:rPr>
              <a:t>El análisis de regresión tiene múltiples usos y se encuentra en casi todas las áreas y disciplinas. Nos permite:</a:t>
            </a:r>
            <a:endParaRPr sz="2167">
              <a:solidFill>
                <a:schemeClr val="dk1"/>
              </a:solidFill>
            </a:endParaRPr>
          </a:p>
          <a:p>
            <a:pPr indent="0" lvl="0" marL="0" rtl="0" algn="just">
              <a:spcBef>
                <a:spcPts val="0"/>
              </a:spcBef>
              <a:spcAft>
                <a:spcPts val="0"/>
              </a:spcAft>
              <a:buNone/>
            </a:pPr>
            <a:r>
              <a:t/>
            </a:r>
            <a:endParaRPr sz="2167">
              <a:solidFill>
                <a:schemeClr val="dk1"/>
              </a:solidFill>
            </a:endParaRPr>
          </a:p>
          <a:p>
            <a:pPr indent="-359834" lvl="0" marL="457200" rtl="0" algn="just">
              <a:spcBef>
                <a:spcPts val="0"/>
              </a:spcBef>
              <a:spcAft>
                <a:spcPts val="0"/>
              </a:spcAft>
              <a:buClr>
                <a:schemeClr val="dk1"/>
              </a:buClr>
              <a:buSzPts val="2067"/>
              <a:buChar char="●"/>
            </a:pPr>
            <a:r>
              <a:rPr lang="es" sz="2067">
                <a:solidFill>
                  <a:schemeClr val="dk1"/>
                </a:solidFill>
              </a:rPr>
              <a:t>Establecer relaciones entre dos o más variables</a:t>
            </a:r>
            <a:endParaRPr sz="2067">
              <a:solidFill>
                <a:schemeClr val="dk1"/>
              </a:solidFill>
            </a:endParaRPr>
          </a:p>
          <a:p>
            <a:pPr indent="-359834" lvl="0" marL="457200" rtl="0" algn="just">
              <a:spcBef>
                <a:spcPts val="0"/>
              </a:spcBef>
              <a:spcAft>
                <a:spcPts val="0"/>
              </a:spcAft>
              <a:buClr>
                <a:schemeClr val="dk1"/>
              </a:buClr>
              <a:buSzPts val="2067"/>
              <a:buChar char="●"/>
            </a:pPr>
            <a:r>
              <a:rPr lang="es" sz="2067">
                <a:solidFill>
                  <a:schemeClr val="dk1"/>
                </a:solidFill>
              </a:rPr>
              <a:t>Predecir qué valor tomará una variable en función de otra(s)</a:t>
            </a:r>
            <a:endParaRPr sz="2067">
              <a:solidFill>
                <a:schemeClr val="dk1"/>
              </a:solidFill>
            </a:endParaRPr>
          </a:p>
          <a:p>
            <a:pPr indent="-359834" lvl="0" marL="457200" rtl="0" algn="just">
              <a:spcBef>
                <a:spcPts val="0"/>
              </a:spcBef>
              <a:spcAft>
                <a:spcPts val="0"/>
              </a:spcAft>
              <a:buClr>
                <a:schemeClr val="dk1"/>
              </a:buClr>
              <a:buSzPts val="2067"/>
              <a:buChar char="●"/>
            </a:pPr>
            <a:r>
              <a:rPr lang="es" sz="2067">
                <a:solidFill>
                  <a:schemeClr val="dk1"/>
                </a:solidFill>
              </a:rPr>
              <a:t>Además de establecer relaciones entre variables, nos da indicios acerca de cómo es esa relación, es decir de cuánto el cambio de una variable independiente incide en la variable dependiente.</a:t>
            </a:r>
            <a:endParaRPr sz="2067">
              <a:solidFill>
                <a:schemeClr val="dk1"/>
              </a:solidFill>
            </a:endParaRPr>
          </a:p>
          <a:p>
            <a:pPr indent="-359834" lvl="0" marL="457200" rtl="0" algn="just">
              <a:spcBef>
                <a:spcPts val="0"/>
              </a:spcBef>
              <a:spcAft>
                <a:spcPts val="0"/>
              </a:spcAft>
              <a:buClr>
                <a:schemeClr val="dk1"/>
              </a:buClr>
              <a:buSzPts val="2067"/>
              <a:buChar char="●"/>
            </a:pPr>
            <a:r>
              <a:rPr lang="es" sz="2067">
                <a:solidFill>
                  <a:schemeClr val="dk1"/>
                </a:solidFill>
              </a:rPr>
              <a:t>A partir de modelar la relación entre variables (partiendo de una muestra, de datos históricos, de observaciones) es posible predecir ciertos resultados que permiten tomar decisiones informadas</a:t>
            </a:r>
            <a:endParaRPr sz="2067">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a:t>
            </a:r>
            <a:endParaRPr sz="2467"/>
          </a:p>
        </p:txBody>
      </p:sp>
      <p:sp>
        <p:nvSpPr>
          <p:cNvPr id="71" name="Google Shape;71;p16"/>
          <p:cNvSpPr txBox="1"/>
          <p:nvPr/>
        </p:nvSpPr>
        <p:spPr>
          <a:xfrm>
            <a:off x="96150" y="811950"/>
            <a:ext cx="8951700" cy="51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67">
              <a:solidFill>
                <a:schemeClr val="dk1"/>
              </a:solidFill>
            </a:endParaRPr>
          </a:p>
        </p:txBody>
      </p:sp>
      <p:sp>
        <p:nvSpPr>
          <p:cNvPr id="72" name="Google Shape;72;p16"/>
          <p:cNvSpPr txBox="1"/>
          <p:nvPr>
            <p:ph type="title"/>
          </p:nvPr>
        </p:nvSpPr>
        <p:spPr>
          <a:xfrm>
            <a:off x="377100" y="784650"/>
            <a:ext cx="8520600" cy="57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s" sz="2050"/>
              <a:t>Habiendo estudiado la teoría de las variables aleatorias (por ejemplo cantidad de hijos) y analizado propiedades de las mismas (su esperanza, su varianza…), ahora nos ocuparemos de modelar la relación entre estas variables.</a:t>
            </a:r>
            <a:endParaRPr sz="2050"/>
          </a:p>
        </p:txBody>
      </p:sp>
      <p:cxnSp>
        <p:nvCxnSpPr>
          <p:cNvPr id="73" name="Google Shape;73;p16"/>
          <p:cNvCxnSpPr/>
          <p:nvPr/>
        </p:nvCxnSpPr>
        <p:spPr>
          <a:xfrm>
            <a:off x="4514975" y="2320575"/>
            <a:ext cx="0" cy="837300"/>
          </a:xfrm>
          <a:prstGeom prst="straightConnector1">
            <a:avLst/>
          </a:prstGeom>
          <a:noFill/>
          <a:ln cap="flat" cmpd="sng" w="9525">
            <a:solidFill>
              <a:schemeClr val="dk2"/>
            </a:solidFill>
            <a:prstDash val="solid"/>
            <a:round/>
            <a:headEnd len="med" w="med" type="none"/>
            <a:tailEnd len="med" w="med" type="triangle"/>
          </a:ln>
        </p:spPr>
      </p:cxnSp>
      <p:sp>
        <p:nvSpPr>
          <p:cNvPr id="74" name="Google Shape;74;p16"/>
          <p:cNvSpPr txBox="1"/>
          <p:nvPr>
            <p:ph type="title"/>
          </p:nvPr>
        </p:nvSpPr>
        <p:spPr>
          <a:xfrm>
            <a:off x="4726775" y="2376750"/>
            <a:ext cx="16368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2420"/>
              <a:t>¿Cómo?</a:t>
            </a:r>
            <a:endParaRPr sz="2120"/>
          </a:p>
        </p:txBody>
      </p:sp>
      <p:sp>
        <p:nvSpPr>
          <p:cNvPr id="75" name="Google Shape;75;p16"/>
          <p:cNvSpPr txBox="1"/>
          <p:nvPr>
            <p:ph type="title"/>
          </p:nvPr>
        </p:nvSpPr>
        <p:spPr>
          <a:xfrm>
            <a:off x="458700" y="3442575"/>
            <a:ext cx="8226600" cy="572700"/>
          </a:xfrm>
          <a:prstGeom prst="rect">
            <a:avLst/>
          </a:prstGeom>
        </p:spPr>
        <p:txBody>
          <a:bodyPr anchorCtr="0" anchor="t" bIns="91425" lIns="91425" spcFirstLastPara="1" rIns="91425" wrap="square" tIns="91425">
            <a:normAutofit fontScale="90000"/>
          </a:bodyPr>
          <a:lstStyle/>
          <a:p>
            <a:pPr indent="0" lvl="0" marL="0" rtl="0" algn="just">
              <a:spcBef>
                <a:spcPts val="0"/>
              </a:spcBef>
              <a:spcAft>
                <a:spcPts val="0"/>
              </a:spcAft>
              <a:buSzPct val="40909"/>
              <a:buNone/>
            </a:pPr>
            <a:r>
              <a:rPr lang="es" sz="2420"/>
              <a:t>Buscando el modelo que mejor represente esa relación, y que nos permita estimar ciertos parámetros que la caractericen correctamente</a:t>
            </a:r>
            <a:endParaRPr sz="21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a:t>
            </a:r>
            <a:endParaRPr sz="2467"/>
          </a:p>
        </p:txBody>
      </p:sp>
      <p:sp>
        <p:nvSpPr>
          <p:cNvPr id="81" name="Google Shape;81;p17"/>
          <p:cNvSpPr txBox="1"/>
          <p:nvPr/>
        </p:nvSpPr>
        <p:spPr>
          <a:xfrm>
            <a:off x="96150" y="811950"/>
            <a:ext cx="8951700" cy="51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67">
              <a:solidFill>
                <a:schemeClr val="dk1"/>
              </a:solidFill>
            </a:endParaRPr>
          </a:p>
        </p:txBody>
      </p:sp>
      <p:sp>
        <p:nvSpPr>
          <p:cNvPr id="82" name="Google Shape;82;p17"/>
          <p:cNvSpPr txBox="1"/>
          <p:nvPr>
            <p:ph type="title"/>
          </p:nvPr>
        </p:nvSpPr>
        <p:spPr>
          <a:xfrm>
            <a:off x="377100" y="784650"/>
            <a:ext cx="8520600" cy="57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s" sz="2050"/>
              <a:t>Comenzaremos con el modelo de regresión lineal, que es relativamente simple y cuya fórmula matemática es sencilla de interpretar. </a:t>
            </a:r>
            <a:endParaRPr sz="2050"/>
          </a:p>
          <a:p>
            <a:pPr indent="0" lvl="0" marL="0" rtl="0" algn="just">
              <a:spcBef>
                <a:spcPts val="0"/>
              </a:spcBef>
              <a:spcAft>
                <a:spcPts val="0"/>
              </a:spcAft>
              <a:buSzPts val="990"/>
              <a:buNone/>
            </a:pPr>
            <a:r>
              <a:t/>
            </a:r>
            <a:endParaRPr sz="2050"/>
          </a:p>
          <a:p>
            <a:pPr indent="0" lvl="0" marL="0" rtl="0" algn="just">
              <a:spcBef>
                <a:spcPts val="0"/>
              </a:spcBef>
              <a:spcAft>
                <a:spcPts val="0"/>
              </a:spcAft>
              <a:buSzPts val="990"/>
              <a:buNone/>
            </a:pPr>
            <a:r>
              <a:rPr lang="es" sz="2050"/>
              <a:t>Ecuación de la regresión lineal simple:</a:t>
            </a:r>
            <a:endParaRPr sz="2050"/>
          </a:p>
          <a:p>
            <a:pPr indent="0" lvl="0" marL="0" rtl="0" algn="just">
              <a:spcBef>
                <a:spcPts val="0"/>
              </a:spcBef>
              <a:spcAft>
                <a:spcPts val="0"/>
              </a:spcAft>
              <a:buSzPts val="990"/>
              <a:buNone/>
            </a:pPr>
            <a:r>
              <a:t/>
            </a:r>
            <a:endParaRPr sz="2050"/>
          </a:p>
          <a:p>
            <a:pPr indent="0" lvl="0" marL="0" rtl="0" algn="just">
              <a:spcBef>
                <a:spcPts val="0"/>
              </a:spcBef>
              <a:spcAft>
                <a:spcPts val="0"/>
              </a:spcAft>
              <a:buSzPts val="990"/>
              <a:buNone/>
            </a:pPr>
            <a:r>
              <a:t/>
            </a:r>
            <a:endParaRPr sz="2050"/>
          </a:p>
        </p:txBody>
      </p:sp>
      <p:cxnSp>
        <p:nvCxnSpPr>
          <p:cNvPr id="83" name="Google Shape;83;p17"/>
          <p:cNvCxnSpPr/>
          <p:nvPr/>
        </p:nvCxnSpPr>
        <p:spPr>
          <a:xfrm>
            <a:off x="3210075" y="3386225"/>
            <a:ext cx="0" cy="1566000"/>
          </a:xfrm>
          <a:prstGeom prst="straightConnector1">
            <a:avLst/>
          </a:prstGeom>
          <a:noFill/>
          <a:ln cap="flat" cmpd="sng" w="9525">
            <a:solidFill>
              <a:schemeClr val="dk2"/>
            </a:solidFill>
            <a:prstDash val="solid"/>
            <a:round/>
            <a:headEnd len="med" w="med" type="none"/>
            <a:tailEnd len="med" w="med" type="none"/>
          </a:ln>
        </p:spPr>
      </p:cxnSp>
      <p:cxnSp>
        <p:nvCxnSpPr>
          <p:cNvPr id="84" name="Google Shape;84;p17"/>
          <p:cNvCxnSpPr/>
          <p:nvPr/>
        </p:nvCxnSpPr>
        <p:spPr>
          <a:xfrm>
            <a:off x="3210075" y="4973850"/>
            <a:ext cx="2033400" cy="0"/>
          </a:xfrm>
          <a:prstGeom prst="straightConnector1">
            <a:avLst/>
          </a:prstGeom>
          <a:noFill/>
          <a:ln cap="flat" cmpd="sng" w="9525">
            <a:solidFill>
              <a:schemeClr val="dk2"/>
            </a:solidFill>
            <a:prstDash val="solid"/>
            <a:round/>
            <a:headEnd len="med" w="med" type="none"/>
            <a:tailEnd len="med" w="med" type="none"/>
          </a:ln>
        </p:spPr>
      </p:cxnSp>
      <p:cxnSp>
        <p:nvCxnSpPr>
          <p:cNvPr id="85" name="Google Shape;85;p17"/>
          <p:cNvCxnSpPr/>
          <p:nvPr/>
        </p:nvCxnSpPr>
        <p:spPr>
          <a:xfrm flipH="1" rot="10800000">
            <a:off x="3210075" y="3761375"/>
            <a:ext cx="1663800" cy="815700"/>
          </a:xfrm>
          <a:prstGeom prst="straightConnector1">
            <a:avLst/>
          </a:prstGeom>
          <a:noFill/>
          <a:ln cap="flat" cmpd="sng" w="9525">
            <a:solidFill>
              <a:srgbClr val="FF0000"/>
            </a:solidFill>
            <a:prstDash val="solid"/>
            <a:round/>
            <a:headEnd len="med" w="med" type="none"/>
            <a:tailEnd len="med" w="med" type="none"/>
          </a:ln>
        </p:spPr>
      </p:cxnSp>
      <p:sp>
        <p:nvSpPr>
          <p:cNvPr id="86" name="Google Shape;86;p17"/>
          <p:cNvSpPr txBox="1"/>
          <p:nvPr/>
        </p:nvSpPr>
        <p:spPr>
          <a:xfrm>
            <a:off x="2693175" y="4645400"/>
            <a:ext cx="51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Y</a:t>
            </a:r>
            <a:endParaRPr sz="400"/>
          </a:p>
        </p:txBody>
      </p:sp>
      <p:sp>
        <p:nvSpPr>
          <p:cNvPr id="87" name="Google Shape;87;p17"/>
          <p:cNvSpPr txBox="1"/>
          <p:nvPr/>
        </p:nvSpPr>
        <p:spPr>
          <a:xfrm>
            <a:off x="5428400" y="4681800"/>
            <a:ext cx="516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X</a:t>
            </a:r>
            <a:endParaRPr sz="400"/>
          </a:p>
        </p:txBody>
      </p:sp>
      <p:cxnSp>
        <p:nvCxnSpPr>
          <p:cNvPr id="88" name="Google Shape;88;p17"/>
          <p:cNvCxnSpPr/>
          <p:nvPr/>
        </p:nvCxnSpPr>
        <p:spPr>
          <a:xfrm>
            <a:off x="4003875" y="4223550"/>
            <a:ext cx="0" cy="97800"/>
          </a:xfrm>
          <a:prstGeom prst="straightConnector1">
            <a:avLst/>
          </a:prstGeom>
          <a:noFill/>
          <a:ln cap="flat" cmpd="sng" w="9525">
            <a:solidFill>
              <a:schemeClr val="dk2"/>
            </a:solidFill>
            <a:prstDash val="solid"/>
            <a:round/>
            <a:headEnd len="med" w="med" type="none"/>
            <a:tailEnd len="med" w="med" type="none"/>
          </a:ln>
        </p:spPr>
      </p:cxnSp>
      <p:cxnSp>
        <p:nvCxnSpPr>
          <p:cNvPr id="89" name="Google Shape;89;p17"/>
          <p:cNvCxnSpPr/>
          <p:nvPr/>
        </p:nvCxnSpPr>
        <p:spPr>
          <a:xfrm rot="10800000">
            <a:off x="3851475" y="4321350"/>
            <a:ext cx="152400" cy="300"/>
          </a:xfrm>
          <a:prstGeom prst="straightConnector1">
            <a:avLst/>
          </a:prstGeom>
          <a:noFill/>
          <a:ln cap="flat" cmpd="sng" w="9525">
            <a:solidFill>
              <a:schemeClr val="dk2"/>
            </a:solidFill>
            <a:prstDash val="solid"/>
            <a:round/>
            <a:headEnd len="med" w="med" type="none"/>
            <a:tailEnd len="med" w="med" type="none"/>
          </a:ln>
        </p:spPr>
      </p:cxnSp>
      <p:sp>
        <p:nvSpPr>
          <p:cNvPr id="90" name="Google Shape;90;p17"/>
          <p:cNvSpPr txBox="1"/>
          <p:nvPr/>
        </p:nvSpPr>
        <p:spPr>
          <a:xfrm>
            <a:off x="4003875" y="4144500"/>
            <a:ext cx="1663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Pendiente</a:t>
            </a:r>
            <a:endParaRPr sz="100"/>
          </a:p>
        </p:txBody>
      </p:sp>
      <p:sp>
        <p:nvSpPr>
          <p:cNvPr id="91" name="Google Shape;91;p17"/>
          <p:cNvSpPr txBox="1"/>
          <p:nvPr/>
        </p:nvSpPr>
        <p:spPr>
          <a:xfrm>
            <a:off x="2119725" y="4386650"/>
            <a:ext cx="1663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rPr>
              <a:t>Constante/OO</a:t>
            </a:r>
            <a:endParaRPr sz="100"/>
          </a:p>
        </p:txBody>
      </p:sp>
      <p:pic>
        <p:nvPicPr>
          <p:cNvPr id="92" name="Google Shape;92;p17"/>
          <p:cNvPicPr preferRelativeResize="0"/>
          <p:nvPr/>
        </p:nvPicPr>
        <p:blipFill rotWithShape="1">
          <a:blip r:embed="rId3">
            <a:alphaModFix/>
          </a:blip>
          <a:srcRect b="36586" l="21990" r="22396" t="35084"/>
          <a:stretch/>
        </p:blipFill>
        <p:spPr>
          <a:xfrm>
            <a:off x="3243018" y="2588575"/>
            <a:ext cx="2542700" cy="518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a:t>
            </a:r>
            <a:endParaRPr sz="2467"/>
          </a:p>
        </p:txBody>
      </p:sp>
      <p:sp>
        <p:nvSpPr>
          <p:cNvPr id="98" name="Google Shape;98;p18"/>
          <p:cNvSpPr txBox="1"/>
          <p:nvPr/>
        </p:nvSpPr>
        <p:spPr>
          <a:xfrm>
            <a:off x="96150" y="811950"/>
            <a:ext cx="8951700" cy="51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67">
              <a:solidFill>
                <a:schemeClr val="dk1"/>
              </a:solidFill>
            </a:endParaRPr>
          </a:p>
        </p:txBody>
      </p:sp>
      <p:sp>
        <p:nvSpPr>
          <p:cNvPr id="99" name="Google Shape;99;p18"/>
          <p:cNvSpPr txBox="1"/>
          <p:nvPr>
            <p:ph type="title"/>
          </p:nvPr>
        </p:nvSpPr>
        <p:spPr>
          <a:xfrm>
            <a:off x="377100" y="784650"/>
            <a:ext cx="8520600" cy="57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SzPts val="990"/>
              <a:buNone/>
            </a:pPr>
            <a:r>
              <a:rPr lang="es" sz="2050"/>
              <a:t>Supuesto teórico del modelo lineal: la relación entre variables es lineal.</a:t>
            </a:r>
            <a:endParaRPr sz="2050"/>
          </a:p>
          <a:p>
            <a:pPr indent="0" lvl="0" marL="0" rtl="0" algn="just">
              <a:spcBef>
                <a:spcPts val="0"/>
              </a:spcBef>
              <a:spcAft>
                <a:spcPts val="0"/>
              </a:spcAft>
              <a:buSzPts val="990"/>
              <a:buNone/>
            </a:pPr>
            <a:r>
              <a:rPr lang="es" sz="2050"/>
              <a:t>¿Cómo podemos indagar si este supuesto tiene sentido en relación a datos específicos?</a:t>
            </a:r>
            <a:endParaRPr sz="2050"/>
          </a:p>
          <a:p>
            <a:pPr indent="0" lvl="0" marL="0" rtl="0" algn="just">
              <a:spcBef>
                <a:spcPts val="0"/>
              </a:spcBef>
              <a:spcAft>
                <a:spcPts val="0"/>
              </a:spcAft>
              <a:buSzPts val="990"/>
              <a:buNone/>
            </a:pPr>
            <a:r>
              <a:rPr lang="es" sz="2050"/>
              <a:t>Una buena primera aproximación es hacer un análisis de correlación entre las variables antes de estimar el modelo lineal</a:t>
            </a:r>
            <a:endParaRPr sz="20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 </a:t>
            </a:r>
            <a:r>
              <a:rPr lang="es" sz="2356"/>
              <a:t>asociación entre variables y correlación</a:t>
            </a:r>
            <a:endParaRPr sz="2022"/>
          </a:p>
        </p:txBody>
      </p:sp>
      <p:sp>
        <p:nvSpPr>
          <p:cNvPr id="105" name="Google Shape;105;p19"/>
          <p:cNvSpPr txBox="1"/>
          <p:nvPr/>
        </p:nvSpPr>
        <p:spPr>
          <a:xfrm>
            <a:off x="96150" y="811950"/>
            <a:ext cx="8951700" cy="51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67">
              <a:solidFill>
                <a:schemeClr val="dk1"/>
              </a:solidFill>
            </a:endParaRPr>
          </a:p>
        </p:txBody>
      </p:sp>
      <p:sp>
        <p:nvSpPr>
          <p:cNvPr id="106" name="Google Shape;106;p19"/>
          <p:cNvSpPr txBox="1"/>
          <p:nvPr>
            <p:ph type="title"/>
          </p:nvPr>
        </p:nvSpPr>
        <p:spPr>
          <a:xfrm>
            <a:off x="377100" y="784650"/>
            <a:ext cx="8520600" cy="572700"/>
          </a:xfrm>
          <a:prstGeom prst="rect">
            <a:avLst/>
          </a:prstGeom>
        </p:spPr>
        <p:txBody>
          <a:bodyPr anchorCtr="0" anchor="t" bIns="91425" lIns="91425" spcFirstLastPara="1" rIns="91425" wrap="square" tIns="91425">
            <a:noAutofit/>
          </a:bodyPr>
          <a:lstStyle/>
          <a:p>
            <a:pPr indent="-346075" lvl="0" marL="457200" rtl="0" algn="just">
              <a:spcBef>
                <a:spcPts val="0"/>
              </a:spcBef>
              <a:spcAft>
                <a:spcPts val="0"/>
              </a:spcAft>
              <a:buSzPts val="1850"/>
              <a:buChar char="●"/>
            </a:pPr>
            <a:r>
              <a:rPr lang="es" sz="1850"/>
              <a:t>Covarianza: medida que indica la asociación lineal entre dos variables aleatorias X e Y:</a:t>
            </a:r>
            <a:endParaRPr sz="1850"/>
          </a:p>
          <a:p>
            <a:pPr indent="0" lvl="0" marL="457200" rtl="0" algn="just">
              <a:spcBef>
                <a:spcPts val="0"/>
              </a:spcBef>
              <a:spcAft>
                <a:spcPts val="0"/>
              </a:spcAft>
              <a:buNone/>
            </a:pPr>
            <a:r>
              <a:t/>
            </a:r>
            <a:endParaRPr sz="1850"/>
          </a:p>
          <a:p>
            <a:pPr indent="0" lvl="0" marL="457200" rtl="0" algn="just">
              <a:spcBef>
                <a:spcPts val="0"/>
              </a:spcBef>
              <a:spcAft>
                <a:spcPts val="0"/>
              </a:spcAft>
              <a:buNone/>
            </a:pPr>
            <a:r>
              <a:t/>
            </a:r>
            <a:endParaRPr b="1" sz="1850"/>
          </a:p>
          <a:p>
            <a:pPr indent="0" lvl="0" marL="457200" rtl="0" algn="just">
              <a:spcBef>
                <a:spcPts val="0"/>
              </a:spcBef>
              <a:spcAft>
                <a:spcPts val="0"/>
              </a:spcAft>
              <a:buNone/>
            </a:pPr>
            <a:r>
              <a:t/>
            </a:r>
            <a:endParaRPr b="1" sz="1850"/>
          </a:p>
          <a:p>
            <a:pPr indent="0" lvl="0" marL="457200" rtl="0" algn="just">
              <a:spcBef>
                <a:spcPts val="0"/>
              </a:spcBef>
              <a:spcAft>
                <a:spcPts val="0"/>
              </a:spcAft>
              <a:buNone/>
            </a:pPr>
            <a:r>
              <a:rPr lang="es" sz="1850"/>
              <a:t>Se analiza si ambas tienen variación conjunta. Variabilidad de cada variable con respecto a su valor esperado.</a:t>
            </a:r>
            <a:endParaRPr sz="1850"/>
          </a:p>
          <a:p>
            <a:pPr indent="0" lvl="0" marL="457200" rtl="0" algn="just">
              <a:spcBef>
                <a:spcPts val="0"/>
              </a:spcBef>
              <a:spcAft>
                <a:spcPts val="0"/>
              </a:spcAft>
              <a:buNone/>
            </a:pPr>
            <a:r>
              <a:rPr lang="es" sz="1850"/>
              <a:t>Cov(X, Y)&gt; 0</a:t>
            </a:r>
            <a:r>
              <a:rPr lang="es" sz="1850"/>
              <a:t>             relación positiva  </a:t>
            </a:r>
            <a:endParaRPr sz="1850"/>
          </a:p>
        </p:txBody>
      </p:sp>
      <p:cxnSp>
        <p:nvCxnSpPr>
          <p:cNvPr id="107" name="Google Shape;107;p19"/>
          <p:cNvCxnSpPr/>
          <p:nvPr/>
        </p:nvCxnSpPr>
        <p:spPr>
          <a:xfrm>
            <a:off x="2427150" y="2975325"/>
            <a:ext cx="609000" cy="0"/>
          </a:xfrm>
          <a:prstGeom prst="straightConnector1">
            <a:avLst/>
          </a:prstGeom>
          <a:noFill/>
          <a:ln cap="flat" cmpd="sng" w="9525">
            <a:solidFill>
              <a:schemeClr val="dk2"/>
            </a:solidFill>
            <a:prstDash val="solid"/>
            <a:round/>
            <a:headEnd len="med" w="med" type="none"/>
            <a:tailEnd len="med" w="med" type="triangle"/>
          </a:ln>
        </p:spPr>
      </p:cxnSp>
      <p:cxnSp>
        <p:nvCxnSpPr>
          <p:cNvPr id="108" name="Google Shape;108;p19"/>
          <p:cNvCxnSpPr/>
          <p:nvPr/>
        </p:nvCxnSpPr>
        <p:spPr>
          <a:xfrm rot="10800000">
            <a:off x="5243550" y="2885775"/>
            <a:ext cx="0" cy="206700"/>
          </a:xfrm>
          <a:prstGeom prst="straightConnector1">
            <a:avLst/>
          </a:prstGeom>
          <a:noFill/>
          <a:ln cap="flat" cmpd="sng" w="9525">
            <a:solidFill>
              <a:schemeClr val="dk2"/>
            </a:solidFill>
            <a:prstDash val="solid"/>
            <a:round/>
            <a:headEnd len="med" w="med" type="none"/>
            <a:tailEnd len="med" w="med" type="triangle"/>
          </a:ln>
        </p:spPr>
      </p:cxnSp>
      <p:sp>
        <p:nvSpPr>
          <p:cNvPr id="109" name="Google Shape;109;p19"/>
          <p:cNvSpPr txBox="1"/>
          <p:nvPr/>
        </p:nvSpPr>
        <p:spPr>
          <a:xfrm>
            <a:off x="4900950" y="2754375"/>
            <a:ext cx="685200" cy="4695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s" sz="1850">
                <a:solidFill>
                  <a:schemeClr val="dk1"/>
                </a:solidFill>
                <a:latin typeface="Poppins"/>
                <a:ea typeface="Poppins"/>
                <a:cs typeface="Poppins"/>
                <a:sym typeface="Poppins"/>
              </a:rPr>
              <a:t>X</a:t>
            </a:r>
            <a:endParaRPr sz="1300"/>
          </a:p>
        </p:txBody>
      </p:sp>
      <p:cxnSp>
        <p:nvCxnSpPr>
          <p:cNvPr id="110" name="Google Shape;110;p19"/>
          <p:cNvCxnSpPr/>
          <p:nvPr/>
        </p:nvCxnSpPr>
        <p:spPr>
          <a:xfrm rot="10800000">
            <a:off x="5830525" y="2879700"/>
            <a:ext cx="0" cy="2067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9"/>
          <p:cNvSpPr txBox="1"/>
          <p:nvPr/>
        </p:nvSpPr>
        <p:spPr>
          <a:xfrm>
            <a:off x="5520900" y="2754375"/>
            <a:ext cx="3806700" cy="469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850">
                <a:solidFill>
                  <a:schemeClr val="dk1"/>
                </a:solidFill>
              </a:rPr>
              <a:t>      Y </a:t>
            </a:r>
            <a:r>
              <a:rPr lang="es" sz="1750">
                <a:solidFill>
                  <a:schemeClr val="dk1"/>
                </a:solidFill>
              </a:rPr>
              <a:t>(y lo mismo al revés)</a:t>
            </a:r>
            <a:endParaRPr sz="1200"/>
          </a:p>
        </p:txBody>
      </p:sp>
      <p:sp>
        <p:nvSpPr>
          <p:cNvPr id="112" name="Google Shape;112;p19"/>
          <p:cNvSpPr txBox="1"/>
          <p:nvPr/>
        </p:nvSpPr>
        <p:spPr>
          <a:xfrm>
            <a:off x="377100" y="3092475"/>
            <a:ext cx="6573600" cy="4695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s" sz="1850">
                <a:solidFill>
                  <a:schemeClr val="dk1"/>
                </a:solidFill>
              </a:rPr>
              <a:t>Cov(X, Y)&lt; 0             relación negativa</a:t>
            </a:r>
            <a:endParaRPr/>
          </a:p>
        </p:txBody>
      </p:sp>
      <p:cxnSp>
        <p:nvCxnSpPr>
          <p:cNvPr id="113" name="Google Shape;113;p19"/>
          <p:cNvCxnSpPr/>
          <p:nvPr/>
        </p:nvCxnSpPr>
        <p:spPr>
          <a:xfrm>
            <a:off x="2470825" y="3327225"/>
            <a:ext cx="609000" cy="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19"/>
          <p:cNvSpPr txBox="1"/>
          <p:nvPr/>
        </p:nvSpPr>
        <p:spPr>
          <a:xfrm>
            <a:off x="4966175" y="3092475"/>
            <a:ext cx="685200" cy="4695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s" sz="1850">
                <a:solidFill>
                  <a:schemeClr val="dk1"/>
                </a:solidFill>
                <a:latin typeface="Poppins"/>
                <a:ea typeface="Poppins"/>
                <a:cs typeface="Poppins"/>
                <a:sym typeface="Poppins"/>
              </a:rPr>
              <a:t>X</a:t>
            </a:r>
            <a:endParaRPr sz="1300"/>
          </a:p>
        </p:txBody>
      </p:sp>
      <p:sp>
        <p:nvSpPr>
          <p:cNvPr id="115" name="Google Shape;115;p19"/>
          <p:cNvSpPr txBox="1"/>
          <p:nvPr/>
        </p:nvSpPr>
        <p:spPr>
          <a:xfrm>
            <a:off x="5444700" y="3092475"/>
            <a:ext cx="3806700" cy="469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 sz="1850">
                <a:solidFill>
                  <a:schemeClr val="dk1"/>
                </a:solidFill>
              </a:rPr>
              <a:t>       Y </a:t>
            </a:r>
            <a:r>
              <a:rPr lang="es" sz="1750">
                <a:solidFill>
                  <a:schemeClr val="dk1"/>
                </a:solidFill>
              </a:rPr>
              <a:t>(y lo mismo al revés)</a:t>
            </a:r>
            <a:endParaRPr sz="1200"/>
          </a:p>
        </p:txBody>
      </p:sp>
      <p:cxnSp>
        <p:nvCxnSpPr>
          <p:cNvPr id="116" name="Google Shape;116;p19"/>
          <p:cNvCxnSpPr/>
          <p:nvPr/>
        </p:nvCxnSpPr>
        <p:spPr>
          <a:xfrm rot="10800000">
            <a:off x="5335900" y="3218475"/>
            <a:ext cx="0" cy="217500"/>
          </a:xfrm>
          <a:prstGeom prst="straightConnector1">
            <a:avLst/>
          </a:prstGeom>
          <a:noFill/>
          <a:ln cap="flat" cmpd="sng" w="9525">
            <a:solidFill>
              <a:schemeClr val="dk2"/>
            </a:solidFill>
            <a:prstDash val="solid"/>
            <a:round/>
            <a:headEnd len="med" w="med" type="none"/>
            <a:tailEnd len="med" w="med" type="triangle"/>
          </a:ln>
        </p:spPr>
      </p:cxnSp>
      <p:cxnSp>
        <p:nvCxnSpPr>
          <p:cNvPr id="117" name="Google Shape;117;p19"/>
          <p:cNvCxnSpPr/>
          <p:nvPr/>
        </p:nvCxnSpPr>
        <p:spPr>
          <a:xfrm>
            <a:off x="5824975" y="3196575"/>
            <a:ext cx="11100" cy="261300"/>
          </a:xfrm>
          <a:prstGeom prst="straightConnector1">
            <a:avLst/>
          </a:prstGeom>
          <a:noFill/>
          <a:ln cap="flat" cmpd="sng" w="9525">
            <a:solidFill>
              <a:schemeClr val="dk2"/>
            </a:solidFill>
            <a:prstDash val="solid"/>
            <a:round/>
            <a:headEnd len="med" w="med" type="none"/>
            <a:tailEnd len="med" w="med" type="triangle"/>
          </a:ln>
        </p:spPr>
      </p:cxnSp>
      <p:sp>
        <p:nvSpPr>
          <p:cNvPr id="118" name="Google Shape;118;p19"/>
          <p:cNvSpPr txBox="1"/>
          <p:nvPr/>
        </p:nvSpPr>
        <p:spPr>
          <a:xfrm>
            <a:off x="377100" y="3457875"/>
            <a:ext cx="6573600" cy="4695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s" sz="1850">
                <a:solidFill>
                  <a:schemeClr val="dk1"/>
                </a:solidFill>
              </a:rPr>
              <a:t>Cov(X, Y)= 0             ninguna relación</a:t>
            </a:r>
            <a:endParaRPr/>
          </a:p>
        </p:txBody>
      </p:sp>
      <p:cxnSp>
        <p:nvCxnSpPr>
          <p:cNvPr id="119" name="Google Shape;119;p19"/>
          <p:cNvCxnSpPr/>
          <p:nvPr/>
        </p:nvCxnSpPr>
        <p:spPr>
          <a:xfrm>
            <a:off x="2470825" y="3692625"/>
            <a:ext cx="609000" cy="0"/>
          </a:xfrm>
          <a:prstGeom prst="straightConnector1">
            <a:avLst/>
          </a:prstGeom>
          <a:noFill/>
          <a:ln cap="flat" cmpd="sng" w="9525">
            <a:solidFill>
              <a:schemeClr val="dk2"/>
            </a:solidFill>
            <a:prstDash val="solid"/>
            <a:round/>
            <a:headEnd len="med" w="med" type="none"/>
            <a:tailEnd len="med" w="med" type="triangle"/>
          </a:ln>
        </p:spPr>
      </p:cxnSp>
      <p:sp>
        <p:nvSpPr>
          <p:cNvPr id="120" name="Google Shape;120;p19"/>
          <p:cNvSpPr txBox="1"/>
          <p:nvPr/>
        </p:nvSpPr>
        <p:spPr>
          <a:xfrm>
            <a:off x="96150" y="4232381"/>
            <a:ext cx="8845200" cy="754200"/>
          </a:xfrm>
          <a:prstGeom prst="rect">
            <a:avLst/>
          </a:prstGeom>
          <a:noFill/>
          <a:ln>
            <a:noFill/>
          </a:ln>
        </p:spPr>
        <p:txBody>
          <a:bodyPr anchorCtr="0" anchor="t" bIns="91425" lIns="91425" spcFirstLastPara="1" rIns="91425" wrap="square" tIns="91425">
            <a:spAutoFit/>
          </a:bodyPr>
          <a:lstStyle/>
          <a:p>
            <a:pPr indent="0" lvl="0" marL="457200" rtl="0" algn="just">
              <a:spcBef>
                <a:spcPts val="0"/>
              </a:spcBef>
              <a:spcAft>
                <a:spcPts val="0"/>
              </a:spcAft>
              <a:buNone/>
            </a:pPr>
            <a:r>
              <a:rPr lang="es" sz="1850">
                <a:solidFill>
                  <a:schemeClr val="dk1"/>
                </a:solidFill>
              </a:rPr>
              <a:t>La covarianza está en unidades de medida que dependen de cada variable. Por eso se utiliza frecuentemente el coeficiente de correlación.</a:t>
            </a:r>
            <a:endParaRPr/>
          </a:p>
        </p:txBody>
      </p:sp>
      <p:pic>
        <p:nvPicPr>
          <p:cNvPr id="121" name="Google Shape;121;p19"/>
          <p:cNvPicPr preferRelativeResize="0"/>
          <p:nvPr/>
        </p:nvPicPr>
        <p:blipFill rotWithShape="1">
          <a:blip r:embed="rId3">
            <a:alphaModFix/>
          </a:blip>
          <a:srcRect b="34163" l="0" r="0" t="31852"/>
          <a:stretch/>
        </p:blipFill>
        <p:spPr>
          <a:xfrm>
            <a:off x="2036160" y="1541738"/>
            <a:ext cx="5335900" cy="518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 </a:t>
            </a:r>
            <a:r>
              <a:rPr lang="es" sz="2356"/>
              <a:t>asociación entre variables y correlación</a:t>
            </a:r>
            <a:endParaRPr sz="2022"/>
          </a:p>
        </p:txBody>
      </p:sp>
      <p:sp>
        <p:nvSpPr>
          <p:cNvPr id="127" name="Google Shape;127;p20"/>
          <p:cNvSpPr txBox="1"/>
          <p:nvPr/>
        </p:nvSpPr>
        <p:spPr>
          <a:xfrm>
            <a:off x="96150" y="811950"/>
            <a:ext cx="8951700" cy="51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167">
              <a:solidFill>
                <a:schemeClr val="dk1"/>
              </a:solidFill>
            </a:endParaRPr>
          </a:p>
        </p:txBody>
      </p:sp>
      <p:sp>
        <p:nvSpPr>
          <p:cNvPr id="128" name="Google Shape;128;p20"/>
          <p:cNvSpPr txBox="1"/>
          <p:nvPr>
            <p:ph type="title"/>
          </p:nvPr>
        </p:nvSpPr>
        <p:spPr>
          <a:xfrm>
            <a:off x="387975" y="578025"/>
            <a:ext cx="8520600" cy="572700"/>
          </a:xfrm>
          <a:prstGeom prst="rect">
            <a:avLst/>
          </a:prstGeom>
        </p:spPr>
        <p:txBody>
          <a:bodyPr anchorCtr="0" anchor="t" bIns="91425" lIns="91425" spcFirstLastPara="1" rIns="91425" wrap="square" tIns="91425">
            <a:noAutofit/>
          </a:bodyPr>
          <a:lstStyle/>
          <a:p>
            <a:pPr indent="-346075" lvl="0" marL="457200" rtl="0" algn="just">
              <a:spcBef>
                <a:spcPts val="0"/>
              </a:spcBef>
              <a:spcAft>
                <a:spcPts val="0"/>
              </a:spcAft>
              <a:buSzPts val="1850"/>
              <a:buChar char="●"/>
            </a:pPr>
            <a:r>
              <a:rPr lang="es" sz="1850"/>
              <a:t>Coeficiente de correlación: considera la varianza y la divide por el producto de los desvíos estándar de las variables</a:t>
            </a:r>
            <a:endParaRPr sz="1850"/>
          </a:p>
          <a:p>
            <a:pPr indent="0" lvl="0" marL="457200" rtl="0" algn="just">
              <a:spcBef>
                <a:spcPts val="0"/>
              </a:spcBef>
              <a:spcAft>
                <a:spcPts val="0"/>
              </a:spcAft>
              <a:buNone/>
            </a:pPr>
            <a:r>
              <a:t/>
            </a:r>
            <a:endParaRPr sz="1850"/>
          </a:p>
          <a:p>
            <a:pPr indent="0" lvl="0" marL="457200" rtl="0" algn="just">
              <a:spcBef>
                <a:spcPts val="0"/>
              </a:spcBef>
              <a:spcAft>
                <a:spcPts val="0"/>
              </a:spcAft>
              <a:buNone/>
            </a:pPr>
            <a:r>
              <a:t/>
            </a:r>
            <a:endParaRPr sz="1850"/>
          </a:p>
        </p:txBody>
      </p:sp>
      <p:cxnSp>
        <p:nvCxnSpPr>
          <p:cNvPr id="129" name="Google Shape;129;p20"/>
          <p:cNvCxnSpPr/>
          <p:nvPr/>
        </p:nvCxnSpPr>
        <p:spPr>
          <a:xfrm>
            <a:off x="5439275" y="2418425"/>
            <a:ext cx="554700" cy="0"/>
          </a:xfrm>
          <a:prstGeom prst="straightConnector1">
            <a:avLst/>
          </a:prstGeom>
          <a:noFill/>
          <a:ln cap="flat" cmpd="sng" w="9525">
            <a:solidFill>
              <a:schemeClr val="dk2"/>
            </a:solidFill>
            <a:prstDash val="solid"/>
            <a:round/>
            <a:headEnd len="med" w="med" type="none"/>
            <a:tailEnd len="med" w="med" type="triangle"/>
          </a:ln>
        </p:spPr>
      </p:cxnSp>
      <p:sp>
        <p:nvSpPr>
          <p:cNvPr id="130" name="Google Shape;130;p20"/>
          <p:cNvSpPr txBox="1"/>
          <p:nvPr>
            <p:ph type="title"/>
          </p:nvPr>
        </p:nvSpPr>
        <p:spPr>
          <a:xfrm>
            <a:off x="387975" y="3343125"/>
            <a:ext cx="8520600" cy="572700"/>
          </a:xfrm>
          <a:prstGeom prst="rect">
            <a:avLst/>
          </a:prstGeom>
        </p:spPr>
        <p:txBody>
          <a:bodyPr anchorCtr="0" anchor="t" bIns="91425" lIns="91425" spcFirstLastPara="1" rIns="91425" wrap="square" tIns="91425">
            <a:noAutofit/>
          </a:bodyPr>
          <a:lstStyle/>
          <a:p>
            <a:pPr indent="-346075" lvl="0" marL="457200" rtl="0" algn="just">
              <a:spcBef>
                <a:spcPts val="0"/>
              </a:spcBef>
              <a:spcAft>
                <a:spcPts val="0"/>
              </a:spcAft>
              <a:buSzPts val="1850"/>
              <a:buChar char="●"/>
            </a:pPr>
            <a:r>
              <a:rPr lang="es" sz="1850"/>
              <a:t>Es un valor que va de -1 a 1 e indica tanto la fuerza como la dirección de la relación entre dos variables</a:t>
            </a:r>
            <a:endParaRPr sz="1850"/>
          </a:p>
          <a:p>
            <a:pPr indent="0" lvl="0" marL="457200" rtl="0" algn="just">
              <a:spcBef>
                <a:spcPts val="0"/>
              </a:spcBef>
              <a:spcAft>
                <a:spcPts val="0"/>
              </a:spcAft>
              <a:buNone/>
            </a:pPr>
            <a:r>
              <a:t/>
            </a:r>
            <a:endParaRPr sz="1850"/>
          </a:p>
          <a:p>
            <a:pPr indent="0" lvl="0" marL="457200" rtl="0" algn="just">
              <a:spcBef>
                <a:spcPts val="0"/>
              </a:spcBef>
              <a:spcAft>
                <a:spcPts val="0"/>
              </a:spcAft>
              <a:buNone/>
            </a:pPr>
            <a:r>
              <a:t/>
            </a:r>
            <a:endParaRPr sz="1850"/>
          </a:p>
        </p:txBody>
      </p:sp>
      <p:pic>
        <p:nvPicPr>
          <p:cNvPr id="131" name="Google Shape;131;p20"/>
          <p:cNvPicPr preferRelativeResize="0"/>
          <p:nvPr/>
        </p:nvPicPr>
        <p:blipFill>
          <a:blip r:embed="rId3">
            <a:alphaModFix/>
          </a:blip>
          <a:stretch>
            <a:fillRect/>
          </a:stretch>
        </p:blipFill>
        <p:spPr>
          <a:xfrm>
            <a:off x="1182713" y="1254739"/>
            <a:ext cx="5993976" cy="1873114"/>
          </a:xfrm>
          <a:prstGeom prst="rect">
            <a:avLst/>
          </a:prstGeom>
          <a:noFill/>
          <a:ln>
            <a:noFill/>
          </a:ln>
        </p:spPr>
      </p:pic>
      <p:pic>
        <p:nvPicPr>
          <p:cNvPr id="132" name="Google Shape;132;p20"/>
          <p:cNvPicPr preferRelativeResize="0"/>
          <p:nvPr/>
        </p:nvPicPr>
        <p:blipFill rotWithShape="1">
          <a:blip r:embed="rId4">
            <a:alphaModFix/>
          </a:blip>
          <a:srcRect b="33567" l="22438" r="22105" t="32714"/>
          <a:stretch/>
        </p:blipFill>
        <p:spPr>
          <a:xfrm>
            <a:off x="6192542" y="2153448"/>
            <a:ext cx="2470964" cy="469500"/>
          </a:xfrm>
          <a:prstGeom prst="rect">
            <a:avLst/>
          </a:prstGeom>
          <a:noFill/>
          <a:ln>
            <a:noFill/>
          </a:ln>
        </p:spPr>
      </p:pic>
      <p:pic>
        <p:nvPicPr>
          <p:cNvPr id="133" name="Google Shape;133;p20"/>
          <p:cNvPicPr preferRelativeResize="0"/>
          <p:nvPr/>
        </p:nvPicPr>
        <p:blipFill rotWithShape="1">
          <a:blip r:embed="rId5">
            <a:alphaModFix/>
          </a:blip>
          <a:srcRect b="37676" l="32174" r="28479" t="36476"/>
          <a:stretch/>
        </p:blipFill>
        <p:spPr>
          <a:xfrm>
            <a:off x="976400" y="4240015"/>
            <a:ext cx="2470951" cy="4637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 </a:t>
            </a:r>
            <a:r>
              <a:rPr lang="es" sz="2356"/>
              <a:t>asociación entre variables y correlación</a:t>
            </a:r>
            <a:endParaRPr sz="2022"/>
          </a:p>
        </p:txBody>
      </p:sp>
      <p:pic>
        <p:nvPicPr>
          <p:cNvPr id="139" name="Google Shape;139;p21"/>
          <p:cNvPicPr preferRelativeResize="0"/>
          <p:nvPr/>
        </p:nvPicPr>
        <p:blipFill>
          <a:blip r:embed="rId3">
            <a:alphaModFix/>
          </a:blip>
          <a:stretch>
            <a:fillRect/>
          </a:stretch>
        </p:blipFill>
        <p:spPr>
          <a:xfrm>
            <a:off x="1703075" y="746100"/>
            <a:ext cx="5846575" cy="3510125"/>
          </a:xfrm>
          <a:prstGeom prst="rect">
            <a:avLst/>
          </a:prstGeom>
          <a:noFill/>
          <a:ln>
            <a:noFill/>
          </a:ln>
        </p:spPr>
      </p:pic>
      <p:sp>
        <p:nvSpPr>
          <p:cNvPr id="140" name="Google Shape;140;p21"/>
          <p:cNvSpPr txBox="1"/>
          <p:nvPr/>
        </p:nvSpPr>
        <p:spPr>
          <a:xfrm>
            <a:off x="719875" y="4310825"/>
            <a:ext cx="8112300" cy="72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56">
                <a:solidFill>
                  <a:schemeClr val="dk1"/>
                </a:solidFill>
              </a:rPr>
              <a:t>Dependiendo de cuál es la recta (en caso de que la haya) que mejor representa nuestros datos obtendremos distintos valores de R </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práctico - experiencia laboral y salario</a:t>
            </a:r>
            <a:endParaRPr/>
          </a:p>
          <a:p>
            <a:pPr indent="0" lvl="0" marL="0" rtl="0" algn="l">
              <a:spcBef>
                <a:spcPts val="0"/>
              </a:spcBef>
              <a:spcAft>
                <a:spcPts val="0"/>
              </a:spcAft>
              <a:buNone/>
            </a:pPr>
            <a:r>
              <a:t/>
            </a:r>
            <a:endParaRPr/>
          </a:p>
          <a:p>
            <a:pPr indent="0" lvl="0" marL="0" rtl="0" algn="l">
              <a:spcBef>
                <a:spcPts val="0"/>
              </a:spcBef>
              <a:spcAft>
                <a:spcPts val="0"/>
              </a:spcAft>
              <a:buNone/>
            </a:pPr>
            <a:r>
              <a:rPr lang="es" sz="2689"/>
              <a:t>Ahora analicemos la relación entre dos variables específicas:</a:t>
            </a:r>
            <a:endParaRPr sz="2689"/>
          </a:p>
          <a:p>
            <a:pPr indent="0" lvl="0" marL="0" rtl="0" algn="l">
              <a:spcBef>
                <a:spcPts val="0"/>
              </a:spcBef>
              <a:spcAft>
                <a:spcPts val="0"/>
              </a:spcAft>
              <a:buNone/>
            </a:pPr>
            <a:r>
              <a:rPr b="1" lang="es" sz="2689"/>
              <a:t>-Años de experiencia laboral</a:t>
            </a:r>
            <a:endParaRPr b="1" sz="2689"/>
          </a:p>
          <a:p>
            <a:pPr indent="0" lvl="0" marL="0" rtl="0" algn="l">
              <a:spcBef>
                <a:spcPts val="0"/>
              </a:spcBef>
              <a:spcAft>
                <a:spcPts val="0"/>
              </a:spcAft>
              <a:buNone/>
            </a:pPr>
            <a:r>
              <a:rPr b="1" lang="es" sz="2689"/>
              <a:t>-Salario</a:t>
            </a:r>
            <a:endParaRPr b="1" sz="2689"/>
          </a:p>
          <a:p>
            <a:pPr indent="0" lvl="0" marL="0" rtl="0" algn="l">
              <a:spcBef>
                <a:spcPts val="0"/>
              </a:spcBef>
              <a:spcAft>
                <a:spcPts val="0"/>
              </a:spcAft>
              <a:buNone/>
            </a:pPr>
            <a:r>
              <a:t/>
            </a:r>
            <a:endParaRPr/>
          </a:p>
          <a:p>
            <a:pPr indent="0" lvl="0" marL="0" rtl="0" algn="ctr">
              <a:spcBef>
                <a:spcPts val="0"/>
              </a:spcBef>
              <a:spcAft>
                <a:spcPts val="0"/>
              </a:spcAft>
              <a:buNone/>
            </a:pPr>
            <a:r>
              <a:rPr lang="es"/>
              <a:t>¿Cómo creen que será esta relación?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práctico - experiencia laboral y salario</a:t>
            </a:r>
            <a:endParaRPr/>
          </a:p>
          <a:p>
            <a:pPr indent="-363220" lvl="0" marL="457200" rtl="0" algn="l">
              <a:spcBef>
                <a:spcPts val="0"/>
              </a:spcBef>
              <a:spcAft>
                <a:spcPts val="0"/>
              </a:spcAft>
              <a:buSzPct val="100000"/>
              <a:buAutoNum type="arabicPeriod"/>
            </a:pPr>
            <a:r>
              <a:rPr lang="es" sz="2356"/>
              <a:t>Estimamos la correlación entre ambas variables:</a:t>
            </a:r>
            <a:endParaRPr sz="2356"/>
          </a:p>
          <a:p>
            <a:pPr indent="0" lvl="0" marL="0" rtl="0" algn="l">
              <a:spcBef>
                <a:spcPts val="0"/>
              </a:spcBef>
              <a:spcAft>
                <a:spcPts val="0"/>
              </a:spcAft>
              <a:buNone/>
            </a:pPr>
            <a:r>
              <a:t/>
            </a:r>
            <a:endParaRPr sz="2689"/>
          </a:p>
        </p:txBody>
      </p:sp>
      <p:pic>
        <p:nvPicPr>
          <p:cNvPr id="151" name="Google Shape;151;p23"/>
          <p:cNvPicPr preferRelativeResize="0"/>
          <p:nvPr/>
        </p:nvPicPr>
        <p:blipFill>
          <a:blip r:embed="rId3">
            <a:alphaModFix/>
          </a:blip>
          <a:stretch>
            <a:fillRect/>
          </a:stretch>
        </p:blipFill>
        <p:spPr>
          <a:xfrm>
            <a:off x="1115625" y="931050"/>
            <a:ext cx="6585499" cy="40130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práctico - experiencia laboral y salario</a:t>
            </a:r>
            <a:endParaRPr/>
          </a:p>
          <a:p>
            <a:pPr indent="-363220" lvl="0" marL="457200" rtl="0" algn="l">
              <a:spcBef>
                <a:spcPts val="0"/>
              </a:spcBef>
              <a:spcAft>
                <a:spcPts val="0"/>
              </a:spcAft>
              <a:buSzPct val="100000"/>
              <a:buAutoNum type="arabicPeriod"/>
            </a:pPr>
            <a:r>
              <a:rPr lang="es" sz="2356"/>
              <a:t>Estimamos la correlación entre ambas variables:</a:t>
            </a:r>
            <a:endParaRPr sz="2356"/>
          </a:p>
          <a:p>
            <a:pPr indent="0" lvl="0" marL="0" rtl="0" algn="l">
              <a:spcBef>
                <a:spcPts val="0"/>
              </a:spcBef>
              <a:spcAft>
                <a:spcPts val="0"/>
              </a:spcAft>
              <a:buNone/>
            </a:pPr>
            <a:r>
              <a:t/>
            </a:r>
            <a:endParaRPr sz="2689"/>
          </a:p>
        </p:txBody>
      </p:sp>
      <p:pic>
        <p:nvPicPr>
          <p:cNvPr id="157" name="Google Shape;157;p24"/>
          <p:cNvPicPr preferRelativeResize="0"/>
          <p:nvPr/>
        </p:nvPicPr>
        <p:blipFill>
          <a:blip r:embed="rId3">
            <a:alphaModFix/>
          </a:blip>
          <a:stretch>
            <a:fillRect/>
          </a:stretch>
        </p:blipFill>
        <p:spPr>
          <a:xfrm>
            <a:off x="362300" y="1170100"/>
            <a:ext cx="8067675" cy="1885950"/>
          </a:xfrm>
          <a:prstGeom prst="rect">
            <a:avLst/>
          </a:prstGeom>
          <a:noFill/>
          <a:ln>
            <a:noFill/>
          </a:ln>
        </p:spPr>
      </p:pic>
      <p:sp>
        <p:nvSpPr>
          <p:cNvPr id="158" name="Google Shape;158;p24"/>
          <p:cNvSpPr txBox="1"/>
          <p:nvPr/>
        </p:nvSpPr>
        <p:spPr>
          <a:xfrm>
            <a:off x="986038" y="3599900"/>
            <a:ext cx="6820200" cy="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56">
                <a:solidFill>
                  <a:schemeClr val="dk1"/>
                </a:solidFill>
              </a:rPr>
              <a:t>¿Cómo podemos ver gráficamente la relación lineal que estaría indicando este </a:t>
            </a:r>
            <a:r>
              <a:rPr lang="es" sz="2256">
                <a:solidFill>
                  <a:schemeClr val="dk1"/>
                </a:solidFill>
              </a:rPr>
              <a:t>coeficiente</a:t>
            </a:r>
            <a:r>
              <a:rPr lang="es" sz="2256">
                <a:solidFill>
                  <a:schemeClr val="dk1"/>
                </a:solidFill>
              </a:rPr>
              <a:t>?</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práctico - experiencia laboral y salario</a:t>
            </a:r>
            <a:endParaRPr/>
          </a:p>
          <a:p>
            <a:pPr indent="0" lvl="0" marL="0" rtl="0" algn="l">
              <a:spcBef>
                <a:spcPts val="0"/>
              </a:spcBef>
              <a:spcAft>
                <a:spcPts val="0"/>
              </a:spcAft>
              <a:buNone/>
            </a:pPr>
            <a:r>
              <a:rPr lang="es" sz="2356"/>
              <a:t>2. Hacemos un gráfico de dispersión para ambas variables</a:t>
            </a:r>
            <a:endParaRPr sz="2356"/>
          </a:p>
          <a:p>
            <a:pPr indent="0" lvl="0" marL="0" rtl="0" algn="l">
              <a:spcBef>
                <a:spcPts val="0"/>
              </a:spcBef>
              <a:spcAft>
                <a:spcPts val="0"/>
              </a:spcAft>
              <a:buNone/>
            </a:pPr>
            <a:r>
              <a:t/>
            </a:r>
            <a:endParaRPr sz="2689"/>
          </a:p>
        </p:txBody>
      </p:sp>
      <p:pic>
        <p:nvPicPr>
          <p:cNvPr id="164" name="Google Shape;164;p25"/>
          <p:cNvPicPr preferRelativeResize="0"/>
          <p:nvPr/>
        </p:nvPicPr>
        <p:blipFill>
          <a:blip r:embed="rId3">
            <a:alphaModFix/>
          </a:blip>
          <a:stretch>
            <a:fillRect/>
          </a:stretch>
        </p:blipFill>
        <p:spPr>
          <a:xfrm>
            <a:off x="1957525" y="1137675"/>
            <a:ext cx="5384750" cy="33623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práctico - experiencia laboral y salario</a:t>
            </a:r>
            <a:endParaRPr/>
          </a:p>
          <a:p>
            <a:pPr indent="0" lvl="0" marL="0" rtl="0" algn="l">
              <a:spcBef>
                <a:spcPts val="0"/>
              </a:spcBef>
              <a:spcAft>
                <a:spcPts val="0"/>
              </a:spcAft>
              <a:buNone/>
            </a:pPr>
            <a:r>
              <a:rPr lang="es" sz="2356"/>
              <a:t>2. </a:t>
            </a:r>
            <a:r>
              <a:rPr lang="es" sz="2356"/>
              <a:t>Hacemos un gráfico de dispersión para ambas variables</a:t>
            </a:r>
            <a:endParaRPr sz="2356"/>
          </a:p>
          <a:p>
            <a:pPr indent="0" lvl="0" marL="0" rtl="0" algn="l">
              <a:spcBef>
                <a:spcPts val="0"/>
              </a:spcBef>
              <a:spcAft>
                <a:spcPts val="0"/>
              </a:spcAft>
              <a:buNone/>
            </a:pPr>
            <a:r>
              <a:t/>
            </a:r>
            <a:endParaRPr sz="2689"/>
          </a:p>
        </p:txBody>
      </p:sp>
      <p:pic>
        <p:nvPicPr>
          <p:cNvPr id="170" name="Google Shape;170;p26"/>
          <p:cNvPicPr preferRelativeResize="0"/>
          <p:nvPr/>
        </p:nvPicPr>
        <p:blipFill>
          <a:blip r:embed="rId3">
            <a:alphaModFix/>
          </a:blip>
          <a:stretch>
            <a:fillRect/>
          </a:stretch>
        </p:blipFill>
        <p:spPr>
          <a:xfrm>
            <a:off x="1957525" y="1137674"/>
            <a:ext cx="5384750" cy="3362401"/>
          </a:xfrm>
          <a:prstGeom prst="rect">
            <a:avLst/>
          </a:prstGeom>
          <a:noFill/>
          <a:ln>
            <a:noFill/>
          </a:ln>
        </p:spPr>
      </p:pic>
      <p:sp>
        <p:nvSpPr>
          <p:cNvPr id="171" name="Google Shape;171;p26"/>
          <p:cNvSpPr txBox="1"/>
          <p:nvPr/>
        </p:nvSpPr>
        <p:spPr>
          <a:xfrm>
            <a:off x="119750" y="4500075"/>
            <a:ext cx="9060300" cy="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456">
                <a:solidFill>
                  <a:schemeClr val="dk1"/>
                </a:solidFill>
              </a:rPr>
              <a:t>Al observar la relación entre nivel de experiencia laboral (medida en años) y salario, esta se presupone lineal. Podemos representarla a través de</a:t>
            </a:r>
            <a:endParaRPr sz="500"/>
          </a:p>
        </p:txBody>
      </p:sp>
      <p:cxnSp>
        <p:nvCxnSpPr>
          <p:cNvPr id="172" name="Google Shape;172;p26"/>
          <p:cNvCxnSpPr/>
          <p:nvPr/>
        </p:nvCxnSpPr>
        <p:spPr>
          <a:xfrm>
            <a:off x="3880767" y="4929236"/>
            <a:ext cx="554700" cy="0"/>
          </a:xfrm>
          <a:prstGeom prst="straightConnector1">
            <a:avLst/>
          </a:prstGeom>
          <a:noFill/>
          <a:ln cap="flat" cmpd="sng" w="9525">
            <a:solidFill>
              <a:schemeClr val="dk2"/>
            </a:solidFill>
            <a:prstDash val="solid"/>
            <a:round/>
            <a:headEnd len="med" w="med" type="none"/>
            <a:tailEnd len="med" w="med" type="triangle"/>
          </a:ln>
        </p:spPr>
      </p:cxnSp>
      <p:pic>
        <p:nvPicPr>
          <p:cNvPr id="173" name="Google Shape;173;p26"/>
          <p:cNvPicPr preferRelativeResize="0"/>
          <p:nvPr/>
        </p:nvPicPr>
        <p:blipFill rotWithShape="1">
          <a:blip r:embed="rId4">
            <a:alphaModFix/>
          </a:blip>
          <a:srcRect b="36586" l="21990" r="22396" t="35084"/>
          <a:stretch/>
        </p:blipFill>
        <p:spPr>
          <a:xfrm>
            <a:off x="4522645" y="4756627"/>
            <a:ext cx="1698950" cy="346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elementos de la ecuación</a:t>
            </a:r>
            <a:endParaRPr/>
          </a:p>
          <a:p>
            <a:pPr indent="0" lvl="0" marL="0" rtl="0" algn="l">
              <a:spcBef>
                <a:spcPts val="0"/>
              </a:spcBef>
              <a:spcAft>
                <a:spcPts val="0"/>
              </a:spcAft>
              <a:buNone/>
            </a:pPr>
            <a:r>
              <a:t/>
            </a:r>
            <a:endParaRPr sz="2356"/>
          </a:p>
          <a:p>
            <a:pPr indent="0" lvl="0" marL="0" rtl="0" algn="l">
              <a:spcBef>
                <a:spcPts val="0"/>
              </a:spcBef>
              <a:spcAft>
                <a:spcPts val="0"/>
              </a:spcAft>
              <a:buNone/>
            </a:pPr>
            <a:r>
              <a:rPr lang="es" sz="2133"/>
              <a:t>Este modelo nos permite estimar el valor de una variable (Y) en función de otra (X), donde tenemos un único regresor X:</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rPr lang="es" sz="2133"/>
              <a:t>     = variable dependiente, endógena o de interés.</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rPr lang="es" sz="2133"/>
              <a:t>     = variable independiente, explicativa o regresor.</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rPr lang="es" sz="2133"/>
              <a:t>     = constante. Es el valor estimado de Y cuando X = 0</a:t>
            </a:r>
            <a:endParaRPr sz="2133"/>
          </a:p>
          <a:p>
            <a:pPr indent="0" lvl="0" marL="0" rtl="0" algn="l">
              <a:spcBef>
                <a:spcPts val="0"/>
              </a:spcBef>
              <a:spcAft>
                <a:spcPts val="0"/>
              </a:spcAft>
              <a:buNone/>
            </a:pPr>
            <a:r>
              <a:t/>
            </a:r>
            <a:endParaRPr sz="2133"/>
          </a:p>
          <a:p>
            <a:pPr indent="0" lvl="0" marL="0" rtl="0" algn="l">
              <a:spcBef>
                <a:spcPts val="0"/>
              </a:spcBef>
              <a:spcAft>
                <a:spcPts val="0"/>
              </a:spcAft>
              <a:buNone/>
            </a:pPr>
            <a:r>
              <a:rPr lang="es" sz="2133"/>
              <a:t>     = parámetro de una variable X</a:t>
            </a:r>
            <a:r>
              <a:rPr lang="es" sz="1689"/>
              <a:t>1</a:t>
            </a:r>
            <a:endParaRPr sz="1689"/>
          </a:p>
          <a:p>
            <a:pPr indent="0" lvl="0" marL="0" rtl="0" algn="l">
              <a:spcBef>
                <a:spcPts val="0"/>
              </a:spcBef>
              <a:spcAft>
                <a:spcPts val="0"/>
              </a:spcAft>
              <a:buNone/>
            </a:pPr>
            <a:r>
              <a:t/>
            </a:r>
            <a:endParaRPr sz="2133"/>
          </a:p>
          <a:p>
            <a:pPr indent="0" lvl="0" marL="0" rtl="0" algn="l">
              <a:spcBef>
                <a:spcPts val="0"/>
              </a:spcBef>
              <a:spcAft>
                <a:spcPts val="0"/>
              </a:spcAft>
              <a:buNone/>
            </a:pPr>
            <a:r>
              <a:rPr lang="es" sz="2133"/>
              <a:t>     = término de error: captura todo aquello no incluido en x.</a:t>
            </a:r>
            <a:endParaRPr sz="2133"/>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pic>
        <p:nvPicPr>
          <p:cNvPr id="179" name="Google Shape;179;p27"/>
          <p:cNvPicPr preferRelativeResize="0"/>
          <p:nvPr/>
        </p:nvPicPr>
        <p:blipFill rotWithShape="1">
          <a:blip r:embed="rId3">
            <a:alphaModFix/>
          </a:blip>
          <a:srcRect b="36586" l="21990" r="22396" t="35084"/>
          <a:stretch/>
        </p:blipFill>
        <p:spPr>
          <a:xfrm>
            <a:off x="3243018" y="1440731"/>
            <a:ext cx="2542700" cy="518100"/>
          </a:xfrm>
          <a:prstGeom prst="rect">
            <a:avLst/>
          </a:prstGeom>
          <a:noFill/>
          <a:ln>
            <a:noFill/>
          </a:ln>
        </p:spPr>
      </p:pic>
      <p:pic>
        <p:nvPicPr>
          <p:cNvPr id="180" name="Google Shape;180;p27"/>
          <p:cNvPicPr preferRelativeResize="0"/>
          <p:nvPr/>
        </p:nvPicPr>
        <p:blipFill rotWithShape="1">
          <a:blip r:embed="rId3">
            <a:alphaModFix/>
          </a:blip>
          <a:srcRect b="40616" l="21989" r="68875" t="35085"/>
          <a:stretch/>
        </p:blipFill>
        <p:spPr>
          <a:xfrm>
            <a:off x="166391" y="1886174"/>
            <a:ext cx="417700" cy="444375"/>
          </a:xfrm>
          <a:prstGeom prst="rect">
            <a:avLst/>
          </a:prstGeom>
          <a:noFill/>
          <a:ln>
            <a:noFill/>
          </a:ln>
        </p:spPr>
      </p:pic>
      <p:pic>
        <p:nvPicPr>
          <p:cNvPr id="181" name="Google Shape;181;p27"/>
          <p:cNvPicPr preferRelativeResize="0"/>
          <p:nvPr/>
        </p:nvPicPr>
        <p:blipFill rotWithShape="1">
          <a:blip r:embed="rId4">
            <a:alphaModFix/>
          </a:blip>
          <a:srcRect b="39409" l="42509" r="41598" t="35869"/>
          <a:stretch/>
        </p:blipFill>
        <p:spPr>
          <a:xfrm>
            <a:off x="264440" y="2510968"/>
            <a:ext cx="571358" cy="444375"/>
          </a:xfrm>
          <a:prstGeom prst="rect">
            <a:avLst/>
          </a:prstGeom>
          <a:noFill/>
          <a:ln>
            <a:noFill/>
          </a:ln>
        </p:spPr>
      </p:pic>
      <p:pic>
        <p:nvPicPr>
          <p:cNvPr id="182" name="Google Shape;182;p27"/>
          <p:cNvPicPr preferRelativeResize="0"/>
          <p:nvPr/>
        </p:nvPicPr>
        <p:blipFill rotWithShape="1">
          <a:blip r:embed="rId5">
            <a:alphaModFix/>
          </a:blip>
          <a:srcRect b="39906" l="44038" r="42597" t="37414"/>
          <a:stretch/>
        </p:blipFill>
        <p:spPr>
          <a:xfrm>
            <a:off x="363905" y="3137546"/>
            <a:ext cx="417700" cy="354431"/>
          </a:xfrm>
          <a:prstGeom prst="rect">
            <a:avLst/>
          </a:prstGeom>
          <a:noFill/>
          <a:ln>
            <a:noFill/>
          </a:ln>
        </p:spPr>
      </p:pic>
      <p:pic>
        <p:nvPicPr>
          <p:cNvPr id="183" name="Google Shape;183;p27"/>
          <p:cNvPicPr preferRelativeResize="0"/>
          <p:nvPr/>
        </p:nvPicPr>
        <p:blipFill rotWithShape="1">
          <a:blip r:embed="rId6">
            <a:alphaModFix/>
          </a:blip>
          <a:srcRect b="37068" l="43834" r="42801" t="37824"/>
          <a:stretch/>
        </p:blipFill>
        <p:spPr>
          <a:xfrm>
            <a:off x="340564" y="3694431"/>
            <a:ext cx="417700" cy="392380"/>
          </a:xfrm>
          <a:prstGeom prst="rect">
            <a:avLst/>
          </a:prstGeom>
          <a:noFill/>
          <a:ln>
            <a:noFill/>
          </a:ln>
        </p:spPr>
      </p:pic>
      <p:pic>
        <p:nvPicPr>
          <p:cNvPr id="184" name="Google Shape;184;p27"/>
          <p:cNvPicPr preferRelativeResize="0"/>
          <p:nvPr/>
        </p:nvPicPr>
        <p:blipFill rotWithShape="1">
          <a:blip r:embed="rId7">
            <a:alphaModFix/>
          </a:blip>
          <a:srcRect b="41485" l="46670" r="44622" t="43085"/>
          <a:stretch/>
        </p:blipFill>
        <p:spPr>
          <a:xfrm>
            <a:off x="331863" y="4328381"/>
            <a:ext cx="400008" cy="354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elementos de la ecuación</a:t>
            </a:r>
            <a:endParaRPr/>
          </a:p>
          <a:p>
            <a:pPr indent="0" lvl="0" marL="0" rtl="0" algn="l">
              <a:spcBef>
                <a:spcPts val="0"/>
              </a:spcBef>
              <a:spcAft>
                <a:spcPts val="0"/>
              </a:spcAft>
              <a:buNone/>
            </a:pPr>
            <a:r>
              <a:rPr lang="es">
                <a:solidFill>
                  <a:schemeClr val="accent5"/>
                </a:solidFill>
              </a:rPr>
              <a:t>Años de experiencia y salario.</a:t>
            </a:r>
            <a:endParaRPr>
              <a:solidFill>
                <a:schemeClr val="accent5"/>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2356"/>
          </a:p>
          <a:p>
            <a:pPr indent="0" lvl="0" marL="0" rtl="0" algn="l">
              <a:spcBef>
                <a:spcPts val="0"/>
              </a:spcBef>
              <a:spcAft>
                <a:spcPts val="0"/>
              </a:spcAft>
              <a:buNone/>
            </a:pPr>
            <a:r>
              <a:rPr lang="es" sz="2356"/>
              <a:t>  </a:t>
            </a:r>
            <a:r>
              <a:rPr lang="es" sz="2356"/>
              <a:t>  = </a:t>
            </a:r>
            <a:r>
              <a:rPr lang="es" sz="2133"/>
              <a:t>variable dependiente, endógena o de interés. </a:t>
            </a:r>
            <a:endParaRPr sz="2133"/>
          </a:p>
          <a:p>
            <a:pPr indent="0" lvl="0" marL="0" rtl="0" algn="l">
              <a:spcBef>
                <a:spcPts val="0"/>
              </a:spcBef>
              <a:spcAft>
                <a:spcPts val="0"/>
              </a:spcAft>
              <a:buNone/>
            </a:pPr>
            <a:r>
              <a:rPr lang="es" sz="2356">
                <a:solidFill>
                  <a:schemeClr val="accent5"/>
                </a:solidFill>
              </a:rPr>
              <a:t>  </a:t>
            </a:r>
            <a:r>
              <a:rPr lang="es" sz="2356">
                <a:solidFill>
                  <a:schemeClr val="accent5"/>
                </a:solidFill>
              </a:rPr>
              <a:t>  = </a:t>
            </a:r>
            <a:r>
              <a:rPr lang="es" sz="2133">
                <a:solidFill>
                  <a:schemeClr val="accent5"/>
                </a:solidFill>
              </a:rPr>
              <a:t>salario</a:t>
            </a:r>
            <a:endParaRPr sz="2133">
              <a:solidFill>
                <a:schemeClr val="accent5"/>
              </a:solidFill>
            </a:endParaRPr>
          </a:p>
          <a:p>
            <a:pPr indent="0" lvl="0" marL="0" rtl="0" algn="l">
              <a:spcBef>
                <a:spcPts val="0"/>
              </a:spcBef>
              <a:spcAft>
                <a:spcPts val="0"/>
              </a:spcAft>
              <a:buNone/>
            </a:pPr>
            <a:r>
              <a:rPr lang="es" sz="2356"/>
              <a:t>  </a:t>
            </a:r>
            <a:r>
              <a:rPr lang="es" sz="2356"/>
              <a:t>  = </a:t>
            </a:r>
            <a:r>
              <a:rPr lang="es" sz="2133"/>
              <a:t>variable independiente, explicativa o regresor.</a:t>
            </a:r>
            <a:endParaRPr sz="2133"/>
          </a:p>
          <a:p>
            <a:pPr indent="0" lvl="0" marL="0" rtl="0" algn="l">
              <a:spcBef>
                <a:spcPts val="0"/>
              </a:spcBef>
              <a:spcAft>
                <a:spcPts val="0"/>
              </a:spcAft>
              <a:buNone/>
            </a:pPr>
            <a:r>
              <a:rPr lang="es" sz="2356">
                <a:solidFill>
                  <a:schemeClr val="accent5"/>
                </a:solidFill>
              </a:rPr>
              <a:t>  </a:t>
            </a:r>
            <a:r>
              <a:rPr lang="es" sz="2356">
                <a:solidFill>
                  <a:schemeClr val="accent5"/>
                </a:solidFill>
              </a:rPr>
              <a:t>  = </a:t>
            </a:r>
            <a:r>
              <a:rPr lang="es" sz="2133">
                <a:solidFill>
                  <a:schemeClr val="accent5"/>
                </a:solidFill>
              </a:rPr>
              <a:t>años de experiencia laboral</a:t>
            </a:r>
            <a:endParaRPr sz="2133">
              <a:solidFill>
                <a:schemeClr val="accent5"/>
              </a:solidFill>
            </a:endParaRPr>
          </a:p>
          <a:p>
            <a:pPr indent="0" lvl="0" marL="0" rtl="0" algn="l">
              <a:spcBef>
                <a:spcPts val="0"/>
              </a:spcBef>
              <a:spcAft>
                <a:spcPts val="0"/>
              </a:spcAft>
              <a:buNone/>
            </a:pPr>
            <a:r>
              <a:rPr lang="es" sz="2356"/>
              <a:t>    = </a:t>
            </a:r>
            <a:r>
              <a:rPr lang="es" sz="2133"/>
              <a:t>constante. Es el valor estimado de Y cuando X = 0</a:t>
            </a:r>
            <a:endParaRPr sz="2133"/>
          </a:p>
          <a:p>
            <a:pPr indent="0" lvl="0" marL="0" rtl="0" algn="l">
              <a:spcBef>
                <a:spcPts val="0"/>
              </a:spcBef>
              <a:spcAft>
                <a:spcPts val="0"/>
              </a:spcAft>
              <a:buClr>
                <a:schemeClr val="dk1"/>
              </a:buClr>
              <a:buSzPct val="46698"/>
              <a:buFont typeface="Arial"/>
              <a:buNone/>
            </a:pPr>
            <a:r>
              <a:rPr lang="es" sz="2356">
                <a:solidFill>
                  <a:schemeClr val="accent5"/>
                </a:solidFill>
              </a:rPr>
              <a:t>    </a:t>
            </a:r>
            <a:r>
              <a:rPr lang="es" sz="2356">
                <a:solidFill>
                  <a:schemeClr val="accent5"/>
                </a:solidFill>
              </a:rPr>
              <a:t>=</a:t>
            </a:r>
            <a:r>
              <a:rPr lang="es" sz="2133">
                <a:solidFill>
                  <a:schemeClr val="accent5"/>
                </a:solidFill>
              </a:rPr>
              <a:t> salario cuando años de experiencia laboral = 0</a:t>
            </a:r>
            <a:endParaRPr sz="2133">
              <a:solidFill>
                <a:schemeClr val="accent5"/>
              </a:solidFill>
            </a:endParaRPr>
          </a:p>
          <a:p>
            <a:pPr indent="0" lvl="0" marL="0" rtl="0" algn="l">
              <a:spcBef>
                <a:spcPts val="0"/>
              </a:spcBef>
              <a:spcAft>
                <a:spcPts val="0"/>
              </a:spcAft>
              <a:buNone/>
            </a:pPr>
            <a:r>
              <a:rPr lang="es" sz="2356"/>
              <a:t>   </a:t>
            </a:r>
            <a:r>
              <a:rPr lang="es" sz="2356"/>
              <a:t> = </a:t>
            </a:r>
            <a:r>
              <a:rPr lang="es" sz="2133"/>
              <a:t>parámetro de una variable (a veces se lo llama efecto marginal) </a:t>
            </a:r>
            <a:endParaRPr sz="1800"/>
          </a:p>
          <a:p>
            <a:pPr indent="0" lvl="0" marL="0" rtl="0" algn="l">
              <a:spcBef>
                <a:spcPts val="0"/>
              </a:spcBef>
              <a:spcAft>
                <a:spcPts val="0"/>
              </a:spcAft>
              <a:buClr>
                <a:schemeClr val="dk1"/>
              </a:buClr>
              <a:buSzPct val="46698"/>
              <a:buFont typeface="Arial"/>
              <a:buNone/>
            </a:pPr>
            <a:r>
              <a:rPr lang="es" sz="2356">
                <a:solidFill>
                  <a:schemeClr val="accent5"/>
                </a:solidFill>
              </a:rPr>
              <a:t>    </a:t>
            </a:r>
            <a:r>
              <a:rPr lang="es" sz="2356">
                <a:solidFill>
                  <a:schemeClr val="accent5"/>
                </a:solidFill>
              </a:rPr>
              <a:t>= </a:t>
            </a:r>
            <a:r>
              <a:rPr lang="es" sz="2133">
                <a:solidFill>
                  <a:schemeClr val="accent5"/>
                </a:solidFill>
              </a:rPr>
              <a:t>captura la medida del cambio en el salario por cada unidad adicional de      años de experiencia</a:t>
            </a:r>
            <a:endParaRPr sz="2133">
              <a:solidFill>
                <a:schemeClr val="accent5"/>
              </a:solidFill>
            </a:endParaRPr>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pic>
        <p:nvPicPr>
          <p:cNvPr id="190" name="Google Shape;190;p28"/>
          <p:cNvPicPr preferRelativeResize="0"/>
          <p:nvPr/>
        </p:nvPicPr>
        <p:blipFill rotWithShape="1">
          <a:blip r:embed="rId3">
            <a:alphaModFix/>
          </a:blip>
          <a:srcRect b="40616" l="21989" r="68875" t="35085"/>
          <a:stretch/>
        </p:blipFill>
        <p:spPr>
          <a:xfrm>
            <a:off x="166400" y="1546616"/>
            <a:ext cx="360775" cy="383825"/>
          </a:xfrm>
          <a:prstGeom prst="rect">
            <a:avLst/>
          </a:prstGeom>
          <a:noFill/>
          <a:ln>
            <a:noFill/>
          </a:ln>
        </p:spPr>
      </p:pic>
      <p:pic>
        <p:nvPicPr>
          <p:cNvPr id="191" name="Google Shape;191;p28"/>
          <p:cNvPicPr preferRelativeResize="0"/>
          <p:nvPr/>
        </p:nvPicPr>
        <p:blipFill rotWithShape="1">
          <a:blip r:embed="rId4">
            <a:alphaModFix/>
          </a:blip>
          <a:srcRect b="39409" l="42509" r="41598" t="35869"/>
          <a:stretch/>
        </p:blipFill>
        <p:spPr>
          <a:xfrm>
            <a:off x="252786" y="2212138"/>
            <a:ext cx="493498" cy="383825"/>
          </a:xfrm>
          <a:prstGeom prst="rect">
            <a:avLst/>
          </a:prstGeom>
          <a:noFill/>
          <a:ln>
            <a:noFill/>
          </a:ln>
        </p:spPr>
      </p:pic>
      <p:pic>
        <p:nvPicPr>
          <p:cNvPr id="192" name="Google Shape;192;p28"/>
          <p:cNvPicPr preferRelativeResize="0"/>
          <p:nvPr/>
        </p:nvPicPr>
        <p:blipFill rotWithShape="1">
          <a:blip r:embed="rId5">
            <a:alphaModFix/>
          </a:blip>
          <a:srcRect b="39906" l="44038" r="42597" t="37414"/>
          <a:stretch/>
        </p:blipFill>
        <p:spPr>
          <a:xfrm>
            <a:off x="305579" y="2899105"/>
            <a:ext cx="360776" cy="306123"/>
          </a:xfrm>
          <a:prstGeom prst="rect">
            <a:avLst/>
          </a:prstGeom>
          <a:noFill/>
          <a:ln>
            <a:noFill/>
          </a:ln>
        </p:spPr>
      </p:pic>
      <p:pic>
        <p:nvPicPr>
          <p:cNvPr id="193" name="Google Shape;193;p28"/>
          <p:cNvPicPr preferRelativeResize="0"/>
          <p:nvPr/>
        </p:nvPicPr>
        <p:blipFill rotWithShape="1">
          <a:blip r:embed="rId6">
            <a:alphaModFix/>
          </a:blip>
          <a:srcRect b="37068" l="43834" r="42801" t="37824"/>
          <a:stretch/>
        </p:blipFill>
        <p:spPr>
          <a:xfrm>
            <a:off x="294698" y="3561769"/>
            <a:ext cx="360774" cy="3389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sp>
        <p:nvSpPr>
          <p:cNvPr id="199" name="Google Shape;199;p29"/>
          <p:cNvSpPr txBox="1"/>
          <p:nvPr/>
        </p:nvSpPr>
        <p:spPr>
          <a:xfrm>
            <a:off x="606375" y="3063050"/>
            <a:ext cx="8226000" cy="106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433">
                <a:solidFill>
                  <a:schemeClr val="dk1"/>
                </a:solidFill>
              </a:rPr>
              <a:t>        </a:t>
            </a:r>
            <a:r>
              <a:rPr lang="es" sz="1433">
                <a:solidFill>
                  <a:schemeClr val="dk1"/>
                </a:solidFill>
              </a:rPr>
              <a:t>captura el cambio que produce una unidad adicional de experiencia en el salario (en promedio).</a:t>
            </a:r>
            <a:endParaRPr sz="1433">
              <a:solidFill>
                <a:schemeClr val="dk1"/>
              </a:solidFill>
            </a:endParaRPr>
          </a:p>
          <a:p>
            <a:pPr indent="0" lvl="0" marL="0" rtl="0" algn="l">
              <a:spcBef>
                <a:spcPts val="0"/>
              </a:spcBef>
              <a:spcAft>
                <a:spcPts val="0"/>
              </a:spcAft>
              <a:buNone/>
            </a:pPr>
            <a:r>
              <a:rPr lang="es" sz="1433">
                <a:solidFill>
                  <a:schemeClr val="dk1"/>
                </a:solidFill>
              </a:rPr>
              <a:t>Constituye el efecto marginal de la var. X sobre Y (por eso acompaña al regresor). Y también se lo suele definir como:</a:t>
            </a:r>
            <a:endParaRPr sz="1433">
              <a:solidFill>
                <a:schemeClr val="dk1"/>
              </a:solidFill>
            </a:endParaRPr>
          </a:p>
        </p:txBody>
      </p:sp>
      <p:pic>
        <p:nvPicPr>
          <p:cNvPr id="200" name="Google Shape;200;p29"/>
          <p:cNvPicPr preferRelativeResize="0"/>
          <p:nvPr/>
        </p:nvPicPr>
        <p:blipFill rotWithShape="1">
          <a:blip r:embed="rId3">
            <a:alphaModFix/>
          </a:blip>
          <a:srcRect b="35255" l="3335" r="3763" t="36995"/>
          <a:stretch/>
        </p:blipFill>
        <p:spPr>
          <a:xfrm>
            <a:off x="719427" y="1207684"/>
            <a:ext cx="6869675" cy="513000"/>
          </a:xfrm>
          <a:prstGeom prst="rect">
            <a:avLst/>
          </a:prstGeom>
          <a:noFill/>
          <a:ln>
            <a:noFill/>
          </a:ln>
        </p:spPr>
      </p:pic>
      <p:sp>
        <p:nvSpPr>
          <p:cNvPr id="201" name="Google Shape;201;p29"/>
          <p:cNvSpPr txBox="1"/>
          <p:nvPr/>
        </p:nvSpPr>
        <p:spPr>
          <a:xfrm>
            <a:off x="838641" y="789281"/>
            <a:ext cx="7690200" cy="51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33">
                <a:solidFill>
                  <a:schemeClr val="dk1"/>
                </a:solidFill>
              </a:rPr>
              <a:t>                                     </a:t>
            </a:r>
            <a:r>
              <a:rPr lang="es" sz="1833">
                <a:solidFill>
                  <a:schemeClr val="dk1"/>
                </a:solidFill>
              </a:rPr>
              <a:t>Salario(años de experiencia=0) </a:t>
            </a:r>
            <a:endParaRPr sz="1100"/>
          </a:p>
        </p:txBody>
      </p:sp>
      <p:cxnSp>
        <p:nvCxnSpPr>
          <p:cNvPr id="202" name="Google Shape;202;p29"/>
          <p:cNvCxnSpPr/>
          <p:nvPr/>
        </p:nvCxnSpPr>
        <p:spPr>
          <a:xfrm>
            <a:off x="2871996" y="1092746"/>
            <a:ext cx="554700" cy="0"/>
          </a:xfrm>
          <a:prstGeom prst="straightConnector1">
            <a:avLst/>
          </a:prstGeom>
          <a:noFill/>
          <a:ln cap="flat" cmpd="sng" w="9525">
            <a:solidFill>
              <a:schemeClr val="dk2"/>
            </a:solidFill>
            <a:prstDash val="solid"/>
            <a:round/>
            <a:headEnd len="med" w="med" type="none"/>
            <a:tailEnd len="med" w="med" type="triangle"/>
          </a:ln>
        </p:spPr>
      </p:cxnSp>
      <p:pic>
        <p:nvPicPr>
          <p:cNvPr id="203" name="Google Shape;203;p29"/>
          <p:cNvPicPr preferRelativeResize="0"/>
          <p:nvPr/>
        </p:nvPicPr>
        <p:blipFill rotWithShape="1">
          <a:blip r:embed="rId4">
            <a:alphaModFix/>
          </a:blip>
          <a:srcRect b="40764" l="32039" r="32118" t="39195"/>
          <a:stretch/>
        </p:blipFill>
        <p:spPr>
          <a:xfrm>
            <a:off x="696088" y="898848"/>
            <a:ext cx="1965476" cy="343450"/>
          </a:xfrm>
          <a:prstGeom prst="rect">
            <a:avLst/>
          </a:prstGeom>
          <a:noFill/>
          <a:ln>
            <a:noFill/>
          </a:ln>
        </p:spPr>
      </p:pic>
      <p:pic>
        <p:nvPicPr>
          <p:cNvPr id="204" name="Google Shape;204;p29"/>
          <p:cNvPicPr preferRelativeResize="0"/>
          <p:nvPr/>
        </p:nvPicPr>
        <p:blipFill rotWithShape="1">
          <a:blip r:embed="rId5">
            <a:alphaModFix/>
          </a:blip>
          <a:srcRect b="40900" l="20936" r="20520" t="38904"/>
          <a:stretch/>
        </p:blipFill>
        <p:spPr>
          <a:xfrm>
            <a:off x="755398" y="1648993"/>
            <a:ext cx="3584097" cy="343450"/>
          </a:xfrm>
          <a:prstGeom prst="rect">
            <a:avLst/>
          </a:prstGeom>
          <a:noFill/>
          <a:ln>
            <a:noFill/>
          </a:ln>
        </p:spPr>
      </p:pic>
      <p:pic>
        <p:nvPicPr>
          <p:cNvPr id="205" name="Google Shape;205;p29"/>
          <p:cNvPicPr preferRelativeResize="0"/>
          <p:nvPr/>
        </p:nvPicPr>
        <p:blipFill rotWithShape="1">
          <a:blip r:embed="rId6">
            <a:alphaModFix/>
          </a:blip>
          <a:srcRect b="39453" l="29091" r="28433" t="37999"/>
          <a:stretch/>
        </p:blipFill>
        <p:spPr>
          <a:xfrm>
            <a:off x="803660" y="2052030"/>
            <a:ext cx="2473961" cy="364800"/>
          </a:xfrm>
          <a:prstGeom prst="rect">
            <a:avLst/>
          </a:prstGeom>
          <a:noFill/>
          <a:ln>
            <a:noFill/>
          </a:ln>
        </p:spPr>
      </p:pic>
      <p:pic>
        <p:nvPicPr>
          <p:cNvPr id="206" name="Google Shape;206;p29"/>
          <p:cNvPicPr preferRelativeResize="0"/>
          <p:nvPr/>
        </p:nvPicPr>
        <p:blipFill rotWithShape="1">
          <a:blip r:embed="rId7">
            <a:alphaModFix/>
          </a:blip>
          <a:srcRect b="39614" l="18624" r="17726" t="37838"/>
          <a:stretch/>
        </p:blipFill>
        <p:spPr>
          <a:xfrm>
            <a:off x="791997" y="2400988"/>
            <a:ext cx="4224839" cy="415713"/>
          </a:xfrm>
          <a:prstGeom prst="rect">
            <a:avLst/>
          </a:prstGeom>
          <a:noFill/>
          <a:ln>
            <a:noFill/>
          </a:ln>
        </p:spPr>
      </p:pic>
      <p:pic>
        <p:nvPicPr>
          <p:cNvPr id="207" name="Google Shape;207;p29"/>
          <p:cNvPicPr preferRelativeResize="0"/>
          <p:nvPr/>
        </p:nvPicPr>
        <p:blipFill rotWithShape="1">
          <a:blip r:embed="rId8">
            <a:alphaModFix/>
          </a:blip>
          <a:srcRect b="37068" l="43834" r="42801" t="37824"/>
          <a:stretch/>
        </p:blipFill>
        <p:spPr>
          <a:xfrm>
            <a:off x="652836" y="3088105"/>
            <a:ext cx="360774" cy="338901"/>
          </a:xfrm>
          <a:prstGeom prst="rect">
            <a:avLst/>
          </a:prstGeom>
          <a:noFill/>
          <a:ln>
            <a:noFill/>
          </a:ln>
        </p:spPr>
      </p:pic>
      <p:pic>
        <p:nvPicPr>
          <p:cNvPr id="208" name="Google Shape;208;p29"/>
          <p:cNvPicPr preferRelativeResize="0"/>
          <p:nvPr/>
        </p:nvPicPr>
        <p:blipFill rotWithShape="1">
          <a:blip r:embed="rId9">
            <a:alphaModFix/>
          </a:blip>
          <a:srcRect b="25201" l="38921" r="40926" t="16680"/>
          <a:stretch/>
        </p:blipFill>
        <p:spPr>
          <a:xfrm>
            <a:off x="3873825" y="4057600"/>
            <a:ext cx="1143000" cy="915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sp>
        <p:nvSpPr>
          <p:cNvPr id="214" name="Google Shape;214;p30"/>
          <p:cNvSpPr txBox="1"/>
          <p:nvPr/>
        </p:nvSpPr>
        <p:spPr>
          <a:xfrm>
            <a:off x="726900" y="1024625"/>
            <a:ext cx="76902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33">
                <a:solidFill>
                  <a:schemeClr val="dk1"/>
                </a:solidFill>
              </a:rPr>
              <a:t>      </a:t>
            </a:r>
            <a:r>
              <a:rPr lang="es" sz="1933">
                <a:solidFill>
                  <a:schemeClr val="dk1"/>
                </a:solidFill>
              </a:rPr>
              <a:t>y    </a:t>
            </a:r>
            <a:r>
              <a:rPr lang="es" sz="1933">
                <a:solidFill>
                  <a:schemeClr val="dk1"/>
                </a:solidFill>
              </a:rPr>
              <a:t>   son parámetros poblacionales desconocidos. A través de distintos modelos, como por ejemplo la regresión lineal, buscamos estimarlos.  </a:t>
            </a:r>
            <a:endParaRPr b="1" sz="1200"/>
          </a:p>
        </p:txBody>
      </p:sp>
      <p:pic>
        <p:nvPicPr>
          <p:cNvPr id="215" name="Google Shape;215;p30"/>
          <p:cNvPicPr preferRelativeResize="0"/>
          <p:nvPr/>
        </p:nvPicPr>
        <p:blipFill rotWithShape="1">
          <a:blip r:embed="rId3">
            <a:alphaModFix/>
          </a:blip>
          <a:srcRect b="39906" l="44038" r="42597" t="37414"/>
          <a:stretch/>
        </p:blipFill>
        <p:spPr>
          <a:xfrm>
            <a:off x="842084" y="1024635"/>
            <a:ext cx="419876" cy="356275"/>
          </a:xfrm>
          <a:prstGeom prst="rect">
            <a:avLst/>
          </a:prstGeom>
          <a:noFill/>
          <a:ln>
            <a:noFill/>
          </a:ln>
        </p:spPr>
      </p:pic>
      <p:pic>
        <p:nvPicPr>
          <p:cNvPr id="216" name="Google Shape;216;p30"/>
          <p:cNvPicPr preferRelativeResize="0"/>
          <p:nvPr/>
        </p:nvPicPr>
        <p:blipFill rotWithShape="1">
          <a:blip r:embed="rId4">
            <a:alphaModFix/>
          </a:blip>
          <a:srcRect b="37068" l="43834" r="42801" t="37824"/>
          <a:stretch/>
        </p:blipFill>
        <p:spPr>
          <a:xfrm>
            <a:off x="1413575" y="1036097"/>
            <a:ext cx="419876" cy="39441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Clr>
                <a:schemeClr val="dk1"/>
              </a:buClr>
              <a:buSzPct val="33904"/>
              <a:buFont typeface="Arial"/>
              <a:buNone/>
            </a:pPr>
            <a:r>
              <a:t/>
            </a:r>
            <a:endParaRPr sz="3244"/>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sp>
        <p:nvSpPr>
          <p:cNvPr id="222" name="Google Shape;222;p31"/>
          <p:cNvSpPr txBox="1"/>
          <p:nvPr/>
        </p:nvSpPr>
        <p:spPr>
          <a:xfrm>
            <a:off x="494700" y="794125"/>
            <a:ext cx="8649300" cy="324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33">
                <a:solidFill>
                  <a:schemeClr val="dk1"/>
                </a:solidFill>
              </a:rPr>
              <a:t>       representa el término de error de la regresión</a:t>
            </a:r>
            <a:endParaRPr sz="1933">
              <a:solidFill>
                <a:schemeClr val="dk1"/>
              </a:solidFill>
            </a:endParaRPr>
          </a:p>
          <a:p>
            <a:pPr indent="0" lvl="0" marL="0" rtl="0" algn="l">
              <a:spcBef>
                <a:spcPts val="0"/>
              </a:spcBef>
              <a:spcAft>
                <a:spcPts val="0"/>
              </a:spcAft>
              <a:buNone/>
            </a:pPr>
            <a:r>
              <a:t/>
            </a:r>
            <a:endParaRPr sz="1933">
              <a:solidFill>
                <a:schemeClr val="dk1"/>
              </a:solidFill>
            </a:endParaRPr>
          </a:p>
          <a:p>
            <a:pPr indent="0" lvl="0" marL="0" rtl="0" algn="l">
              <a:spcBef>
                <a:spcPts val="0"/>
              </a:spcBef>
              <a:spcAft>
                <a:spcPts val="0"/>
              </a:spcAft>
              <a:buNone/>
            </a:pPr>
            <a:r>
              <a:rPr lang="es" sz="1933">
                <a:solidFill>
                  <a:schemeClr val="dk1"/>
                </a:solidFill>
              </a:rPr>
              <a:t> En el error se incluye toda la variabilidad de Y que no se debe a X</a:t>
            </a:r>
            <a:endParaRPr sz="1933">
              <a:solidFill>
                <a:schemeClr val="dk1"/>
              </a:solidFill>
            </a:endParaRPr>
          </a:p>
          <a:p>
            <a:pPr indent="0" lvl="0" marL="0" rtl="0" algn="l">
              <a:spcBef>
                <a:spcPts val="0"/>
              </a:spcBef>
              <a:spcAft>
                <a:spcPts val="0"/>
              </a:spcAft>
              <a:buNone/>
            </a:pPr>
            <a:r>
              <a:t/>
            </a:r>
            <a:endParaRPr sz="1933">
              <a:solidFill>
                <a:schemeClr val="dk1"/>
              </a:solidFill>
            </a:endParaRPr>
          </a:p>
          <a:p>
            <a:pPr indent="0" lvl="0" marL="0" rtl="0" algn="l">
              <a:spcBef>
                <a:spcPts val="0"/>
              </a:spcBef>
              <a:spcAft>
                <a:spcPts val="0"/>
              </a:spcAft>
              <a:buNone/>
            </a:pPr>
            <a:r>
              <a:rPr lang="es" sz="3222">
                <a:solidFill>
                  <a:schemeClr val="dk1"/>
                </a:solidFill>
              </a:rPr>
              <a:t> </a:t>
            </a:r>
            <a:r>
              <a:rPr lang="es" sz="3222">
                <a:solidFill>
                  <a:schemeClr val="dk1"/>
                </a:solidFill>
                <a:latin typeface="Poppins"/>
                <a:ea typeface="Poppins"/>
                <a:cs typeface="Poppins"/>
                <a:sym typeface="Poppins"/>
              </a:rPr>
              <a:t>ε</a:t>
            </a:r>
            <a:r>
              <a:rPr lang="es" sz="3222">
                <a:solidFill>
                  <a:schemeClr val="dk1"/>
                </a:solidFill>
              </a:rPr>
              <a:t> </a:t>
            </a:r>
            <a:r>
              <a:rPr lang="es" sz="1800">
                <a:solidFill>
                  <a:schemeClr val="dk1"/>
                </a:solidFill>
              </a:rPr>
              <a:t>en nuestro ejemplo = nivel educativo, industria/sector, género…</a:t>
            </a:r>
            <a:endParaRPr sz="1800">
              <a:solidFill>
                <a:schemeClr val="dk1"/>
              </a:solidFill>
            </a:endParaRPr>
          </a:p>
          <a:p>
            <a:pPr indent="0" lvl="0" marL="0" rtl="0" algn="l">
              <a:spcBef>
                <a:spcPts val="0"/>
              </a:spcBef>
              <a:spcAft>
                <a:spcPts val="0"/>
              </a:spcAft>
              <a:buNone/>
            </a:pPr>
            <a:r>
              <a:t/>
            </a:r>
            <a:endParaRPr sz="1900">
              <a:solidFill>
                <a:schemeClr val="dk1"/>
              </a:solidFill>
            </a:endParaRPr>
          </a:p>
          <a:p>
            <a:pPr indent="0" lvl="0" marL="0" rtl="0" algn="l">
              <a:spcBef>
                <a:spcPts val="0"/>
              </a:spcBef>
              <a:spcAft>
                <a:spcPts val="0"/>
              </a:spcAft>
              <a:buNone/>
            </a:pPr>
            <a:r>
              <a:rPr lang="es" sz="1800">
                <a:solidFill>
                  <a:schemeClr val="dk1"/>
                </a:solidFill>
              </a:rPr>
              <a:t>Nota: es importante que </a:t>
            </a:r>
            <a:r>
              <a:rPr lang="es" sz="3222">
                <a:solidFill>
                  <a:schemeClr val="dk1"/>
                </a:solidFill>
                <a:latin typeface="Poppins"/>
                <a:ea typeface="Poppins"/>
                <a:cs typeface="Poppins"/>
                <a:sym typeface="Poppins"/>
              </a:rPr>
              <a:t>ε</a:t>
            </a:r>
            <a:r>
              <a:rPr lang="es" sz="3222">
                <a:solidFill>
                  <a:schemeClr val="dk1"/>
                </a:solidFill>
              </a:rPr>
              <a:t> </a:t>
            </a:r>
            <a:r>
              <a:rPr lang="es" sz="1800">
                <a:solidFill>
                  <a:schemeClr val="dk1"/>
                </a:solidFill>
              </a:rPr>
              <a:t>cumpla con ciertas características en una regresión lineal. Más adelante las veremos.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2033">
              <a:solidFill>
                <a:schemeClr val="dk1"/>
              </a:solidFill>
            </a:endParaRPr>
          </a:p>
        </p:txBody>
      </p:sp>
      <p:sp>
        <p:nvSpPr>
          <p:cNvPr id="223" name="Google Shape;223;p31"/>
          <p:cNvSpPr txBox="1"/>
          <p:nvPr/>
        </p:nvSpPr>
        <p:spPr>
          <a:xfrm>
            <a:off x="646325" y="672903"/>
            <a:ext cx="691200" cy="68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222">
                <a:solidFill>
                  <a:schemeClr val="dk1"/>
                </a:solidFill>
                <a:latin typeface="Poppins"/>
                <a:ea typeface="Poppins"/>
                <a:cs typeface="Poppins"/>
                <a:sym typeface="Poppins"/>
              </a:rPr>
              <a:t>ε</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sp>
        <p:nvSpPr>
          <p:cNvPr id="229" name="Google Shape;229;p32"/>
          <p:cNvSpPr txBox="1"/>
          <p:nvPr/>
        </p:nvSpPr>
        <p:spPr>
          <a:xfrm>
            <a:off x="239825" y="735741"/>
            <a:ext cx="8721300" cy="179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133">
              <a:solidFill>
                <a:schemeClr val="dk1"/>
              </a:solidFill>
            </a:endParaRPr>
          </a:p>
          <a:p>
            <a:pPr indent="0" lvl="0" marL="0" rtl="0" algn="ctr">
              <a:spcBef>
                <a:spcPts val="0"/>
              </a:spcBef>
              <a:spcAft>
                <a:spcPts val="0"/>
              </a:spcAft>
              <a:buNone/>
            </a:pPr>
            <a:r>
              <a:rPr lang="es" sz="2133">
                <a:solidFill>
                  <a:schemeClr val="dk1"/>
                </a:solidFill>
              </a:rPr>
              <a:t>Salario = β</a:t>
            </a:r>
            <a:r>
              <a:rPr lang="es" sz="1733">
                <a:solidFill>
                  <a:schemeClr val="dk1"/>
                </a:solidFill>
              </a:rPr>
              <a:t>0</a:t>
            </a:r>
            <a:r>
              <a:rPr lang="es" sz="2133">
                <a:solidFill>
                  <a:schemeClr val="dk1"/>
                </a:solidFill>
              </a:rPr>
              <a:t> + β</a:t>
            </a:r>
            <a:r>
              <a:rPr lang="es" sz="1833">
                <a:solidFill>
                  <a:schemeClr val="dk1"/>
                </a:solidFill>
              </a:rPr>
              <a:t>1Años.exp</a:t>
            </a:r>
            <a:r>
              <a:rPr lang="es" sz="2133">
                <a:solidFill>
                  <a:schemeClr val="dk1"/>
                </a:solidFill>
              </a:rPr>
              <a:t> + ε</a:t>
            </a:r>
            <a:endParaRPr sz="2133">
              <a:solidFill>
                <a:schemeClr val="dk1"/>
              </a:solidFill>
            </a:endParaRPr>
          </a:p>
          <a:p>
            <a:pPr indent="0" lvl="0" marL="0" rtl="0" algn="l">
              <a:spcBef>
                <a:spcPts val="0"/>
              </a:spcBef>
              <a:spcAft>
                <a:spcPts val="0"/>
              </a:spcAft>
              <a:buNone/>
            </a:pPr>
            <a:r>
              <a:t/>
            </a:r>
            <a:endParaRPr sz="2133">
              <a:solidFill>
                <a:schemeClr val="dk1"/>
              </a:solidFill>
            </a:endParaRPr>
          </a:p>
          <a:p>
            <a:pPr indent="0" lvl="0" marL="0" rtl="0" algn="l">
              <a:spcBef>
                <a:spcPts val="0"/>
              </a:spcBef>
              <a:spcAft>
                <a:spcPts val="0"/>
              </a:spcAft>
              <a:buNone/>
            </a:pPr>
            <a:r>
              <a:rPr b="1" lang="es" sz="1933">
                <a:solidFill>
                  <a:schemeClr val="dk1"/>
                </a:solidFill>
              </a:rPr>
              <a:t>¿Cuál es el problema de estimar el valor de Y a partir de una recta?</a:t>
            </a:r>
            <a:endParaRPr b="1" sz="1933">
              <a:solidFill>
                <a:schemeClr val="dk1"/>
              </a:solidFill>
            </a:endParaRPr>
          </a:p>
          <a:p>
            <a:pPr indent="0" lvl="0" marL="0" rtl="0" algn="l">
              <a:spcBef>
                <a:spcPts val="0"/>
              </a:spcBef>
              <a:spcAft>
                <a:spcPts val="0"/>
              </a:spcAft>
              <a:buNone/>
            </a:pPr>
            <a:r>
              <a:t/>
            </a:r>
            <a:endParaRPr sz="2133">
              <a:solidFill>
                <a:schemeClr val="dk1"/>
              </a:solidFill>
            </a:endParaRPr>
          </a:p>
        </p:txBody>
      </p:sp>
      <p:pic>
        <p:nvPicPr>
          <p:cNvPr id="230" name="Google Shape;230;p32"/>
          <p:cNvPicPr preferRelativeResize="0"/>
          <p:nvPr/>
        </p:nvPicPr>
        <p:blipFill rotWithShape="1">
          <a:blip r:embed="rId3">
            <a:alphaModFix/>
          </a:blip>
          <a:srcRect b="36586" l="21990" r="22396" t="35084"/>
          <a:stretch/>
        </p:blipFill>
        <p:spPr>
          <a:xfrm>
            <a:off x="3196368" y="624323"/>
            <a:ext cx="2542700" cy="518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p>
        </p:txBody>
      </p:sp>
      <p:sp>
        <p:nvSpPr>
          <p:cNvPr id="236" name="Google Shape;236;p33"/>
          <p:cNvSpPr txBox="1"/>
          <p:nvPr/>
        </p:nvSpPr>
        <p:spPr>
          <a:xfrm>
            <a:off x="239825" y="677425"/>
            <a:ext cx="8721300" cy="179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133">
              <a:solidFill>
                <a:schemeClr val="dk1"/>
              </a:solidFill>
            </a:endParaRPr>
          </a:p>
          <a:p>
            <a:pPr indent="0" lvl="0" marL="0" rtl="0" algn="ctr">
              <a:spcBef>
                <a:spcPts val="0"/>
              </a:spcBef>
              <a:spcAft>
                <a:spcPts val="0"/>
              </a:spcAft>
              <a:buNone/>
            </a:pPr>
            <a:r>
              <a:rPr lang="es" sz="2133">
                <a:solidFill>
                  <a:schemeClr val="dk1"/>
                </a:solidFill>
              </a:rPr>
              <a:t>Salario = β</a:t>
            </a:r>
            <a:r>
              <a:rPr lang="es" sz="1833">
                <a:solidFill>
                  <a:schemeClr val="dk1"/>
                </a:solidFill>
              </a:rPr>
              <a:t>0</a:t>
            </a:r>
            <a:r>
              <a:rPr lang="es" sz="2133">
                <a:solidFill>
                  <a:schemeClr val="dk1"/>
                </a:solidFill>
              </a:rPr>
              <a:t> + β</a:t>
            </a:r>
            <a:r>
              <a:rPr lang="es" sz="1933">
                <a:solidFill>
                  <a:schemeClr val="dk1"/>
                </a:solidFill>
              </a:rPr>
              <a:t>1</a:t>
            </a:r>
            <a:r>
              <a:rPr lang="es" sz="2133">
                <a:solidFill>
                  <a:schemeClr val="dk1"/>
                </a:solidFill>
              </a:rPr>
              <a:t>Años.exp + ε</a:t>
            </a:r>
            <a:endParaRPr sz="2133">
              <a:solidFill>
                <a:schemeClr val="dk1"/>
              </a:solidFill>
            </a:endParaRPr>
          </a:p>
          <a:p>
            <a:pPr indent="0" lvl="0" marL="0" rtl="0" algn="l">
              <a:spcBef>
                <a:spcPts val="0"/>
              </a:spcBef>
              <a:spcAft>
                <a:spcPts val="0"/>
              </a:spcAft>
              <a:buNone/>
            </a:pPr>
            <a:r>
              <a:t/>
            </a:r>
            <a:endParaRPr sz="2133">
              <a:solidFill>
                <a:schemeClr val="dk1"/>
              </a:solidFill>
            </a:endParaRPr>
          </a:p>
          <a:p>
            <a:pPr indent="0" lvl="0" marL="0" rtl="0" algn="l">
              <a:spcBef>
                <a:spcPts val="0"/>
              </a:spcBef>
              <a:spcAft>
                <a:spcPts val="0"/>
              </a:spcAft>
              <a:buNone/>
            </a:pPr>
            <a:r>
              <a:rPr b="1" lang="es" sz="1933">
                <a:solidFill>
                  <a:schemeClr val="dk1"/>
                </a:solidFill>
              </a:rPr>
              <a:t>¿Cuál es el problema de estimar el valor de Y a partir de una recta?</a:t>
            </a:r>
            <a:endParaRPr b="1" sz="1933">
              <a:solidFill>
                <a:schemeClr val="dk1"/>
              </a:solidFill>
            </a:endParaRPr>
          </a:p>
          <a:p>
            <a:pPr indent="0" lvl="0" marL="0" rtl="0" algn="l">
              <a:spcBef>
                <a:spcPts val="0"/>
              </a:spcBef>
              <a:spcAft>
                <a:spcPts val="0"/>
              </a:spcAft>
              <a:buNone/>
            </a:pPr>
            <a:r>
              <a:t/>
            </a:r>
            <a:endParaRPr sz="2133">
              <a:solidFill>
                <a:schemeClr val="dk1"/>
              </a:solidFill>
            </a:endParaRPr>
          </a:p>
        </p:txBody>
      </p:sp>
      <p:pic>
        <p:nvPicPr>
          <p:cNvPr id="237" name="Google Shape;237;p33"/>
          <p:cNvPicPr preferRelativeResize="0"/>
          <p:nvPr/>
        </p:nvPicPr>
        <p:blipFill>
          <a:blip r:embed="rId3">
            <a:alphaModFix/>
          </a:blip>
          <a:stretch>
            <a:fillRect/>
          </a:stretch>
        </p:blipFill>
        <p:spPr>
          <a:xfrm>
            <a:off x="2871600" y="2159850"/>
            <a:ext cx="3588112" cy="2825100"/>
          </a:xfrm>
          <a:prstGeom prst="rect">
            <a:avLst/>
          </a:prstGeom>
          <a:noFill/>
          <a:ln>
            <a:noFill/>
          </a:ln>
        </p:spPr>
      </p:pic>
      <p:pic>
        <p:nvPicPr>
          <p:cNvPr id="238" name="Google Shape;238;p33"/>
          <p:cNvPicPr preferRelativeResize="0"/>
          <p:nvPr/>
        </p:nvPicPr>
        <p:blipFill rotWithShape="1">
          <a:blip r:embed="rId4">
            <a:alphaModFix/>
          </a:blip>
          <a:srcRect b="36586" l="21990" r="22396" t="35084"/>
          <a:stretch/>
        </p:blipFill>
        <p:spPr>
          <a:xfrm>
            <a:off x="3196368" y="624323"/>
            <a:ext cx="2542700" cy="518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4"/>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Clr>
                <a:schemeClr val="dk1"/>
              </a:buClr>
              <a:buSzPct val="46698"/>
              <a:buFont typeface="Arial"/>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pic>
        <p:nvPicPr>
          <p:cNvPr id="244" name="Google Shape;244;p34"/>
          <p:cNvPicPr preferRelativeResize="0"/>
          <p:nvPr/>
        </p:nvPicPr>
        <p:blipFill>
          <a:blip r:embed="rId3">
            <a:alphaModFix/>
          </a:blip>
          <a:stretch>
            <a:fillRect/>
          </a:stretch>
        </p:blipFill>
        <p:spPr>
          <a:xfrm>
            <a:off x="2263325" y="626250"/>
            <a:ext cx="1869393" cy="4212450"/>
          </a:xfrm>
          <a:prstGeom prst="rect">
            <a:avLst/>
          </a:prstGeom>
          <a:noFill/>
          <a:ln>
            <a:noFill/>
          </a:ln>
        </p:spPr>
      </p:pic>
      <p:sp>
        <p:nvSpPr>
          <p:cNvPr id="245" name="Google Shape;245;p34"/>
          <p:cNvSpPr/>
          <p:nvPr/>
        </p:nvSpPr>
        <p:spPr>
          <a:xfrm>
            <a:off x="3252600" y="2332900"/>
            <a:ext cx="880200" cy="1884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4"/>
              </a:highlight>
            </a:endParaRPr>
          </a:p>
        </p:txBody>
      </p:sp>
      <p:sp>
        <p:nvSpPr>
          <p:cNvPr id="246" name="Google Shape;246;p34"/>
          <p:cNvSpPr/>
          <p:nvPr/>
        </p:nvSpPr>
        <p:spPr>
          <a:xfrm>
            <a:off x="3252600" y="2561500"/>
            <a:ext cx="880200" cy="188400"/>
          </a:xfrm>
          <a:prstGeom prst="rect">
            <a:avLst/>
          </a:prstGeom>
          <a:no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accent4"/>
              </a:highlight>
            </a:endParaRPr>
          </a:p>
        </p:txBody>
      </p:sp>
      <p:cxnSp>
        <p:nvCxnSpPr>
          <p:cNvPr id="247" name="Google Shape;247;p34"/>
          <p:cNvCxnSpPr/>
          <p:nvPr/>
        </p:nvCxnSpPr>
        <p:spPr>
          <a:xfrm>
            <a:off x="4422025" y="2521200"/>
            <a:ext cx="802800" cy="0"/>
          </a:xfrm>
          <a:prstGeom prst="straightConnector1">
            <a:avLst/>
          </a:prstGeom>
          <a:noFill/>
          <a:ln cap="flat" cmpd="sng" w="9525">
            <a:solidFill>
              <a:schemeClr val="accent4"/>
            </a:solidFill>
            <a:prstDash val="solid"/>
            <a:round/>
            <a:headEnd len="med" w="med" type="none"/>
            <a:tailEnd len="med" w="med" type="triangle"/>
          </a:ln>
        </p:spPr>
      </p:cxnSp>
      <p:sp>
        <p:nvSpPr>
          <p:cNvPr id="248" name="Google Shape;248;p34"/>
          <p:cNvSpPr txBox="1"/>
          <p:nvPr/>
        </p:nvSpPr>
        <p:spPr>
          <a:xfrm>
            <a:off x="5341700" y="2244375"/>
            <a:ext cx="3312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P</a:t>
            </a:r>
            <a:r>
              <a:rPr lang="es" sz="1800">
                <a:solidFill>
                  <a:schemeClr val="dk1"/>
                </a:solidFill>
              </a:rPr>
              <a:t>ar</a:t>
            </a:r>
            <a:r>
              <a:rPr lang="es" sz="1800">
                <a:solidFill>
                  <a:schemeClr val="dk1"/>
                </a:solidFill>
              </a:rPr>
              <a:t>a est</a:t>
            </a:r>
            <a:r>
              <a:rPr lang="es" sz="1800">
                <a:solidFill>
                  <a:schemeClr val="dk1"/>
                </a:solidFill>
              </a:rPr>
              <a:t>e nivel dado de años de experiencia, no tenemos un único valor de salario</a:t>
            </a:r>
            <a:endParaRPr sz="400"/>
          </a:p>
        </p:txBody>
      </p:sp>
      <p:sp>
        <p:nvSpPr>
          <p:cNvPr id="249" name="Google Shape;249;p34"/>
          <p:cNvSpPr txBox="1"/>
          <p:nvPr/>
        </p:nvSpPr>
        <p:spPr>
          <a:xfrm>
            <a:off x="5341700" y="1014600"/>
            <a:ext cx="3114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Veamos las primeras observaciones de la base de datos…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pic>
        <p:nvPicPr>
          <p:cNvPr id="255" name="Google Shape;255;p35"/>
          <p:cNvPicPr preferRelativeResize="0"/>
          <p:nvPr/>
        </p:nvPicPr>
        <p:blipFill>
          <a:blip r:embed="rId3">
            <a:alphaModFix/>
          </a:blip>
          <a:stretch>
            <a:fillRect/>
          </a:stretch>
        </p:blipFill>
        <p:spPr>
          <a:xfrm>
            <a:off x="2703100" y="747525"/>
            <a:ext cx="3588112" cy="2825100"/>
          </a:xfrm>
          <a:prstGeom prst="rect">
            <a:avLst/>
          </a:prstGeom>
          <a:noFill/>
          <a:ln>
            <a:noFill/>
          </a:ln>
        </p:spPr>
      </p:pic>
      <p:sp>
        <p:nvSpPr>
          <p:cNvPr id="256" name="Google Shape;256;p35"/>
          <p:cNvSpPr txBox="1"/>
          <p:nvPr/>
        </p:nvSpPr>
        <p:spPr>
          <a:xfrm>
            <a:off x="5664875" y="988650"/>
            <a:ext cx="370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a:solidFill>
                  <a:srgbClr val="FF9900"/>
                </a:solidFill>
                <a:latin typeface="Average"/>
                <a:ea typeface="Average"/>
                <a:cs typeface="Average"/>
                <a:sym typeface="Average"/>
              </a:rPr>
              <a:t>ε</a:t>
            </a:r>
            <a:endParaRPr b="1" sz="1700">
              <a:solidFill>
                <a:srgbClr val="FF9900"/>
              </a:solidFill>
            </a:endParaRPr>
          </a:p>
        </p:txBody>
      </p:sp>
      <p:sp>
        <p:nvSpPr>
          <p:cNvPr id="257" name="Google Shape;257;p35"/>
          <p:cNvSpPr/>
          <p:nvPr/>
        </p:nvSpPr>
        <p:spPr>
          <a:xfrm>
            <a:off x="5664875" y="1147850"/>
            <a:ext cx="95700" cy="268800"/>
          </a:xfrm>
          <a:prstGeom prst="rightBrace">
            <a:avLst>
              <a:gd fmla="val 50000" name="adj1"/>
              <a:gd fmla="val 50000" name="adj2"/>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pic>
        <p:nvPicPr>
          <p:cNvPr id="258" name="Google Shape;258;p35"/>
          <p:cNvPicPr preferRelativeResize="0"/>
          <p:nvPr/>
        </p:nvPicPr>
        <p:blipFill>
          <a:blip r:embed="rId4">
            <a:alphaModFix/>
          </a:blip>
          <a:stretch>
            <a:fillRect/>
          </a:stretch>
        </p:blipFill>
        <p:spPr>
          <a:xfrm>
            <a:off x="3705975" y="2606475"/>
            <a:ext cx="1271520" cy="264900"/>
          </a:xfrm>
          <a:prstGeom prst="rect">
            <a:avLst/>
          </a:prstGeom>
          <a:noFill/>
          <a:ln>
            <a:noFill/>
          </a:ln>
        </p:spPr>
      </p:pic>
      <p:sp>
        <p:nvSpPr>
          <p:cNvPr id="259" name="Google Shape;259;p35"/>
          <p:cNvSpPr txBox="1"/>
          <p:nvPr/>
        </p:nvSpPr>
        <p:spPr>
          <a:xfrm>
            <a:off x="390750" y="3693900"/>
            <a:ext cx="83625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rPr>
              <a:t>La regresión estima un cierto valor salarial dado un nivel de experiencia laboral x. Pero en la muestra se observan datos que se encuentran tanto por encima como por debajo. Una forma de dar con la mejor predicción de Y es minimizar los residuos. MCC minimiza la distancia vertical (ε) al cuadrado entre las observaciones y la recta.</a:t>
            </a:r>
            <a:endParaRPr sz="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rPr lang="es" sz="2244"/>
              <a:t>Ej. caso 7 (años.exp=3.2 y salario=54445)</a:t>
            </a:r>
            <a:endParaRPr sz="2244"/>
          </a:p>
          <a:p>
            <a:pPr indent="0" lvl="0" marL="0" rtl="0" algn="l">
              <a:spcBef>
                <a:spcPts val="0"/>
              </a:spcBef>
              <a:spcAft>
                <a:spcPts val="0"/>
              </a:spcAft>
              <a:buNone/>
            </a:pPr>
            <a:r>
              <a:rPr lang="es" sz="2244"/>
              <a:t>     y     fueron estimados, siendo:</a:t>
            </a:r>
            <a:endParaRPr sz="2244"/>
          </a:p>
          <a:p>
            <a:pPr indent="0" lvl="0" marL="0" rtl="0" algn="l">
              <a:spcBef>
                <a:spcPts val="0"/>
              </a:spcBef>
              <a:spcAft>
                <a:spcPts val="0"/>
              </a:spcAft>
              <a:buNone/>
            </a:pPr>
            <a:r>
              <a:rPr lang="es" sz="2244"/>
              <a:t>    = 2.58</a:t>
            </a:r>
            <a:endParaRPr sz="2244"/>
          </a:p>
          <a:p>
            <a:pPr indent="0" lvl="0" marL="0" rtl="0" algn="l">
              <a:spcBef>
                <a:spcPts val="0"/>
              </a:spcBef>
              <a:spcAft>
                <a:spcPts val="0"/>
              </a:spcAft>
              <a:buNone/>
            </a:pPr>
            <a:r>
              <a:rPr lang="es" sz="2244"/>
              <a:t>    = 9449</a:t>
            </a:r>
            <a:endParaRPr sz="2244"/>
          </a:p>
          <a:p>
            <a:pPr indent="0" lvl="0" marL="0" rtl="0" algn="l">
              <a:spcBef>
                <a:spcPts val="0"/>
              </a:spcBef>
              <a:spcAft>
                <a:spcPts val="0"/>
              </a:spcAft>
              <a:buNone/>
            </a:pPr>
            <a:r>
              <a:t/>
            </a:r>
            <a:endParaRPr sz="2467"/>
          </a:p>
          <a:p>
            <a:pPr indent="0" lvl="0" marL="0" rtl="0" algn="l">
              <a:spcBef>
                <a:spcPts val="0"/>
              </a:spcBef>
              <a:spcAft>
                <a:spcPts val="0"/>
              </a:spcAft>
              <a:buNone/>
            </a:pPr>
            <a:r>
              <a:rPr lang="es" sz="2133"/>
              <a:t>Cuando los años de experiencia = 3.2, el modelo estimaría:</a:t>
            </a:r>
            <a:endParaRPr sz="2133"/>
          </a:p>
          <a:p>
            <a:pPr indent="0" lvl="0" marL="0" rtl="0" algn="l">
              <a:spcBef>
                <a:spcPts val="0"/>
              </a:spcBef>
              <a:spcAft>
                <a:spcPts val="0"/>
              </a:spcAft>
              <a:buNone/>
            </a:pPr>
            <a:r>
              <a:rPr lang="es" sz="2100"/>
              <a:t>Ingreso = 2.58 + 9449*3.2 + </a:t>
            </a:r>
            <a:r>
              <a:rPr lang="es" sz="2433"/>
              <a:t>ε</a:t>
            </a:r>
            <a:endParaRPr sz="2433"/>
          </a:p>
          <a:p>
            <a:pPr indent="0" lvl="0" marL="0" rtl="0" algn="l">
              <a:spcBef>
                <a:spcPts val="0"/>
              </a:spcBef>
              <a:spcAft>
                <a:spcPts val="0"/>
              </a:spcAft>
              <a:buNone/>
            </a:pPr>
            <a:r>
              <a:rPr lang="es" sz="2050"/>
              <a:t>Ingreso = 30240 + </a:t>
            </a:r>
            <a:r>
              <a:rPr lang="es" sz="2433"/>
              <a:t>ε</a:t>
            </a:r>
            <a:endParaRPr sz="2050"/>
          </a:p>
          <a:p>
            <a:pPr indent="0" lvl="0" marL="0" rtl="0" algn="l">
              <a:spcBef>
                <a:spcPts val="0"/>
              </a:spcBef>
              <a:spcAft>
                <a:spcPts val="0"/>
              </a:spcAft>
              <a:buClr>
                <a:schemeClr val="dk1"/>
              </a:buClr>
              <a:buSzPct val="52381"/>
              <a:buFont typeface="Arial"/>
              <a:buNone/>
            </a:pPr>
            <a:r>
              <a:rPr lang="es" sz="2100"/>
              <a:t>ε = ingreso - </a:t>
            </a:r>
            <a:r>
              <a:rPr lang="es" sz="1911"/>
              <a:t>β0 + β1*X1</a:t>
            </a:r>
            <a:endParaRPr sz="1717"/>
          </a:p>
          <a:p>
            <a:pPr indent="0" lvl="0" marL="0" rtl="0" algn="l">
              <a:spcBef>
                <a:spcPts val="0"/>
              </a:spcBef>
              <a:spcAft>
                <a:spcPts val="0"/>
              </a:spcAft>
              <a:buNone/>
            </a:pPr>
            <a:r>
              <a:t/>
            </a:r>
            <a:endParaRPr sz="2050"/>
          </a:p>
          <a:p>
            <a:pPr indent="0" lvl="0" marL="0" rtl="0" algn="l">
              <a:spcBef>
                <a:spcPts val="0"/>
              </a:spcBef>
              <a:spcAft>
                <a:spcPts val="0"/>
              </a:spcAft>
              <a:buNone/>
            </a:pPr>
            <a:r>
              <a:rPr lang="es" sz="2050"/>
              <a:t>¿Qué ocurre con </a:t>
            </a:r>
            <a:r>
              <a:rPr lang="es" sz="2433"/>
              <a:t>ε?</a:t>
            </a:r>
            <a:endParaRPr sz="2433"/>
          </a:p>
          <a:p>
            <a:pPr indent="0" lvl="0" marL="0" rtl="0" algn="l">
              <a:spcBef>
                <a:spcPts val="0"/>
              </a:spcBef>
              <a:spcAft>
                <a:spcPts val="0"/>
              </a:spcAft>
              <a:buClr>
                <a:schemeClr val="dk1"/>
              </a:buClr>
              <a:buSzPct val="61875"/>
              <a:buFont typeface="Arial"/>
              <a:buNone/>
            </a:pPr>
            <a:r>
              <a:t/>
            </a:r>
            <a:endParaRPr sz="1778"/>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pic>
        <p:nvPicPr>
          <p:cNvPr id="265" name="Google Shape;265;p36"/>
          <p:cNvPicPr preferRelativeResize="0"/>
          <p:nvPr/>
        </p:nvPicPr>
        <p:blipFill rotWithShape="1">
          <a:blip r:embed="rId3">
            <a:alphaModFix/>
          </a:blip>
          <a:srcRect b="39906" l="44038" r="42597" t="37414"/>
          <a:stretch/>
        </p:blipFill>
        <p:spPr>
          <a:xfrm>
            <a:off x="375550" y="1748799"/>
            <a:ext cx="349900" cy="296900"/>
          </a:xfrm>
          <a:prstGeom prst="rect">
            <a:avLst/>
          </a:prstGeom>
          <a:noFill/>
          <a:ln>
            <a:noFill/>
          </a:ln>
        </p:spPr>
      </p:pic>
      <p:pic>
        <p:nvPicPr>
          <p:cNvPr id="266" name="Google Shape;266;p36"/>
          <p:cNvPicPr preferRelativeResize="0"/>
          <p:nvPr/>
        </p:nvPicPr>
        <p:blipFill rotWithShape="1">
          <a:blip r:embed="rId4">
            <a:alphaModFix/>
          </a:blip>
          <a:srcRect b="37068" l="43834" r="42801" t="37824"/>
          <a:stretch/>
        </p:blipFill>
        <p:spPr>
          <a:xfrm>
            <a:off x="912055" y="1754976"/>
            <a:ext cx="349900" cy="328691"/>
          </a:xfrm>
          <a:prstGeom prst="rect">
            <a:avLst/>
          </a:prstGeom>
          <a:noFill/>
          <a:ln>
            <a:noFill/>
          </a:ln>
        </p:spPr>
      </p:pic>
      <p:pic>
        <p:nvPicPr>
          <p:cNvPr id="267" name="Google Shape;267;p36"/>
          <p:cNvPicPr preferRelativeResize="0"/>
          <p:nvPr/>
        </p:nvPicPr>
        <p:blipFill rotWithShape="1">
          <a:blip r:embed="rId3">
            <a:alphaModFix/>
          </a:blip>
          <a:srcRect b="39906" l="44038" r="42597" t="37414"/>
          <a:stretch/>
        </p:blipFill>
        <p:spPr>
          <a:xfrm>
            <a:off x="376328" y="2017831"/>
            <a:ext cx="349900" cy="296900"/>
          </a:xfrm>
          <a:prstGeom prst="rect">
            <a:avLst/>
          </a:prstGeom>
          <a:noFill/>
          <a:ln>
            <a:noFill/>
          </a:ln>
        </p:spPr>
      </p:pic>
      <p:pic>
        <p:nvPicPr>
          <p:cNvPr id="268" name="Google Shape;268;p36"/>
          <p:cNvPicPr preferRelativeResize="0"/>
          <p:nvPr/>
        </p:nvPicPr>
        <p:blipFill rotWithShape="1">
          <a:blip r:embed="rId4">
            <a:alphaModFix/>
          </a:blip>
          <a:srcRect b="37068" l="43834" r="42801" t="37824"/>
          <a:stretch/>
        </p:blipFill>
        <p:spPr>
          <a:xfrm>
            <a:off x="364659" y="2303927"/>
            <a:ext cx="349900" cy="32869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Clr>
                <a:schemeClr val="dk1"/>
              </a:buClr>
              <a:buSzPct val="49010"/>
              <a:buFont typeface="Arial"/>
              <a:buNone/>
            </a:pPr>
            <a:r>
              <a:rPr lang="es" sz="2244"/>
              <a:t>Ej. caso 7 (años.exp=3.2 y salario=54445)</a:t>
            </a:r>
            <a:endParaRPr sz="2244"/>
          </a:p>
          <a:p>
            <a:pPr indent="0" lvl="0" marL="0" rtl="0" algn="l">
              <a:spcBef>
                <a:spcPts val="0"/>
              </a:spcBef>
              <a:spcAft>
                <a:spcPts val="0"/>
              </a:spcAft>
              <a:buClr>
                <a:schemeClr val="dk1"/>
              </a:buClr>
              <a:buSzPct val="49010"/>
              <a:buFont typeface="Arial"/>
              <a:buNone/>
            </a:pPr>
            <a:r>
              <a:rPr lang="es" sz="2244"/>
              <a:t>     y     fueron estimados, siendo:</a:t>
            </a:r>
            <a:endParaRPr sz="2244"/>
          </a:p>
          <a:p>
            <a:pPr indent="0" lvl="0" marL="0" rtl="0" algn="l">
              <a:spcBef>
                <a:spcPts val="0"/>
              </a:spcBef>
              <a:spcAft>
                <a:spcPts val="0"/>
              </a:spcAft>
              <a:buClr>
                <a:schemeClr val="dk1"/>
              </a:buClr>
              <a:buSzPct val="49010"/>
              <a:buFont typeface="Arial"/>
              <a:buNone/>
            </a:pPr>
            <a:r>
              <a:rPr lang="es" sz="2244"/>
              <a:t>    = 2.58</a:t>
            </a:r>
            <a:endParaRPr sz="2244"/>
          </a:p>
          <a:p>
            <a:pPr indent="0" lvl="0" marL="0" rtl="0" algn="l">
              <a:spcBef>
                <a:spcPts val="0"/>
              </a:spcBef>
              <a:spcAft>
                <a:spcPts val="0"/>
              </a:spcAft>
              <a:buClr>
                <a:schemeClr val="dk1"/>
              </a:buClr>
              <a:buSzPct val="49010"/>
              <a:buFont typeface="Arial"/>
              <a:buNone/>
            </a:pPr>
            <a:r>
              <a:rPr lang="es" sz="2244"/>
              <a:t>    = 9449</a:t>
            </a:r>
            <a:endParaRPr sz="2244"/>
          </a:p>
          <a:p>
            <a:pPr indent="0" lvl="0" marL="0" rtl="0" algn="l">
              <a:spcBef>
                <a:spcPts val="0"/>
              </a:spcBef>
              <a:spcAft>
                <a:spcPts val="0"/>
              </a:spcAft>
              <a:buNone/>
            </a:pPr>
            <a:r>
              <a:t/>
            </a:r>
            <a:endParaRPr sz="2467"/>
          </a:p>
          <a:p>
            <a:pPr indent="0" lvl="0" marL="0" rtl="0" algn="l">
              <a:spcBef>
                <a:spcPts val="0"/>
              </a:spcBef>
              <a:spcAft>
                <a:spcPts val="0"/>
              </a:spcAft>
              <a:buNone/>
            </a:pPr>
            <a:r>
              <a:rPr lang="es" sz="2133"/>
              <a:t>Cuando los años de experiencia =3.2, el modelo estimaría:</a:t>
            </a:r>
            <a:endParaRPr sz="2133"/>
          </a:p>
          <a:p>
            <a:pPr indent="0" lvl="0" marL="0" rtl="0" algn="l">
              <a:spcBef>
                <a:spcPts val="0"/>
              </a:spcBef>
              <a:spcAft>
                <a:spcPts val="0"/>
              </a:spcAft>
              <a:buNone/>
            </a:pPr>
            <a:r>
              <a:rPr lang="es" sz="2100"/>
              <a:t>Ingreso = 2.58 + 9449*3.2 + </a:t>
            </a:r>
            <a:r>
              <a:rPr lang="es" sz="2433"/>
              <a:t>ε</a:t>
            </a:r>
            <a:endParaRPr sz="2433"/>
          </a:p>
          <a:p>
            <a:pPr indent="0" lvl="0" marL="0" rtl="0" algn="l">
              <a:spcBef>
                <a:spcPts val="0"/>
              </a:spcBef>
              <a:spcAft>
                <a:spcPts val="0"/>
              </a:spcAft>
              <a:buNone/>
            </a:pPr>
            <a:r>
              <a:rPr lang="es" sz="2050"/>
              <a:t>Ingreso = 30240 + </a:t>
            </a:r>
            <a:r>
              <a:rPr lang="es" sz="2433"/>
              <a:t>ε</a:t>
            </a:r>
            <a:endParaRPr sz="2050"/>
          </a:p>
          <a:p>
            <a:pPr indent="0" lvl="0" marL="0" rtl="0" algn="l">
              <a:spcBef>
                <a:spcPts val="0"/>
              </a:spcBef>
              <a:spcAft>
                <a:spcPts val="0"/>
              </a:spcAft>
              <a:buNone/>
            </a:pPr>
            <a:r>
              <a:rPr lang="es" sz="2100"/>
              <a:t>ε = ingreso - </a:t>
            </a:r>
            <a:r>
              <a:rPr lang="es" sz="1911"/>
              <a:t>β0 + β1*X1</a:t>
            </a:r>
            <a:endParaRPr sz="1717"/>
          </a:p>
          <a:p>
            <a:pPr indent="0" lvl="0" marL="0" rtl="0" algn="l">
              <a:spcBef>
                <a:spcPts val="0"/>
              </a:spcBef>
              <a:spcAft>
                <a:spcPts val="0"/>
              </a:spcAft>
              <a:buNone/>
            </a:pPr>
            <a:r>
              <a:t/>
            </a:r>
            <a:endParaRPr sz="1717"/>
          </a:p>
          <a:p>
            <a:pPr indent="0" lvl="0" marL="0" rtl="0" algn="l">
              <a:spcBef>
                <a:spcPts val="0"/>
              </a:spcBef>
              <a:spcAft>
                <a:spcPts val="0"/>
              </a:spcAft>
              <a:buNone/>
            </a:pPr>
            <a:r>
              <a:rPr lang="es" sz="2050"/>
              <a:t>¿Qué ocurre con </a:t>
            </a:r>
            <a:r>
              <a:rPr lang="es" sz="2433"/>
              <a:t>ε?</a:t>
            </a:r>
            <a:endParaRPr sz="2433"/>
          </a:p>
          <a:p>
            <a:pPr indent="0" lvl="0" marL="0" rtl="0" algn="l">
              <a:spcBef>
                <a:spcPts val="0"/>
              </a:spcBef>
              <a:spcAft>
                <a:spcPts val="0"/>
              </a:spcAft>
              <a:buNone/>
            </a:pPr>
            <a:r>
              <a:t/>
            </a:r>
            <a:endParaRPr sz="1778"/>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cxnSp>
        <p:nvCxnSpPr>
          <p:cNvPr id="274" name="Google Shape;274;p37"/>
          <p:cNvCxnSpPr/>
          <p:nvPr/>
        </p:nvCxnSpPr>
        <p:spPr>
          <a:xfrm>
            <a:off x="2985025" y="4722625"/>
            <a:ext cx="356700" cy="0"/>
          </a:xfrm>
          <a:prstGeom prst="straightConnector1">
            <a:avLst/>
          </a:prstGeom>
          <a:noFill/>
          <a:ln cap="flat" cmpd="sng" w="9525">
            <a:solidFill>
              <a:schemeClr val="dk2"/>
            </a:solidFill>
            <a:prstDash val="solid"/>
            <a:round/>
            <a:headEnd len="med" w="med" type="none"/>
            <a:tailEnd len="med" w="med" type="triangle"/>
          </a:ln>
        </p:spPr>
      </p:cxnSp>
      <p:sp>
        <p:nvSpPr>
          <p:cNvPr id="275" name="Google Shape;275;p37"/>
          <p:cNvSpPr txBox="1"/>
          <p:nvPr/>
        </p:nvSpPr>
        <p:spPr>
          <a:xfrm>
            <a:off x="3549825" y="4442600"/>
            <a:ext cx="5500200" cy="75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33">
                <a:solidFill>
                  <a:schemeClr val="dk1"/>
                </a:solidFill>
                <a:latin typeface="Poppins"/>
                <a:ea typeface="Poppins"/>
                <a:cs typeface="Poppins"/>
                <a:sym typeface="Poppins"/>
              </a:rPr>
              <a:t>Se trata de un caso que presenta un salario por encima de la estimación para el nivel de experiencia que tiene (probablemente debido a otros factores explicativos que están en el error)</a:t>
            </a:r>
            <a:endParaRPr sz="500"/>
          </a:p>
        </p:txBody>
      </p:sp>
      <p:sp>
        <p:nvSpPr>
          <p:cNvPr id="276" name="Google Shape;276;p37"/>
          <p:cNvSpPr txBox="1"/>
          <p:nvPr/>
        </p:nvSpPr>
        <p:spPr>
          <a:xfrm>
            <a:off x="453525" y="4615400"/>
            <a:ext cx="3000000" cy="58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578">
                <a:solidFill>
                  <a:schemeClr val="dk1"/>
                </a:solidFill>
                <a:latin typeface="Poppins"/>
                <a:ea typeface="Poppins"/>
                <a:cs typeface="Poppins"/>
                <a:sym typeface="Poppins"/>
              </a:rPr>
              <a:t>ε</a:t>
            </a:r>
            <a:r>
              <a:rPr lang="es" sz="1322">
                <a:solidFill>
                  <a:schemeClr val="dk1"/>
                </a:solidFill>
                <a:latin typeface="Poppins"/>
                <a:ea typeface="Poppins"/>
                <a:cs typeface="Poppins"/>
                <a:sym typeface="Poppins"/>
              </a:rPr>
              <a:t>i</a:t>
            </a:r>
            <a:r>
              <a:rPr lang="es" sz="2133">
                <a:solidFill>
                  <a:schemeClr val="dk1"/>
                </a:solidFill>
                <a:latin typeface="Poppins"/>
                <a:ea typeface="Poppins"/>
                <a:cs typeface="Poppins"/>
                <a:sym typeface="Poppins"/>
              </a:rPr>
              <a:t> </a:t>
            </a:r>
            <a:r>
              <a:rPr lang="es" sz="1911">
                <a:solidFill>
                  <a:schemeClr val="dk1"/>
                </a:solidFill>
                <a:latin typeface="Poppins"/>
                <a:ea typeface="Poppins"/>
                <a:cs typeface="Poppins"/>
                <a:sym typeface="Poppins"/>
              </a:rPr>
              <a:t>= +24205 </a:t>
            </a:r>
            <a:endParaRPr sz="1100"/>
          </a:p>
        </p:txBody>
      </p:sp>
      <p:pic>
        <p:nvPicPr>
          <p:cNvPr id="277" name="Google Shape;277;p37"/>
          <p:cNvPicPr preferRelativeResize="0"/>
          <p:nvPr/>
        </p:nvPicPr>
        <p:blipFill rotWithShape="1">
          <a:blip r:embed="rId3">
            <a:alphaModFix/>
          </a:blip>
          <a:srcRect b="39906" l="44038" r="42597" t="37414"/>
          <a:stretch/>
        </p:blipFill>
        <p:spPr>
          <a:xfrm>
            <a:off x="375550" y="1748799"/>
            <a:ext cx="349900" cy="296900"/>
          </a:xfrm>
          <a:prstGeom prst="rect">
            <a:avLst/>
          </a:prstGeom>
          <a:noFill/>
          <a:ln>
            <a:noFill/>
          </a:ln>
        </p:spPr>
      </p:pic>
      <p:pic>
        <p:nvPicPr>
          <p:cNvPr id="278" name="Google Shape;278;p37"/>
          <p:cNvPicPr preferRelativeResize="0"/>
          <p:nvPr/>
        </p:nvPicPr>
        <p:blipFill rotWithShape="1">
          <a:blip r:embed="rId4">
            <a:alphaModFix/>
          </a:blip>
          <a:srcRect b="37068" l="43834" r="42801" t="37824"/>
          <a:stretch/>
        </p:blipFill>
        <p:spPr>
          <a:xfrm>
            <a:off x="912055" y="1754976"/>
            <a:ext cx="349900" cy="328691"/>
          </a:xfrm>
          <a:prstGeom prst="rect">
            <a:avLst/>
          </a:prstGeom>
          <a:noFill/>
          <a:ln>
            <a:noFill/>
          </a:ln>
        </p:spPr>
      </p:pic>
      <p:pic>
        <p:nvPicPr>
          <p:cNvPr id="279" name="Google Shape;279;p37"/>
          <p:cNvPicPr preferRelativeResize="0"/>
          <p:nvPr/>
        </p:nvPicPr>
        <p:blipFill rotWithShape="1">
          <a:blip r:embed="rId3">
            <a:alphaModFix/>
          </a:blip>
          <a:srcRect b="39906" l="44038" r="42597" t="37414"/>
          <a:stretch/>
        </p:blipFill>
        <p:spPr>
          <a:xfrm>
            <a:off x="376328" y="2017831"/>
            <a:ext cx="349900" cy="296900"/>
          </a:xfrm>
          <a:prstGeom prst="rect">
            <a:avLst/>
          </a:prstGeom>
          <a:noFill/>
          <a:ln>
            <a:noFill/>
          </a:ln>
        </p:spPr>
      </p:pic>
      <p:pic>
        <p:nvPicPr>
          <p:cNvPr id="280" name="Google Shape;280;p37"/>
          <p:cNvPicPr preferRelativeResize="0"/>
          <p:nvPr/>
        </p:nvPicPr>
        <p:blipFill rotWithShape="1">
          <a:blip r:embed="rId4">
            <a:alphaModFix/>
          </a:blip>
          <a:srcRect b="37068" l="43834" r="42801" t="37824"/>
          <a:stretch/>
        </p:blipFill>
        <p:spPr>
          <a:xfrm>
            <a:off x="364659" y="2303927"/>
            <a:ext cx="349900" cy="32869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Clr>
                <a:schemeClr val="dk1"/>
              </a:buClr>
              <a:buSzPct val="40909"/>
              <a:buFont typeface="Arial"/>
              <a:buNone/>
            </a:pPr>
            <a:r>
              <a:t/>
            </a:r>
            <a:endParaRPr sz="2689">
              <a:highlight>
                <a:schemeClr val="accent4"/>
              </a:highlight>
            </a:endParaRPr>
          </a:p>
        </p:txBody>
      </p:sp>
      <p:pic>
        <p:nvPicPr>
          <p:cNvPr id="286" name="Google Shape;286;p38"/>
          <p:cNvPicPr preferRelativeResize="0"/>
          <p:nvPr/>
        </p:nvPicPr>
        <p:blipFill>
          <a:blip r:embed="rId3">
            <a:alphaModFix/>
          </a:blip>
          <a:stretch>
            <a:fillRect/>
          </a:stretch>
        </p:blipFill>
        <p:spPr>
          <a:xfrm>
            <a:off x="2703100" y="747525"/>
            <a:ext cx="3588112" cy="2825100"/>
          </a:xfrm>
          <a:prstGeom prst="rect">
            <a:avLst/>
          </a:prstGeom>
          <a:noFill/>
          <a:ln>
            <a:noFill/>
          </a:ln>
        </p:spPr>
      </p:pic>
      <p:sp>
        <p:nvSpPr>
          <p:cNvPr id="287" name="Google Shape;287;p38"/>
          <p:cNvSpPr txBox="1"/>
          <p:nvPr/>
        </p:nvSpPr>
        <p:spPr>
          <a:xfrm>
            <a:off x="5664875" y="988650"/>
            <a:ext cx="3708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a:solidFill>
                  <a:srgbClr val="FF9900"/>
                </a:solidFill>
                <a:latin typeface="Average"/>
                <a:ea typeface="Average"/>
                <a:cs typeface="Average"/>
                <a:sym typeface="Average"/>
              </a:rPr>
              <a:t>ε</a:t>
            </a:r>
            <a:endParaRPr b="1" sz="1700">
              <a:solidFill>
                <a:srgbClr val="FF9900"/>
              </a:solidFill>
            </a:endParaRPr>
          </a:p>
        </p:txBody>
      </p:sp>
      <p:sp>
        <p:nvSpPr>
          <p:cNvPr id="288" name="Google Shape;288;p38"/>
          <p:cNvSpPr/>
          <p:nvPr/>
        </p:nvSpPr>
        <p:spPr>
          <a:xfrm>
            <a:off x="5664875" y="1147850"/>
            <a:ext cx="95700" cy="268800"/>
          </a:xfrm>
          <a:prstGeom prst="rightBrace">
            <a:avLst>
              <a:gd fmla="val 50000" name="adj1"/>
              <a:gd fmla="val 50000" name="adj2"/>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pic>
        <p:nvPicPr>
          <p:cNvPr id="289" name="Google Shape;289;p38"/>
          <p:cNvPicPr preferRelativeResize="0"/>
          <p:nvPr/>
        </p:nvPicPr>
        <p:blipFill>
          <a:blip r:embed="rId4">
            <a:alphaModFix/>
          </a:blip>
          <a:stretch>
            <a:fillRect/>
          </a:stretch>
        </p:blipFill>
        <p:spPr>
          <a:xfrm>
            <a:off x="3705975" y="2606475"/>
            <a:ext cx="1271520" cy="264900"/>
          </a:xfrm>
          <a:prstGeom prst="rect">
            <a:avLst/>
          </a:prstGeom>
          <a:noFill/>
          <a:ln>
            <a:noFill/>
          </a:ln>
        </p:spPr>
      </p:pic>
      <p:sp>
        <p:nvSpPr>
          <p:cNvPr id="290" name="Google Shape;290;p38"/>
          <p:cNvSpPr txBox="1"/>
          <p:nvPr/>
        </p:nvSpPr>
        <p:spPr>
          <a:xfrm>
            <a:off x="160550" y="3541500"/>
            <a:ext cx="8983500" cy="108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456">
                <a:solidFill>
                  <a:schemeClr val="dk1"/>
                </a:solidFill>
              </a:rPr>
              <a:t>A través del método de MCC/OLS buscamos minimizar los residuos, es decir la distancia general del valor de cada observación con respecto al valor estimado por la recta. En particular lo que hace este método es elegir estimad</a:t>
            </a:r>
            <a:r>
              <a:rPr lang="es" sz="1450">
                <a:solidFill>
                  <a:schemeClr val="dk1"/>
                </a:solidFill>
              </a:rPr>
              <a:t>ores β0 y β1 que minimicen la suma de los errores elevados al cuadrado. Objetivo:</a:t>
            </a:r>
            <a:endParaRPr sz="1450">
              <a:solidFill>
                <a:schemeClr val="dk1"/>
              </a:solidFill>
            </a:endParaRPr>
          </a:p>
          <a:p>
            <a:pPr indent="0" lvl="0" marL="0" rtl="0" algn="l">
              <a:spcBef>
                <a:spcPts val="0"/>
              </a:spcBef>
              <a:spcAft>
                <a:spcPts val="0"/>
              </a:spcAft>
              <a:buNone/>
            </a:pPr>
            <a:r>
              <a:rPr lang="es" sz="1450">
                <a:solidFill>
                  <a:schemeClr val="dk1"/>
                </a:solidFill>
              </a:rPr>
              <a:t>εi ≈ 0 y en consecuencia: </a:t>
            </a:r>
            <a:endParaRPr sz="1450">
              <a:solidFill>
                <a:schemeClr val="dk1"/>
              </a:solidFill>
            </a:endParaRPr>
          </a:p>
        </p:txBody>
      </p:sp>
      <p:sp>
        <p:nvSpPr>
          <p:cNvPr id="291" name="Google Shape;291;p38"/>
          <p:cNvSpPr txBox="1"/>
          <p:nvPr/>
        </p:nvSpPr>
        <p:spPr>
          <a:xfrm>
            <a:off x="2763125" y="45660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800">
                <a:solidFill>
                  <a:schemeClr val="dk1"/>
                </a:solidFill>
              </a:rPr>
              <a:t>Σ (εi)</a:t>
            </a:r>
            <a:r>
              <a:rPr baseline="30000" lang="es" sz="1800">
                <a:solidFill>
                  <a:schemeClr val="dk1"/>
                </a:solidFill>
              </a:rPr>
              <a:t>2 </a:t>
            </a:r>
            <a:endParaRPr sz="2100"/>
          </a:p>
        </p:txBody>
      </p:sp>
      <p:sp>
        <p:nvSpPr>
          <p:cNvPr id="292" name="Google Shape;292;p38"/>
          <p:cNvSpPr txBox="1"/>
          <p:nvPr/>
        </p:nvSpPr>
        <p:spPr>
          <a:xfrm>
            <a:off x="2729675" y="4801375"/>
            <a:ext cx="7035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200">
                <a:solidFill>
                  <a:schemeClr val="dk1"/>
                </a:solidFill>
              </a:rPr>
              <a:t>i=1</a:t>
            </a:r>
            <a:endParaRPr sz="800"/>
          </a:p>
        </p:txBody>
      </p:sp>
      <p:sp>
        <p:nvSpPr>
          <p:cNvPr id="293" name="Google Shape;293;p38"/>
          <p:cNvSpPr txBox="1"/>
          <p:nvPr/>
        </p:nvSpPr>
        <p:spPr>
          <a:xfrm>
            <a:off x="2792375" y="4432075"/>
            <a:ext cx="7035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200">
                <a:solidFill>
                  <a:schemeClr val="dk1"/>
                </a:solidFill>
              </a:rPr>
              <a:t>n</a:t>
            </a:r>
            <a:endParaRPr sz="800"/>
          </a:p>
        </p:txBody>
      </p:sp>
      <p:sp>
        <p:nvSpPr>
          <p:cNvPr id="294" name="Google Shape;294;p38"/>
          <p:cNvSpPr txBox="1"/>
          <p:nvPr/>
        </p:nvSpPr>
        <p:spPr>
          <a:xfrm>
            <a:off x="3495875" y="4566025"/>
            <a:ext cx="3000000" cy="50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a:t>
            </a:r>
            <a:r>
              <a:rPr lang="es" sz="1800">
                <a:solidFill>
                  <a:schemeClr val="dk1"/>
                </a:solidFill>
              </a:rPr>
              <a:t> </a:t>
            </a:r>
            <a:r>
              <a:rPr lang="es">
                <a:solidFill>
                  <a:schemeClr val="dk1"/>
                </a:solidFill>
                <a:latin typeface="Calibri"/>
                <a:ea typeface="Calibri"/>
                <a:cs typeface="Calibri"/>
                <a:sym typeface="Calibri"/>
              </a:rPr>
              <a:t>ε1</a:t>
            </a:r>
            <a:r>
              <a:rPr baseline="30000" lang="es">
                <a:solidFill>
                  <a:schemeClr val="dk1"/>
                </a:solidFill>
                <a:latin typeface="Calibri"/>
                <a:ea typeface="Calibri"/>
                <a:cs typeface="Calibri"/>
                <a:sym typeface="Calibri"/>
              </a:rPr>
              <a:t>2 </a:t>
            </a:r>
            <a:r>
              <a:rPr lang="es" sz="2100">
                <a:solidFill>
                  <a:schemeClr val="dk1"/>
                </a:solidFill>
              </a:rPr>
              <a:t> </a:t>
            </a:r>
            <a:r>
              <a:rPr lang="es">
                <a:solidFill>
                  <a:schemeClr val="dk1"/>
                </a:solidFill>
              </a:rPr>
              <a:t>+ </a:t>
            </a:r>
            <a:r>
              <a:rPr lang="es">
                <a:solidFill>
                  <a:schemeClr val="dk1"/>
                </a:solidFill>
                <a:latin typeface="Calibri"/>
                <a:ea typeface="Calibri"/>
                <a:cs typeface="Calibri"/>
                <a:sym typeface="Calibri"/>
              </a:rPr>
              <a:t>ε2</a:t>
            </a:r>
            <a:r>
              <a:rPr baseline="30000" lang="es">
                <a:solidFill>
                  <a:schemeClr val="dk1"/>
                </a:solidFill>
                <a:latin typeface="Calibri"/>
                <a:ea typeface="Calibri"/>
                <a:cs typeface="Calibri"/>
                <a:sym typeface="Calibri"/>
              </a:rPr>
              <a:t>2  </a:t>
            </a:r>
            <a:r>
              <a:rPr lang="es">
                <a:solidFill>
                  <a:schemeClr val="dk1"/>
                </a:solidFill>
              </a:rPr>
              <a:t>+ </a:t>
            </a:r>
            <a:r>
              <a:rPr lang="es">
                <a:solidFill>
                  <a:schemeClr val="dk1"/>
                </a:solidFill>
                <a:latin typeface="Calibri"/>
                <a:ea typeface="Calibri"/>
                <a:cs typeface="Calibri"/>
                <a:sym typeface="Calibri"/>
              </a:rPr>
              <a:t>… + </a:t>
            </a:r>
            <a:r>
              <a:rPr lang="es">
                <a:solidFill>
                  <a:schemeClr val="dk1"/>
                </a:solidFill>
              </a:rPr>
              <a:t>+ </a:t>
            </a:r>
            <a:r>
              <a:rPr lang="es">
                <a:solidFill>
                  <a:schemeClr val="dk1"/>
                </a:solidFill>
                <a:latin typeface="Calibri"/>
                <a:ea typeface="Calibri"/>
                <a:cs typeface="Calibri"/>
                <a:sym typeface="Calibri"/>
              </a:rPr>
              <a:t>εn</a:t>
            </a:r>
            <a:r>
              <a:rPr baseline="30000" lang="es">
                <a:solidFill>
                  <a:schemeClr val="dk1"/>
                </a:solidFill>
                <a:latin typeface="Calibri"/>
                <a:ea typeface="Calibri"/>
                <a:cs typeface="Calibri"/>
                <a:sym typeface="Calibri"/>
              </a:rPr>
              <a:t>2  </a:t>
            </a:r>
            <a:endParaRPr>
              <a:solidFill>
                <a:schemeClr val="dk1"/>
              </a:solidFill>
              <a:latin typeface="Calibri"/>
              <a:ea typeface="Calibri"/>
              <a:cs typeface="Calibri"/>
              <a:sym typeface="Calibri"/>
            </a:endParaRPr>
          </a:p>
        </p:txBody>
      </p:sp>
      <p:cxnSp>
        <p:nvCxnSpPr>
          <p:cNvPr id="295" name="Google Shape;295;p38"/>
          <p:cNvCxnSpPr/>
          <p:nvPr/>
        </p:nvCxnSpPr>
        <p:spPr>
          <a:xfrm>
            <a:off x="5465500" y="4844700"/>
            <a:ext cx="356700" cy="0"/>
          </a:xfrm>
          <a:prstGeom prst="straightConnector1">
            <a:avLst/>
          </a:prstGeom>
          <a:noFill/>
          <a:ln cap="flat" cmpd="sng" w="9525">
            <a:solidFill>
              <a:schemeClr val="dk2"/>
            </a:solidFill>
            <a:prstDash val="solid"/>
            <a:round/>
            <a:headEnd len="med" w="med" type="none"/>
            <a:tailEnd len="med" w="med" type="triangle"/>
          </a:ln>
        </p:spPr>
      </p:cxnSp>
      <p:sp>
        <p:nvSpPr>
          <p:cNvPr id="296" name="Google Shape;296;p38"/>
          <p:cNvSpPr txBox="1"/>
          <p:nvPr/>
        </p:nvSpPr>
        <p:spPr>
          <a:xfrm>
            <a:off x="5883175" y="4606200"/>
            <a:ext cx="2661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50">
                <a:solidFill>
                  <a:schemeClr val="dk1"/>
                </a:solidFill>
              </a:rPr>
              <a:t>¿Por qué elevamos al cuadrado la suma de los residuos?</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sp>
        <p:nvSpPr>
          <p:cNvPr id="302" name="Google Shape;302;p39"/>
          <p:cNvSpPr txBox="1"/>
          <p:nvPr/>
        </p:nvSpPr>
        <p:spPr>
          <a:xfrm>
            <a:off x="269650" y="626250"/>
            <a:ext cx="8983500" cy="190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56">
                <a:solidFill>
                  <a:schemeClr val="dk1"/>
                </a:solidFill>
              </a:rPr>
              <a:t>La suma de los cuadrados se eleva al cuadrado para evitar que los errores de las distintas observaciones se cancelen entre sí. Si la suma de los residuos al cuadrado tiene un valor pequeño, se supone que cada término de error también lo es, porque se trata de valores positivos en todos los casos.</a:t>
            </a:r>
            <a:endParaRPr sz="1856">
              <a:solidFill>
                <a:schemeClr val="dk1"/>
              </a:solidFill>
            </a:endParaRPr>
          </a:p>
          <a:p>
            <a:pPr indent="0" lvl="0" marL="0" rtl="0" algn="l">
              <a:spcBef>
                <a:spcPts val="0"/>
              </a:spcBef>
              <a:spcAft>
                <a:spcPts val="0"/>
              </a:spcAft>
              <a:buNone/>
            </a:pPr>
            <a:r>
              <a:rPr lang="es" sz="1856">
                <a:solidFill>
                  <a:schemeClr val="dk1"/>
                </a:solidFill>
              </a:rPr>
              <a:t>MCC es una función que minimiza la suma de residuos al cuadrado considerando 2 variables = </a:t>
            </a:r>
            <a:r>
              <a:rPr lang="es" sz="1911">
                <a:solidFill>
                  <a:schemeClr val="dk1"/>
                </a:solidFill>
              </a:rPr>
              <a:t>β0 y β1</a:t>
            </a:r>
            <a:r>
              <a:rPr lang="es" sz="1856">
                <a:solidFill>
                  <a:schemeClr val="dk1"/>
                </a:solidFill>
              </a:rPr>
              <a:t> </a:t>
            </a:r>
            <a:endParaRPr sz="1856">
              <a:solidFill>
                <a:schemeClr val="dk1"/>
              </a:solidFill>
            </a:endParaRPr>
          </a:p>
        </p:txBody>
      </p:sp>
      <p:sp>
        <p:nvSpPr>
          <p:cNvPr id="303" name="Google Shape;303;p39"/>
          <p:cNvSpPr txBox="1"/>
          <p:nvPr/>
        </p:nvSpPr>
        <p:spPr>
          <a:xfrm>
            <a:off x="0" y="4625528"/>
            <a:ext cx="9381300" cy="4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456">
                <a:solidFill>
                  <a:schemeClr val="dk1"/>
                </a:solidFill>
                <a:latin typeface="Poppins"/>
                <a:ea typeface="Poppins"/>
                <a:cs typeface="Poppins"/>
                <a:sym typeface="Poppins"/>
              </a:rPr>
              <a:t>A menos que  ρ(X,Y) = 1 o -1, no existen parámetros β0 y β1 tal que </a:t>
            </a:r>
            <a:r>
              <a:rPr b="1" lang="es" sz="1456">
                <a:solidFill>
                  <a:schemeClr val="dk1"/>
                </a:solidFill>
                <a:latin typeface="Poppins"/>
                <a:ea typeface="Poppins"/>
                <a:cs typeface="Poppins"/>
                <a:sym typeface="Poppins"/>
              </a:rPr>
              <a:t>yi - β0 - βixi = 0</a:t>
            </a:r>
            <a:r>
              <a:rPr lang="es" sz="1456">
                <a:solidFill>
                  <a:schemeClr val="dk1"/>
                </a:solidFill>
                <a:latin typeface="Poppins"/>
                <a:ea typeface="Poppins"/>
                <a:cs typeface="Poppins"/>
                <a:sym typeface="Poppins"/>
              </a:rPr>
              <a:t> para cualquier i</a:t>
            </a:r>
            <a:endParaRPr sz="1456">
              <a:solidFill>
                <a:schemeClr val="dk1"/>
              </a:solidFill>
              <a:latin typeface="Poppins"/>
              <a:ea typeface="Poppins"/>
              <a:cs typeface="Poppins"/>
              <a:sym typeface="Poppins"/>
            </a:endParaRPr>
          </a:p>
        </p:txBody>
      </p:sp>
      <p:pic>
        <p:nvPicPr>
          <p:cNvPr id="304" name="Google Shape;304;p39"/>
          <p:cNvPicPr preferRelativeResize="0"/>
          <p:nvPr/>
        </p:nvPicPr>
        <p:blipFill rotWithShape="1">
          <a:blip r:embed="rId3">
            <a:alphaModFix/>
          </a:blip>
          <a:srcRect b="28138" l="34898" r="36107" t="29383"/>
          <a:stretch/>
        </p:blipFill>
        <p:spPr>
          <a:xfrm>
            <a:off x="363898" y="2955468"/>
            <a:ext cx="1872171" cy="761876"/>
          </a:xfrm>
          <a:prstGeom prst="rect">
            <a:avLst/>
          </a:prstGeom>
          <a:noFill/>
          <a:ln>
            <a:noFill/>
          </a:ln>
        </p:spPr>
      </p:pic>
      <p:pic>
        <p:nvPicPr>
          <p:cNvPr id="305" name="Google Shape;305;p39"/>
          <p:cNvPicPr preferRelativeResize="0"/>
          <p:nvPr/>
        </p:nvPicPr>
        <p:blipFill rotWithShape="1">
          <a:blip r:embed="rId4">
            <a:alphaModFix/>
          </a:blip>
          <a:srcRect b="26724" l="26044" r="26937" t="30797"/>
          <a:stretch/>
        </p:blipFill>
        <p:spPr>
          <a:xfrm>
            <a:off x="2346650" y="2978800"/>
            <a:ext cx="3035875" cy="761875"/>
          </a:xfrm>
          <a:prstGeom prst="rect">
            <a:avLst/>
          </a:prstGeom>
          <a:noFill/>
          <a:ln>
            <a:noFill/>
          </a:ln>
        </p:spPr>
      </p:pic>
      <p:sp>
        <p:nvSpPr>
          <p:cNvPr id="306" name="Google Shape;306;p39"/>
          <p:cNvSpPr txBox="1"/>
          <p:nvPr/>
        </p:nvSpPr>
        <p:spPr>
          <a:xfrm>
            <a:off x="2076841" y="3095440"/>
            <a:ext cx="526500" cy="47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56">
                <a:solidFill>
                  <a:schemeClr val="dk1"/>
                </a:solidFill>
                <a:latin typeface="Poppins"/>
                <a:ea typeface="Poppins"/>
                <a:cs typeface="Poppins"/>
                <a:sym typeface="Poppins"/>
              </a:rPr>
              <a:t>=</a:t>
            </a:r>
            <a:endParaRPr/>
          </a:p>
        </p:txBody>
      </p:sp>
      <p:pic>
        <p:nvPicPr>
          <p:cNvPr id="307" name="Google Shape;307;p39"/>
          <p:cNvPicPr preferRelativeResize="0"/>
          <p:nvPr/>
        </p:nvPicPr>
        <p:blipFill rotWithShape="1">
          <a:blip r:embed="rId5">
            <a:alphaModFix/>
          </a:blip>
          <a:srcRect b="40232" l="5239" r="4581" t="38891"/>
          <a:stretch/>
        </p:blipFill>
        <p:spPr>
          <a:xfrm>
            <a:off x="1036319" y="3717358"/>
            <a:ext cx="7990080" cy="554925"/>
          </a:xfrm>
          <a:prstGeom prst="rect">
            <a:avLst/>
          </a:prstGeom>
          <a:noFill/>
          <a:ln>
            <a:noFill/>
          </a:ln>
        </p:spPr>
      </p:pic>
      <p:sp>
        <p:nvSpPr>
          <p:cNvPr id="308" name="Google Shape;308;p39"/>
          <p:cNvSpPr txBox="1"/>
          <p:nvPr/>
        </p:nvSpPr>
        <p:spPr>
          <a:xfrm>
            <a:off x="704600" y="3791202"/>
            <a:ext cx="570900" cy="510000"/>
          </a:xfrm>
          <a:prstGeom prst="rect">
            <a:avLst/>
          </a:prstGeom>
          <a:noFill/>
          <a:ln>
            <a:noFill/>
          </a:ln>
        </p:spPr>
        <p:txBody>
          <a:bodyPr anchorCtr="0" anchor="t" bIns="99150" lIns="99150" spcFirstLastPara="1" rIns="99150" wrap="square" tIns="99150">
            <a:spAutoFit/>
          </a:bodyPr>
          <a:lstStyle/>
          <a:p>
            <a:pPr indent="0" lvl="0" marL="0" rtl="0" algn="l">
              <a:spcBef>
                <a:spcPts val="0"/>
              </a:spcBef>
              <a:spcAft>
                <a:spcPts val="0"/>
              </a:spcAft>
              <a:buNone/>
            </a:pPr>
            <a:r>
              <a:rPr lang="es" sz="2013">
                <a:solidFill>
                  <a:schemeClr val="dk1"/>
                </a:solidFill>
                <a:latin typeface="Poppins"/>
                <a:ea typeface="Poppins"/>
                <a:cs typeface="Poppins"/>
                <a:sym typeface="Poppins"/>
              </a:rPr>
              <a:t>=</a:t>
            </a:r>
            <a:endParaRPr sz="1518"/>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0"/>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sp>
        <p:nvSpPr>
          <p:cNvPr id="314" name="Google Shape;314;p40"/>
          <p:cNvSpPr txBox="1"/>
          <p:nvPr/>
        </p:nvSpPr>
        <p:spPr>
          <a:xfrm>
            <a:off x="269650" y="626250"/>
            <a:ext cx="8983500" cy="80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56">
                <a:solidFill>
                  <a:schemeClr val="dk1"/>
                </a:solidFill>
              </a:rPr>
              <a:t>La minimización de la función MCC se hace derivando con respecto a </a:t>
            </a:r>
            <a:r>
              <a:rPr lang="es" sz="2200">
                <a:solidFill>
                  <a:schemeClr val="dk1"/>
                </a:solidFill>
              </a:rPr>
              <a:t>β0 y a β1 </a:t>
            </a:r>
            <a:r>
              <a:rPr lang="es" sz="1856">
                <a:solidFill>
                  <a:schemeClr val="dk1"/>
                </a:solidFill>
              </a:rPr>
              <a:t> (en cada caso la otra variable se deja constante)</a:t>
            </a:r>
            <a:endParaRPr sz="1856">
              <a:solidFill>
                <a:schemeClr val="dk1"/>
              </a:solidFill>
            </a:endParaRPr>
          </a:p>
        </p:txBody>
      </p:sp>
      <p:sp>
        <p:nvSpPr>
          <p:cNvPr id="315" name="Google Shape;315;p40"/>
          <p:cNvSpPr txBox="1"/>
          <p:nvPr/>
        </p:nvSpPr>
        <p:spPr>
          <a:xfrm>
            <a:off x="633300" y="4168800"/>
            <a:ext cx="8291400" cy="80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56">
                <a:solidFill>
                  <a:schemeClr val="dk1"/>
                </a:solidFill>
              </a:rPr>
              <a:t>A partir de estas derivadas se obtienen las ecuaciones que nos permiten despejar las 2 incógnitas (</a:t>
            </a:r>
            <a:r>
              <a:rPr lang="es" sz="2200">
                <a:solidFill>
                  <a:schemeClr val="dk1"/>
                </a:solidFill>
              </a:rPr>
              <a:t>β0 y β1):</a:t>
            </a:r>
            <a:endParaRPr sz="1856">
              <a:solidFill>
                <a:schemeClr val="dk1"/>
              </a:solidFill>
            </a:endParaRPr>
          </a:p>
        </p:txBody>
      </p:sp>
      <p:pic>
        <p:nvPicPr>
          <p:cNvPr id="316" name="Google Shape;316;p40"/>
          <p:cNvPicPr preferRelativeResize="0"/>
          <p:nvPr/>
        </p:nvPicPr>
        <p:blipFill rotWithShape="1">
          <a:blip r:embed="rId3">
            <a:alphaModFix/>
          </a:blip>
          <a:srcRect b="22920" l="29874" r="29946" t="27437"/>
          <a:stretch/>
        </p:blipFill>
        <p:spPr>
          <a:xfrm>
            <a:off x="1139475" y="1606200"/>
            <a:ext cx="3219075" cy="1325801"/>
          </a:xfrm>
          <a:prstGeom prst="rect">
            <a:avLst/>
          </a:prstGeom>
          <a:noFill/>
          <a:ln>
            <a:noFill/>
          </a:ln>
        </p:spPr>
      </p:pic>
      <p:pic>
        <p:nvPicPr>
          <p:cNvPr id="317" name="Google Shape;317;p40"/>
          <p:cNvPicPr preferRelativeResize="0"/>
          <p:nvPr/>
        </p:nvPicPr>
        <p:blipFill rotWithShape="1">
          <a:blip r:embed="rId4">
            <a:alphaModFix/>
          </a:blip>
          <a:srcRect b="25033" l="30108" r="28312" t="24375"/>
          <a:stretch/>
        </p:blipFill>
        <p:spPr>
          <a:xfrm>
            <a:off x="1151139" y="2819673"/>
            <a:ext cx="3269012" cy="13258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41"/>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estimación de parámetros</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t/>
            </a:r>
            <a:endParaRPr sz="2433"/>
          </a:p>
          <a:p>
            <a:pPr indent="0" lvl="0" marL="0" rtl="0" algn="l">
              <a:spcBef>
                <a:spcPts val="0"/>
              </a:spcBef>
              <a:spcAft>
                <a:spcPts val="0"/>
              </a:spcAft>
              <a:buNone/>
            </a:pPr>
            <a:r>
              <a:t/>
            </a:r>
            <a:endParaRPr sz="2356"/>
          </a:p>
          <a:p>
            <a:pPr indent="0" lvl="0" marL="0" rtl="0" algn="l">
              <a:spcBef>
                <a:spcPts val="0"/>
              </a:spcBef>
              <a:spcAft>
                <a:spcPts val="0"/>
              </a:spcAft>
              <a:buNone/>
            </a:pPr>
            <a:r>
              <a:t/>
            </a:r>
            <a:endParaRPr sz="2689">
              <a:highlight>
                <a:schemeClr val="accent4"/>
              </a:highlight>
            </a:endParaRPr>
          </a:p>
        </p:txBody>
      </p:sp>
      <p:pic>
        <p:nvPicPr>
          <p:cNvPr id="323" name="Google Shape;323;p41"/>
          <p:cNvPicPr preferRelativeResize="0"/>
          <p:nvPr/>
        </p:nvPicPr>
        <p:blipFill>
          <a:blip r:embed="rId3">
            <a:alphaModFix/>
          </a:blip>
          <a:stretch>
            <a:fillRect/>
          </a:stretch>
        </p:blipFill>
        <p:spPr>
          <a:xfrm>
            <a:off x="2226075" y="1026700"/>
            <a:ext cx="4305300" cy="1885950"/>
          </a:xfrm>
          <a:prstGeom prst="rect">
            <a:avLst/>
          </a:prstGeom>
          <a:noFill/>
          <a:ln>
            <a:noFill/>
          </a:ln>
        </p:spPr>
      </p:pic>
      <p:sp>
        <p:nvSpPr>
          <p:cNvPr id="324" name="Google Shape;324;p41"/>
          <p:cNvSpPr txBox="1"/>
          <p:nvPr/>
        </p:nvSpPr>
        <p:spPr>
          <a:xfrm>
            <a:off x="1788075" y="3839825"/>
            <a:ext cx="53577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rPr>
              <a:t>β0 será la diferencia entre la estimación de Y y la parte explicada por el modelo:</a:t>
            </a:r>
            <a:endParaRPr sz="2100">
              <a:solidFill>
                <a:schemeClr val="dk1"/>
              </a:solidFill>
            </a:endParaRPr>
          </a:p>
          <a:p>
            <a:pPr indent="0" lvl="0" marL="0" rtl="0" algn="l">
              <a:spcBef>
                <a:spcPts val="0"/>
              </a:spcBef>
              <a:spcAft>
                <a:spcPts val="0"/>
              </a:spcAft>
              <a:buNone/>
            </a:pPr>
            <a:r>
              <a:rPr b="1" lang="es" sz="2100">
                <a:solidFill>
                  <a:schemeClr val="dk1"/>
                </a:solidFill>
              </a:rPr>
              <a:t>β</a:t>
            </a:r>
            <a:r>
              <a:rPr b="1" lang="es" sz="1800">
                <a:solidFill>
                  <a:schemeClr val="dk1"/>
                </a:solidFill>
              </a:rPr>
              <a:t>0</a:t>
            </a:r>
            <a:r>
              <a:rPr b="1" lang="es" sz="2100">
                <a:solidFill>
                  <a:schemeClr val="dk1"/>
                </a:solidFill>
              </a:rPr>
              <a:t> = Y - β</a:t>
            </a:r>
            <a:r>
              <a:rPr b="1" lang="es" sz="1700">
                <a:solidFill>
                  <a:schemeClr val="dk1"/>
                </a:solidFill>
              </a:rPr>
              <a:t>1</a:t>
            </a:r>
            <a:r>
              <a:rPr b="1" lang="es" sz="2100">
                <a:solidFill>
                  <a:schemeClr val="dk1"/>
                </a:solidFill>
              </a:rPr>
              <a:t>* X</a:t>
            </a:r>
            <a:endParaRPr b="1" sz="2100">
              <a:solidFill>
                <a:schemeClr val="dk1"/>
              </a:solidFill>
            </a:endParaRPr>
          </a:p>
        </p:txBody>
      </p:sp>
      <p:cxnSp>
        <p:nvCxnSpPr>
          <p:cNvPr id="325" name="Google Shape;325;p41"/>
          <p:cNvCxnSpPr/>
          <p:nvPr/>
        </p:nvCxnSpPr>
        <p:spPr>
          <a:xfrm>
            <a:off x="6070325" y="1369900"/>
            <a:ext cx="1176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Regresión lineal simple - estimación de parámetros</a:t>
            </a:r>
            <a:endParaRPr sz="2356">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2433">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2689">
              <a:highlight>
                <a:schemeClr val="accent4"/>
              </a:highlight>
              <a:latin typeface="Poppins"/>
              <a:ea typeface="Poppins"/>
              <a:cs typeface="Poppins"/>
              <a:sym typeface="Poppins"/>
            </a:endParaRPr>
          </a:p>
        </p:txBody>
      </p:sp>
      <p:pic>
        <p:nvPicPr>
          <p:cNvPr id="331" name="Google Shape;331;p42"/>
          <p:cNvPicPr preferRelativeResize="0"/>
          <p:nvPr/>
        </p:nvPicPr>
        <p:blipFill>
          <a:blip r:embed="rId3">
            <a:alphaModFix/>
          </a:blip>
          <a:stretch>
            <a:fillRect/>
          </a:stretch>
        </p:blipFill>
        <p:spPr>
          <a:xfrm>
            <a:off x="2410575" y="679775"/>
            <a:ext cx="4409210" cy="4212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Regresión lineal simple - estimación de parámetros</a:t>
            </a:r>
            <a:endParaRPr sz="2356">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2433">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2689">
              <a:highlight>
                <a:schemeClr val="accent4"/>
              </a:highlight>
              <a:latin typeface="Poppins"/>
              <a:ea typeface="Poppins"/>
              <a:cs typeface="Poppins"/>
              <a:sym typeface="Poppins"/>
            </a:endParaRPr>
          </a:p>
        </p:txBody>
      </p:sp>
      <p:pic>
        <p:nvPicPr>
          <p:cNvPr id="337" name="Google Shape;337;p43"/>
          <p:cNvPicPr preferRelativeResize="0"/>
          <p:nvPr/>
        </p:nvPicPr>
        <p:blipFill>
          <a:blip r:embed="rId3">
            <a:alphaModFix/>
          </a:blip>
          <a:stretch>
            <a:fillRect/>
          </a:stretch>
        </p:blipFill>
        <p:spPr>
          <a:xfrm>
            <a:off x="2226075" y="1026700"/>
            <a:ext cx="4305300" cy="1885950"/>
          </a:xfrm>
          <a:prstGeom prst="rect">
            <a:avLst/>
          </a:prstGeom>
          <a:noFill/>
          <a:ln>
            <a:noFill/>
          </a:ln>
        </p:spPr>
      </p:pic>
      <p:cxnSp>
        <p:nvCxnSpPr>
          <p:cNvPr id="338" name="Google Shape;338;p43"/>
          <p:cNvCxnSpPr/>
          <p:nvPr/>
        </p:nvCxnSpPr>
        <p:spPr>
          <a:xfrm>
            <a:off x="6675975" y="1471250"/>
            <a:ext cx="356700" cy="0"/>
          </a:xfrm>
          <a:prstGeom prst="straightConnector1">
            <a:avLst/>
          </a:prstGeom>
          <a:noFill/>
          <a:ln cap="flat" cmpd="sng" w="9525">
            <a:solidFill>
              <a:schemeClr val="dk2"/>
            </a:solidFill>
            <a:prstDash val="solid"/>
            <a:round/>
            <a:headEnd len="med" w="med" type="none"/>
            <a:tailEnd len="med" w="med" type="triangle"/>
          </a:ln>
        </p:spPr>
      </p:cxnSp>
      <p:cxnSp>
        <p:nvCxnSpPr>
          <p:cNvPr id="339" name="Google Shape;339;p43"/>
          <p:cNvCxnSpPr/>
          <p:nvPr/>
        </p:nvCxnSpPr>
        <p:spPr>
          <a:xfrm>
            <a:off x="6675975" y="2467025"/>
            <a:ext cx="356700" cy="0"/>
          </a:xfrm>
          <a:prstGeom prst="straightConnector1">
            <a:avLst/>
          </a:prstGeom>
          <a:noFill/>
          <a:ln cap="flat" cmpd="sng" w="9525">
            <a:solidFill>
              <a:schemeClr val="dk2"/>
            </a:solidFill>
            <a:prstDash val="solid"/>
            <a:round/>
            <a:headEnd len="med" w="med" type="none"/>
            <a:tailEnd len="med" w="med" type="triangle"/>
          </a:ln>
        </p:spPr>
      </p:cxnSp>
      <p:sp>
        <p:nvSpPr>
          <p:cNvPr id="340" name="Google Shape;340;p43"/>
          <p:cNvSpPr txBox="1"/>
          <p:nvPr/>
        </p:nvSpPr>
        <p:spPr>
          <a:xfrm>
            <a:off x="7032675" y="1201850"/>
            <a:ext cx="2073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Poppins"/>
                <a:ea typeface="Poppins"/>
                <a:cs typeface="Poppins"/>
                <a:sym typeface="Poppins"/>
              </a:rPr>
              <a:t>cov(x,y)</a:t>
            </a:r>
            <a:endParaRPr sz="900"/>
          </a:p>
        </p:txBody>
      </p:sp>
      <p:sp>
        <p:nvSpPr>
          <p:cNvPr id="341" name="Google Shape;341;p43"/>
          <p:cNvSpPr txBox="1"/>
          <p:nvPr/>
        </p:nvSpPr>
        <p:spPr>
          <a:xfrm>
            <a:off x="7101075" y="2156825"/>
            <a:ext cx="2073600" cy="146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300">
                <a:solidFill>
                  <a:schemeClr val="dk1"/>
                </a:solidFill>
                <a:latin typeface="Poppins"/>
                <a:ea typeface="Poppins"/>
                <a:cs typeface="Poppins"/>
                <a:sym typeface="Poppins"/>
              </a:rPr>
              <a:t>var(x) </a:t>
            </a:r>
            <a:endParaRPr sz="2300">
              <a:solidFill>
                <a:schemeClr val="dk1"/>
              </a:solidFill>
              <a:latin typeface="Poppins"/>
              <a:ea typeface="Poppins"/>
              <a:cs typeface="Poppins"/>
              <a:sym typeface="Poppins"/>
            </a:endParaRPr>
          </a:p>
          <a:p>
            <a:pPr indent="0" lvl="0" marL="0" rtl="0" algn="l">
              <a:spcBef>
                <a:spcPts val="0"/>
              </a:spcBef>
              <a:spcAft>
                <a:spcPts val="0"/>
              </a:spcAft>
              <a:buNone/>
            </a:pPr>
            <a:r>
              <a:rPr lang="es" sz="1500">
                <a:solidFill>
                  <a:schemeClr val="dk1"/>
                </a:solidFill>
                <a:latin typeface="Poppins"/>
                <a:ea typeface="Poppins"/>
                <a:cs typeface="Poppins"/>
                <a:sym typeface="Poppins"/>
              </a:rPr>
              <a:t>esta división permite eliminar el peso de la unidad de medida de x</a:t>
            </a:r>
            <a:endParaRPr sz="1500">
              <a:solidFill>
                <a:schemeClr val="dk1"/>
              </a:solidFill>
              <a:latin typeface="Poppins"/>
              <a:ea typeface="Poppins"/>
              <a:cs typeface="Poppins"/>
              <a:sym typeface="Poppins"/>
            </a:endParaRPr>
          </a:p>
        </p:txBody>
      </p:sp>
      <p:sp>
        <p:nvSpPr>
          <p:cNvPr id="342" name="Google Shape;342;p43"/>
          <p:cNvSpPr txBox="1"/>
          <p:nvPr/>
        </p:nvSpPr>
        <p:spPr>
          <a:xfrm>
            <a:off x="1788075" y="3839825"/>
            <a:ext cx="53577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rPr>
              <a:t>β0 será la diferencia entre la estimación de Y y la parte explicada por el modelo:</a:t>
            </a:r>
            <a:endParaRPr sz="2100">
              <a:solidFill>
                <a:schemeClr val="dk1"/>
              </a:solidFill>
            </a:endParaRPr>
          </a:p>
          <a:p>
            <a:pPr indent="0" lvl="0" marL="0" rtl="0" algn="l">
              <a:spcBef>
                <a:spcPts val="0"/>
              </a:spcBef>
              <a:spcAft>
                <a:spcPts val="0"/>
              </a:spcAft>
              <a:buNone/>
            </a:pPr>
            <a:r>
              <a:rPr b="1" lang="es" sz="2100">
                <a:solidFill>
                  <a:schemeClr val="dk1"/>
                </a:solidFill>
              </a:rPr>
              <a:t>β</a:t>
            </a:r>
            <a:r>
              <a:rPr b="1" lang="es" sz="1800">
                <a:solidFill>
                  <a:schemeClr val="dk1"/>
                </a:solidFill>
              </a:rPr>
              <a:t>0</a:t>
            </a:r>
            <a:r>
              <a:rPr b="1" lang="es" sz="2100">
                <a:solidFill>
                  <a:schemeClr val="dk1"/>
                </a:solidFill>
              </a:rPr>
              <a:t> = Y - β</a:t>
            </a:r>
            <a:r>
              <a:rPr b="1" lang="es" sz="1700">
                <a:solidFill>
                  <a:schemeClr val="dk1"/>
                </a:solidFill>
              </a:rPr>
              <a:t>1</a:t>
            </a:r>
            <a:r>
              <a:rPr b="1" lang="es" sz="2100">
                <a:solidFill>
                  <a:schemeClr val="dk1"/>
                </a:solidFill>
              </a:rPr>
              <a:t>* X</a:t>
            </a:r>
            <a:endParaRPr b="1" sz="2100">
              <a:solidFill>
                <a:schemeClr val="dk1"/>
              </a:solidFill>
            </a:endParaRPr>
          </a:p>
        </p:txBody>
      </p:sp>
      <p:cxnSp>
        <p:nvCxnSpPr>
          <p:cNvPr id="343" name="Google Shape;343;p43"/>
          <p:cNvCxnSpPr/>
          <p:nvPr/>
        </p:nvCxnSpPr>
        <p:spPr>
          <a:xfrm>
            <a:off x="6070325" y="1369900"/>
            <a:ext cx="1176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latin typeface="Poppins"/>
                <a:ea typeface="Poppins"/>
                <a:cs typeface="Poppins"/>
                <a:sym typeface="Poppins"/>
              </a:rPr>
              <a:t>Regresión lineal simple - </a:t>
            </a:r>
            <a:r>
              <a:rPr lang="es" sz="2689">
                <a:latin typeface="Poppins"/>
                <a:ea typeface="Poppins"/>
                <a:cs typeface="Poppins"/>
                <a:sym typeface="Poppins"/>
              </a:rPr>
              <a:t>variable explicativa binaria</a:t>
            </a:r>
            <a:endParaRPr sz="2244">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2433">
              <a:latin typeface="Poppins"/>
              <a:ea typeface="Poppins"/>
              <a:cs typeface="Poppins"/>
              <a:sym typeface="Poppins"/>
            </a:endParaRPr>
          </a:p>
          <a:p>
            <a:pPr indent="0" lvl="0" marL="0" rtl="0" algn="l">
              <a:spcBef>
                <a:spcPts val="0"/>
              </a:spcBef>
              <a:spcAft>
                <a:spcPts val="0"/>
              </a:spcAft>
              <a:buNone/>
            </a:pPr>
            <a:r>
              <a:t/>
            </a:r>
            <a:endParaRPr sz="2356">
              <a:latin typeface="Poppins"/>
              <a:ea typeface="Poppins"/>
              <a:cs typeface="Poppins"/>
              <a:sym typeface="Poppins"/>
            </a:endParaRPr>
          </a:p>
          <a:p>
            <a:pPr indent="0" lvl="0" marL="0" rtl="0" algn="l">
              <a:spcBef>
                <a:spcPts val="0"/>
              </a:spcBef>
              <a:spcAft>
                <a:spcPts val="0"/>
              </a:spcAft>
              <a:buNone/>
            </a:pPr>
            <a:r>
              <a:t/>
            </a:r>
            <a:endParaRPr sz="2689">
              <a:highlight>
                <a:schemeClr val="accent4"/>
              </a:highlight>
              <a:latin typeface="Poppins"/>
              <a:ea typeface="Poppins"/>
              <a:cs typeface="Poppins"/>
              <a:sym typeface="Poppins"/>
            </a:endParaRPr>
          </a:p>
        </p:txBody>
      </p:sp>
      <p:sp>
        <p:nvSpPr>
          <p:cNvPr id="349" name="Google Shape;349;p44"/>
          <p:cNvSpPr txBox="1"/>
          <p:nvPr/>
        </p:nvSpPr>
        <p:spPr>
          <a:xfrm>
            <a:off x="117100" y="626250"/>
            <a:ext cx="9191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rPr>
              <a:t>¿Se puede utilizar MCC (y un modelo lineal en general) ante la presencia de variables explicativas no numéricas? Por ejemplo: </a:t>
            </a:r>
            <a:r>
              <a:rPr b="1" lang="es" sz="2100">
                <a:solidFill>
                  <a:schemeClr val="dk1"/>
                </a:solidFill>
              </a:rPr>
              <a:t>género</a:t>
            </a:r>
            <a:endParaRPr b="1" sz="21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txBox="1"/>
          <p:nvPr>
            <p:ph type="title"/>
          </p:nvPr>
        </p:nvSpPr>
        <p:spPr>
          <a:xfrm>
            <a:off x="311700" y="53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Regresión lineal simple - </a:t>
            </a:r>
            <a:r>
              <a:rPr lang="es" sz="2689"/>
              <a:t>variable explicativa binaria</a:t>
            </a:r>
            <a:endParaRPr sz="2244"/>
          </a:p>
          <a:p>
            <a:pPr indent="0" lvl="0" marL="0" rtl="0" algn="l">
              <a:spcBef>
                <a:spcPts val="0"/>
              </a:spcBef>
              <a:spcAft>
                <a:spcPts val="0"/>
              </a:spcAft>
              <a:buNone/>
            </a:pPr>
            <a:r>
              <a:t/>
            </a:r>
            <a:endParaRPr sz="2356"/>
          </a:p>
          <a:p>
            <a:pPr indent="0" lvl="0" marL="0" rtl="0" algn="l">
              <a:spcBef>
                <a:spcPts val="0"/>
              </a:spcBef>
              <a:spcAft>
                <a:spcPts val="0"/>
              </a:spcAft>
              <a:buNone/>
            </a:pPr>
            <a:r>
              <a:t/>
            </a:r>
            <a:endParaRPr sz="1800"/>
          </a:p>
          <a:p>
            <a:pPr indent="0" lvl="0" marL="0" rtl="0" algn="l">
              <a:spcBef>
                <a:spcPts val="0"/>
              </a:spcBef>
              <a:spcAft>
                <a:spcPts val="0"/>
              </a:spcAft>
              <a:buNone/>
            </a:pPr>
            <a:r>
              <a:t/>
            </a:r>
            <a:endParaRPr sz="2356"/>
          </a:p>
          <a:p>
            <a:pPr indent="0" lvl="0" marL="0" rtl="0" algn="l">
              <a:spcBef>
                <a:spcPts val="0"/>
              </a:spcBef>
              <a:spcAft>
                <a:spcPts val="0"/>
              </a:spcAft>
              <a:buNone/>
            </a:pPr>
            <a:r>
              <a:rPr lang="es" sz="1889"/>
              <a:t>Respuesta: sí.</a:t>
            </a:r>
            <a:endParaRPr sz="1889"/>
          </a:p>
          <a:p>
            <a:pPr indent="0" lvl="0" marL="0" rtl="0" algn="l">
              <a:spcBef>
                <a:spcPts val="0"/>
              </a:spcBef>
              <a:spcAft>
                <a:spcPts val="0"/>
              </a:spcAft>
              <a:buNone/>
            </a:pPr>
            <a:r>
              <a:rPr lang="es" sz="1889"/>
              <a:t>Cuando un regresor X es una variable “indicadora” de la categoría hombre (por ejemplo), donde I(hombre) = 1 si se trata de un hombre e I(hombre)=0 si se trata de una mujer, los β miden la diferencia promedio entre la variable Y en cada categoría. Si Y=salario, β capturaría la diferencia (positiva o negativa) producto de que una persona sea hombre. </a:t>
            </a:r>
            <a:endParaRPr sz="1889"/>
          </a:p>
          <a:p>
            <a:pPr indent="0" lvl="0" marL="0" rtl="0" algn="l">
              <a:spcBef>
                <a:spcPts val="0"/>
              </a:spcBef>
              <a:spcAft>
                <a:spcPts val="0"/>
              </a:spcAft>
              <a:buNone/>
            </a:pPr>
            <a:r>
              <a:rPr lang="es" sz="1889"/>
              <a:t>Si β = 5000, esto significa que los hombres ganan un salario de 5000 unidades más que las mujeres, en promedio. </a:t>
            </a:r>
            <a:endParaRPr sz="1889"/>
          </a:p>
          <a:p>
            <a:pPr indent="0" lvl="0" marL="0" rtl="0" algn="l">
              <a:spcBef>
                <a:spcPts val="0"/>
              </a:spcBef>
              <a:spcAft>
                <a:spcPts val="0"/>
              </a:spcAft>
              <a:buNone/>
            </a:pPr>
            <a:r>
              <a:t/>
            </a:r>
            <a:endParaRPr sz="2000"/>
          </a:p>
          <a:p>
            <a:pPr indent="0" lvl="0" marL="0" rtl="0" algn="l">
              <a:spcBef>
                <a:spcPts val="0"/>
              </a:spcBef>
              <a:spcAft>
                <a:spcPts val="0"/>
              </a:spcAft>
              <a:buNone/>
            </a:pPr>
            <a:r>
              <a:rPr lang="es" sz="1889"/>
              <a:t>Salario = βo + β1I(hombre) + </a:t>
            </a:r>
            <a:r>
              <a:rPr lang="es" sz="2089"/>
              <a:t>ε</a:t>
            </a:r>
            <a:r>
              <a:rPr lang="es" sz="1889"/>
              <a:t> </a:t>
            </a:r>
            <a:endParaRPr sz="1889"/>
          </a:p>
          <a:p>
            <a:pPr indent="0" lvl="0" marL="0" rtl="0" algn="l">
              <a:spcBef>
                <a:spcPts val="0"/>
              </a:spcBef>
              <a:spcAft>
                <a:spcPts val="0"/>
              </a:spcAft>
              <a:buNone/>
            </a:pPr>
            <a:r>
              <a:rPr lang="es" sz="1889"/>
              <a:t>Si I(hombre)=0          Salario = </a:t>
            </a:r>
            <a:r>
              <a:rPr lang="es" sz="1889"/>
              <a:t>βo + </a:t>
            </a:r>
            <a:r>
              <a:rPr lang="es" sz="2089"/>
              <a:t>ε</a:t>
            </a:r>
            <a:endParaRPr sz="2089"/>
          </a:p>
          <a:p>
            <a:pPr indent="0" lvl="0" marL="0" rtl="0" algn="l">
              <a:spcBef>
                <a:spcPts val="0"/>
              </a:spcBef>
              <a:spcAft>
                <a:spcPts val="0"/>
              </a:spcAft>
              <a:buNone/>
            </a:pPr>
            <a:r>
              <a:t/>
            </a:r>
            <a:endParaRPr sz="2089"/>
          </a:p>
        </p:txBody>
      </p:sp>
      <p:sp>
        <p:nvSpPr>
          <p:cNvPr id="355" name="Google Shape;355;p45"/>
          <p:cNvSpPr txBox="1"/>
          <p:nvPr/>
        </p:nvSpPr>
        <p:spPr>
          <a:xfrm>
            <a:off x="117100" y="626250"/>
            <a:ext cx="9191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¿Se puede utilizar MCC (y un modelo lineal en general) ante la presencia de variables explicativas no numéricas? Por ejemplo: </a:t>
            </a:r>
            <a:r>
              <a:rPr b="1" lang="es" sz="1800">
                <a:solidFill>
                  <a:schemeClr val="dk1"/>
                </a:solidFill>
              </a:rPr>
              <a:t>género</a:t>
            </a:r>
            <a:endParaRPr b="1" sz="1800">
              <a:solidFill>
                <a:schemeClr val="dk1"/>
              </a:solidFill>
            </a:endParaRPr>
          </a:p>
        </p:txBody>
      </p:sp>
      <p:cxnSp>
        <p:nvCxnSpPr>
          <p:cNvPr id="356" name="Google Shape;356;p45"/>
          <p:cNvCxnSpPr/>
          <p:nvPr/>
        </p:nvCxnSpPr>
        <p:spPr>
          <a:xfrm>
            <a:off x="1963075" y="4203350"/>
            <a:ext cx="356700" cy="0"/>
          </a:xfrm>
          <a:prstGeom prst="straightConnector1">
            <a:avLst/>
          </a:prstGeom>
          <a:noFill/>
          <a:ln cap="flat" cmpd="sng" w="9525">
            <a:solidFill>
              <a:schemeClr val="dk2"/>
            </a:solidFill>
            <a:prstDash val="solid"/>
            <a:round/>
            <a:headEnd len="med" w="med" type="none"/>
            <a:tailEnd len="med" w="med" type="triangle"/>
          </a:ln>
        </p:spPr>
      </p:cxnSp>
      <p:sp>
        <p:nvSpPr>
          <p:cNvPr id="357" name="Google Shape;357;p45"/>
          <p:cNvSpPr txBox="1"/>
          <p:nvPr/>
        </p:nvSpPr>
        <p:spPr>
          <a:xfrm>
            <a:off x="311700" y="4346400"/>
            <a:ext cx="7846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rPr>
              <a:t>Si I(hombre)=1          Salario = βo + β1 + ε</a:t>
            </a:r>
            <a:endParaRPr sz="1700">
              <a:solidFill>
                <a:schemeClr val="dk1"/>
              </a:solidFill>
            </a:endParaRPr>
          </a:p>
          <a:p>
            <a:pPr indent="0" lvl="0" marL="0" rtl="0" algn="l">
              <a:spcBef>
                <a:spcPts val="0"/>
              </a:spcBef>
              <a:spcAft>
                <a:spcPts val="0"/>
              </a:spcAft>
              <a:buNone/>
            </a:pPr>
            <a:r>
              <a:rPr b="1" lang="es" sz="1700">
                <a:solidFill>
                  <a:schemeClr val="dk1"/>
                </a:solidFill>
              </a:rPr>
              <a:t>Ingreso(I(hombre=1) - Ingreso(I(hombre=0)</a:t>
            </a:r>
            <a:r>
              <a:rPr lang="es" sz="1700">
                <a:solidFill>
                  <a:schemeClr val="dk1"/>
                </a:solidFill>
              </a:rPr>
              <a:t> =  </a:t>
            </a:r>
            <a:r>
              <a:rPr lang="es" sz="1700">
                <a:solidFill>
                  <a:schemeClr val="dk1"/>
                </a:solidFill>
              </a:rPr>
              <a:t>βo + β1 + ε - βo + ε  = </a:t>
            </a:r>
            <a:r>
              <a:rPr b="1" lang="es" sz="1700">
                <a:solidFill>
                  <a:schemeClr val="dk1"/>
                </a:solidFill>
              </a:rPr>
              <a:t>β1</a:t>
            </a:r>
            <a:endParaRPr b="1" sz="1700">
              <a:solidFill>
                <a:schemeClr val="dk1"/>
              </a:solidFill>
            </a:endParaRPr>
          </a:p>
        </p:txBody>
      </p:sp>
      <p:cxnSp>
        <p:nvCxnSpPr>
          <p:cNvPr id="358" name="Google Shape;358;p45"/>
          <p:cNvCxnSpPr/>
          <p:nvPr/>
        </p:nvCxnSpPr>
        <p:spPr>
          <a:xfrm flipH="1">
            <a:off x="5122225" y="4643450"/>
            <a:ext cx="208200" cy="337200"/>
          </a:xfrm>
          <a:prstGeom prst="straightConnector1">
            <a:avLst/>
          </a:prstGeom>
          <a:noFill/>
          <a:ln cap="flat" cmpd="sng" w="19050">
            <a:solidFill>
              <a:schemeClr val="accent1"/>
            </a:solidFill>
            <a:prstDash val="solid"/>
            <a:round/>
            <a:headEnd len="med" w="med" type="none"/>
            <a:tailEnd len="med" w="med" type="none"/>
          </a:ln>
        </p:spPr>
      </p:cxnSp>
      <p:cxnSp>
        <p:nvCxnSpPr>
          <p:cNvPr id="359" name="Google Shape;359;p45"/>
          <p:cNvCxnSpPr/>
          <p:nvPr/>
        </p:nvCxnSpPr>
        <p:spPr>
          <a:xfrm flipH="1">
            <a:off x="6405725" y="4643450"/>
            <a:ext cx="208200" cy="337200"/>
          </a:xfrm>
          <a:prstGeom prst="straightConnector1">
            <a:avLst/>
          </a:prstGeom>
          <a:noFill/>
          <a:ln cap="flat" cmpd="sng" w="19050">
            <a:solidFill>
              <a:schemeClr val="accent1"/>
            </a:solidFill>
            <a:prstDash val="solid"/>
            <a:round/>
            <a:headEnd len="med" w="med" type="none"/>
            <a:tailEnd len="med" w="med" type="none"/>
          </a:ln>
        </p:spPr>
      </p:cxnSp>
      <p:cxnSp>
        <p:nvCxnSpPr>
          <p:cNvPr id="360" name="Google Shape;360;p45"/>
          <p:cNvCxnSpPr/>
          <p:nvPr/>
        </p:nvCxnSpPr>
        <p:spPr>
          <a:xfrm flipH="1">
            <a:off x="6842675" y="4643450"/>
            <a:ext cx="208200" cy="337200"/>
          </a:xfrm>
          <a:prstGeom prst="straightConnector1">
            <a:avLst/>
          </a:prstGeom>
          <a:noFill/>
          <a:ln cap="flat" cmpd="sng" w="19050">
            <a:solidFill>
              <a:srgbClr val="38761D"/>
            </a:solidFill>
            <a:prstDash val="solid"/>
            <a:round/>
            <a:headEnd len="med" w="med" type="none"/>
            <a:tailEnd len="med" w="med" type="none"/>
          </a:ln>
        </p:spPr>
      </p:cxnSp>
      <p:cxnSp>
        <p:nvCxnSpPr>
          <p:cNvPr id="361" name="Google Shape;361;p45"/>
          <p:cNvCxnSpPr/>
          <p:nvPr/>
        </p:nvCxnSpPr>
        <p:spPr>
          <a:xfrm flipH="1">
            <a:off x="6044975" y="4643450"/>
            <a:ext cx="208200" cy="337200"/>
          </a:xfrm>
          <a:prstGeom prst="straightConnector1">
            <a:avLst/>
          </a:prstGeom>
          <a:noFill/>
          <a:ln cap="flat" cmpd="sng" w="19050">
            <a:solidFill>
              <a:srgbClr val="38761D"/>
            </a:solidFill>
            <a:prstDash val="solid"/>
            <a:round/>
            <a:headEnd len="med" w="med" type="none"/>
            <a:tailEnd len="med" w="med" type="none"/>
          </a:ln>
        </p:spPr>
      </p:cxnSp>
      <p:cxnSp>
        <p:nvCxnSpPr>
          <p:cNvPr id="362" name="Google Shape;362;p45"/>
          <p:cNvCxnSpPr/>
          <p:nvPr/>
        </p:nvCxnSpPr>
        <p:spPr>
          <a:xfrm>
            <a:off x="1955649" y="4588225"/>
            <a:ext cx="3567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6"/>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t>Medidas de bondad de</a:t>
            </a:r>
            <a:r>
              <a:rPr lang="es" sz="2417"/>
              <a:t> ajuste: R</a:t>
            </a:r>
            <a:r>
              <a:rPr baseline="30000" lang="es" sz="2417"/>
              <a:t>2 </a:t>
            </a:r>
            <a:r>
              <a:rPr lang="es" sz="2417"/>
              <a:t>(o coeficiente de determinación)</a:t>
            </a:r>
            <a:endParaRPr baseline="30000" sz="2417"/>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s" sz="2400"/>
              <a:t>Las medidas de bondad de ajuste permiten evaluar qué tan bueno es un modelo, es decir estimar cuánta incertidumbre existe con respecto a los datos poblacionales. </a:t>
            </a:r>
            <a:endParaRPr sz="2400"/>
          </a:p>
          <a:p>
            <a:pPr indent="0" lvl="0" marL="0" rtl="0" algn="l">
              <a:spcBef>
                <a:spcPts val="0"/>
              </a:spcBef>
              <a:spcAft>
                <a:spcPts val="0"/>
              </a:spcAft>
              <a:buNone/>
            </a:pPr>
            <a:r>
              <a:rPr lang="es" sz="2400"/>
              <a:t>Una de las más utilizadas dada su interpretación sencilla es el </a:t>
            </a:r>
            <a:r>
              <a:rPr lang="es" sz="2400"/>
              <a:t>R</a:t>
            </a:r>
            <a:r>
              <a:rPr baseline="30000" lang="es" sz="2400"/>
              <a:t>2</a:t>
            </a:r>
            <a:r>
              <a:rPr lang="es" sz="2400"/>
              <a:t>. Varía entre 0 y 1 y puede interpretarse como un valor que indica qué medida de la varianza de Y es explicada por X.</a:t>
            </a:r>
            <a:endParaRPr sz="2400"/>
          </a:p>
          <a:p>
            <a:pPr indent="0" lvl="0" marL="0" rtl="0" algn="l">
              <a:spcBef>
                <a:spcPts val="0"/>
              </a:spcBef>
              <a:spcAft>
                <a:spcPts val="0"/>
              </a:spcAft>
              <a:buNone/>
            </a:pPr>
            <a:r>
              <a:rPr lang="es" sz="2400"/>
              <a:t>Otra medida de bondad de ajuste que se utiliza frecuentemente es el error estándar.</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7"/>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Medidas de bondad de</a:t>
            </a:r>
            <a:r>
              <a:rPr lang="es" sz="2417">
                <a:latin typeface="Poppins"/>
                <a:ea typeface="Poppins"/>
                <a:cs typeface="Poppins"/>
                <a:sym typeface="Poppins"/>
              </a:rPr>
              <a:t> ajuste: </a:t>
            </a:r>
            <a:r>
              <a:rPr lang="es" sz="2417"/>
              <a:t>R</a:t>
            </a:r>
            <a:r>
              <a:rPr baseline="30000" lang="es" sz="2417"/>
              <a:t>2 </a:t>
            </a:r>
            <a:r>
              <a:rPr lang="es" sz="2417"/>
              <a:t>(o coeficiente de determinación)</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s" sz="1844">
                <a:latin typeface="Poppins"/>
                <a:ea typeface="Poppins"/>
                <a:cs typeface="Poppins"/>
                <a:sym typeface="Poppins"/>
              </a:rPr>
              <a:t>Su estimación consiste en la proporción de la variación de Y, es decir de la suma de los cuadrados totales SCT, que le corresponde a la variación de X (suma de los cuadrados explicados, SCE). Esto se calcula de la siguiente manera: </a:t>
            </a:r>
            <a:endParaRPr sz="1844">
              <a:latin typeface="Poppins"/>
              <a:ea typeface="Poppins"/>
              <a:cs typeface="Poppins"/>
              <a:sym typeface="Poppins"/>
            </a:endParaRPr>
          </a:p>
        </p:txBody>
      </p:sp>
      <p:sp>
        <p:nvSpPr>
          <p:cNvPr id="373" name="Google Shape;373;p47"/>
          <p:cNvSpPr txBox="1"/>
          <p:nvPr/>
        </p:nvSpPr>
        <p:spPr>
          <a:xfrm>
            <a:off x="424275" y="1603400"/>
            <a:ext cx="3000000" cy="214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17">
                <a:solidFill>
                  <a:schemeClr val="dk1"/>
                </a:solidFill>
                <a:latin typeface="Poppins"/>
                <a:ea typeface="Poppins"/>
                <a:cs typeface="Poppins"/>
                <a:sym typeface="Poppins"/>
              </a:rPr>
              <a:t>Siendo que:</a:t>
            </a:r>
            <a:endParaRPr sz="1817">
              <a:solidFill>
                <a:schemeClr val="dk1"/>
              </a:solidFill>
              <a:latin typeface="Poppins"/>
              <a:ea typeface="Poppins"/>
              <a:cs typeface="Poppins"/>
              <a:sym typeface="Poppins"/>
            </a:endParaRPr>
          </a:p>
          <a:p>
            <a:pPr indent="0" lvl="0" marL="0" rtl="0" algn="l">
              <a:spcBef>
                <a:spcPts val="0"/>
              </a:spcBef>
              <a:spcAft>
                <a:spcPts val="0"/>
              </a:spcAft>
              <a:buNone/>
            </a:pPr>
            <a:r>
              <a:t/>
            </a:r>
            <a:endParaRPr sz="1817">
              <a:solidFill>
                <a:schemeClr val="dk1"/>
              </a:solidFill>
              <a:latin typeface="Poppins"/>
              <a:ea typeface="Poppins"/>
              <a:cs typeface="Poppins"/>
              <a:sym typeface="Poppins"/>
            </a:endParaRPr>
          </a:p>
          <a:p>
            <a:pPr indent="0" lvl="0" marL="0" rtl="0" algn="l">
              <a:spcBef>
                <a:spcPts val="0"/>
              </a:spcBef>
              <a:spcAft>
                <a:spcPts val="0"/>
              </a:spcAft>
              <a:buNone/>
            </a:pPr>
            <a:r>
              <a:rPr lang="es" sz="1817">
                <a:solidFill>
                  <a:schemeClr val="dk1"/>
                </a:solidFill>
                <a:latin typeface="Poppins"/>
                <a:ea typeface="Poppins"/>
                <a:cs typeface="Poppins"/>
                <a:sym typeface="Poppins"/>
              </a:rPr>
              <a:t>SCT = </a:t>
            </a:r>
            <a:endParaRPr sz="1817">
              <a:solidFill>
                <a:schemeClr val="dk1"/>
              </a:solidFill>
              <a:latin typeface="Poppins"/>
              <a:ea typeface="Poppins"/>
              <a:cs typeface="Poppins"/>
              <a:sym typeface="Poppins"/>
            </a:endParaRPr>
          </a:p>
          <a:p>
            <a:pPr indent="0" lvl="0" marL="0" rtl="0" algn="l">
              <a:spcBef>
                <a:spcPts val="0"/>
              </a:spcBef>
              <a:spcAft>
                <a:spcPts val="0"/>
              </a:spcAft>
              <a:buNone/>
            </a:pPr>
            <a:r>
              <a:t/>
            </a:r>
            <a:endParaRPr sz="1817">
              <a:solidFill>
                <a:schemeClr val="dk1"/>
              </a:solidFill>
              <a:latin typeface="Poppins"/>
              <a:ea typeface="Poppins"/>
              <a:cs typeface="Poppins"/>
              <a:sym typeface="Poppins"/>
            </a:endParaRPr>
          </a:p>
          <a:p>
            <a:pPr indent="0" lvl="0" marL="0" rtl="0" algn="l">
              <a:spcBef>
                <a:spcPts val="0"/>
              </a:spcBef>
              <a:spcAft>
                <a:spcPts val="0"/>
              </a:spcAft>
              <a:buNone/>
            </a:pPr>
            <a:r>
              <a:t/>
            </a:r>
            <a:endParaRPr sz="1817">
              <a:solidFill>
                <a:schemeClr val="dk1"/>
              </a:solidFill>
              <a:latin typeface="Poppins"/>
              <a:ea typeface="Poppins"/>
              <a:cs typeface="Poppins"/>
              <a:sym typeface="Poppins"/>
            </a:endParaRPr>
          </a:p>
          <a:p>
            <a:pPr indent="0" lvl="0" marL="0" rtl="0" algn="l">
              <a:spcBef>
                <a:spcPts val="0"/>
              </a:spcBef>
              <a:spcAft>
                <a:spcPts val="0"/>
              </a:spcAft>
              <a:buNone/>
            </a:pPr>
            <a:r>
              <a:rPr lang="es" sz="1817">
                <a:solidFill>
                  <a:schemeClr val="dk1"/>
                </a:solidFill>
                <a:latin typeface="Poppins"/>
                <a:ea typeface="Poppins"/>
                <a:cs typeface="Poppins"/>
                <a:sym typeface="Poppins"/>
              </a:rPr>
              <a:t>SCR =  </a:t>
            </a:r>
            <a:endParaRPr sz="1817">
              <a:solidFill>
                <a:schemeClr val="dk1"/>
              </a:solidFill>
              <a:latin typeface="Poppins"/>
              <a:ea typeface="Poppins"/>
              <a:cs typeface="Poppins"/>
              <a:sym typeface="Poppins"/>
            </a:endParaRPr>
          </a:p>
          <a:p>
            <a:pPr indent="0" lvl="0" marL="0" rtl="0" algn="l">
              <a:spcBef>
                <a:spcPts val="0"/>
              </a:spcBef>
              <a:spcAft>
                <a:spcPts val="0"/>
              </a:spcAft>
              <a:buNone/>
            </a:pPr>
            <a:r>
              <a:t/>
            </a:r>
            <a:endParaRPr sz="1817">
              <a:solidFill>
                <a:schemeClr val="dk1"/>
              </a:solidFill>
              <a:latin typeface="Poppins"/>
              <a:ea typeface="Poppins"/>
              <a:cs typeface="Poppins"/>
              <a:sym typeface="Poppins"/>
            </a:endParaRPr>
          </a:p>
        </p:txBody>
      </p:sp>
      <p:sp>
        <p:nvSpPr>
          <p:cNvPr id="374" name="Google Shape;374;p47"/>
          <p:cNvSpPr txBox="1"/>
          <p:nvPr/>
        </p:nvSpPr>
        <p:spPr>
          <a:xfrm>
            <a:off x="1251240" y="2389890"/>
            <a:ext cx="1118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i=1</a:t>
            </a:r>
            <a:endParaRPr sz="1200"/>
          </a:p>
        </p:txBody>
      </p:sp>
      <p:sp>
        <p:nvSpPr>
          <p:cNvPr id="375" name="Google Shape;375;p47"/>
          <p:cNvSpPr txBox="1"/>
          <p:nvPr/>
        </p:nvSpPr>
        <p:spPr>
          <a:xfrm>
            <a:off x="1349700" y="1894928"/>
            <a:ext cx="51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n</a:t>
            </a:r>
            <a:endParaRPr sz="1200"/>
          </a:p>
        </p:txBody>
      </p:sp>
      <p:sp>
        <p:nvSpPr>
          <p:cNvPr id="376" name="Google Shape;376;p47"/>
          <p:cNvSpPr txBox="1"/>
          <p:nvPr/>
        </p:nvSpPr>
        <p:spPr>
          <a:xfrm>
            <a:off x="1301400" y="2098975"/>
            <a:ext cx="2300100" cy="51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1"/>
                </a:solidFill>
              </a:rPr>
              <a:t>Σ (Yi - Y)</a:t>
            </a:r>
            <a:r>
              <a:rPr baseline="30000" lang="es" sz="2117">
                <a:solidFill>
                  <a:schemeClr val="dk1"/>
                </a:solidFill>
              </a:rPr>
              <a:t>2</a:t>
            </a:r>
            <a:r>
              <a:rPr lang="es" sz="2000">
                <a:solidFill>
                  <a:schemeClr val="dk1"/>
                </a:solidFill>
              </a:rPr>
              <a:t> </a:t>
            </a:r>
            <a:r>
              <a:rPr lang="es" sz="2100">
                <a:solidFill>
                  <a:schemeClr val="dk1"/>
                </a:solidFill>
              </a:rPr>
              <a:t> </a:t>
            </a:r>
            <a:endParaRPr sz="2200"/>
          </a:p>
        </p:txBody>
      </p:sp>
      <p:cxnSp>
        <p:nvCxnSpPr>
          <p:cNvPr id="377" name="Google Shape;377;p47"/>
          <p:cNvCxnSpPr/>
          <p:nvPr/>
        </p:nvCxnSpPr>
        <p:spPr>
          <a:xfrm rot="10800000">
            <a:off x="2190300" y="2213000"/>
            <a:ext cx="217500" cy="0"/>
          </a:xfrm>
          <a:prstGeom prst="straightConnector1">
            <a:avLst/>
          </a:prstGeom>
          <a:noFill/>
          <a:ln cap="flat" cmpd="sng" w="19050">
            <a:solidFill>
              <a:schemeClr val="dk1"/>
            </a:solidFill>
            <a:prstDash val="solid"/>
            <a:round/>
            <a:headEnd len="med" w="med" type="none"/>
            <a:tailEnd len="med" w="med" type="none"/>
          </a:ln>
        </p:spPr>
      </p:cxnSp>
      <p:sp>
        <p:nvSpPr>
          <p:cNvPr id="378" name="Google Shape;378;p47"/>
          <p:cNvSpPr txBox="1"/>
          <p:nvPr/>
        </p:nvSpPr>
        <p:spPr>
          <a:xfrm>
            <a:off x="1349690" y="3227440"/>
            <a:ext cx="1118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i=1</a:t>
            </a:r>
            <a:endParaRPr sz="1200"/>
          </a:p>
        </p:txBody>
      </p:sp>
      <p:sp>
        <p:nvSpPr>
          <p:cNvPr id="379" name="Google Shape;379;p47"/>
          <p:cNvSpPr txBox="1"/>
          <p:nvPr/>
        </p:nvSpPr>
        <p:spPr>
          <a:xfrm>
            <a:off x="1398000" y="2732478"/>
            <a:ext cx="51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n</a:t>
            </a:r>
            <a:endParaRPr sz="1200"/>
          </a:p>
        </p:txBody>
      </p:sp>
      <p:sp>
        <p:nvSpPr>
          <p:cNvPr id="380" name="Google Shape;380;p47"/>
          <p:cNvSpPr txBox="1"/>
          <p:nvPr/>
        </p:nvSpPr>
        <p:spPr>
          <a:xfrm>
            <a:off x="1349700" y="2936525"/>
            <a:ext cx="2300100" cy="54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00">
                <a:solidFill>
                  <a:schemeClr val="dk1"/>
                </a:solidFill>
              </a:rPr>
              <a:t>Σ ε</a:t>
            </a:r>
            <a:r>
              <a:rPr lang="es" sz="2000">
                <a:solidFill>
                  <a:schemeClr val="dk1"/>
                </a:solidFill>
              </a:rPr>
              <a:t>i</a:t>
            </a:r>
            <a:r>
              <a:rPr baseline="30000" lang="es" sz="2317">
                <a:solidFill>
                  <a:schemeClr val="dk1"/>
                </a:solidFill>
              </a:rPr>
              <a:t>2</a:t>
            </a:r>
            <a:r>
              <a:rPr lang="es" sz="2100">
                <a:solidFill>
                  <a:schemeClr val="dk1"/>
                </a:solidFill>
              </a:rPr>
              <a:t> </a:t>
            </a:r>
            <a:r>
              <a:rPr lang="es" sz="2200">
                <a:solidFill>
                  <a:schemeClr val="dk1"/>
                </a:solidFill>
              </a:rPr>
              <a:t> </a:t>
            </a:r>
            <a:endParaRPr sz="2300"/>
          </a:p>
        </p:txBody>
      </p:sp>
      <p:sp>
        <p:nvSpPr>
          <p:cNvPr id="381" name="Google Shape;381;p47"/>
          <p:cNvSpPr txBox="1"/>
          <p:nvPr/>
        </p:nvSpPr>
        <p:spPr>
          <a:xfrm>
            <a:off x="439050" y="3825875"/>
            <a:ext cx="3000000" cy="46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17">
                <a:solidFill>
                  <a:schemeClr val="dk1"/>
                </a:solidFill>
                <a:latin typeface="Poppins"/>
                <a:ea typeface="Poppins"/>
                <a:cs typeface="Poppins"/>
                <a:sym typeface="Poppins"/>
              </a:rPr>
              <a:t>SCE = </a:t>
            </a:r>
            <a:endParaRPr/>
          </a:p>
        </p:txBody>
      </p:sp>
      <p:sp>
        <p:nvSpPr>
          <p:cNvPr id="382" name="Google Shape;382;p47"/>
          <p:cNvSpPr txBox="1"/>
          <p:nvPr/>
        </p:nvSpPr>
        <p:spPr>
          <a:xfrm>
            <a:off x="1225190" y="4088215"/>
            <a:ext cx="1118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i=1</a:t>
            </a:r>
            <a:endParaRPr sz="1200"/>
          </a:p>
        </p:txBody>
      </p:sp>
      <p:sp>
        <p:nvSpPr>
          <p:cNvPr id="383" name="Google Shape;383;p47"/>
          <p:cNvSpPr txBox="1"/>
          <p:nvPr/>
        </p:nvSpPr>
        <p:spPr>
          <a:xfrm>
            <a:off x="1273500" y="3593253"/>
            <a:ext cx="5169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 sz="1600">
                <a:solidFill>
                  <a:schemeClr val="dk1"/>
                </a:solidFill>
              </a:rPr>
              <a:t>n</a:t>
            </a:r>
            <a:endParaRPr sz="1200"/>
          </a:p>
        </p:txBody>
      </p:sp>
      <p:sp>
        <p:nvSpPr>
          <p:cNvPr id="384" name="Google Shape;384;p47"/>
          <p:cNvSpPr txBox="1"/>
          <p:nvPr/>
        </p:nvSpPr>
        <p:spPr>
          <a:xfrm>
            <a:off x="1225200" y="3797300"/>
            <a:ext cx="2300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200">
                <a:solidFill>
                  <a:schemeClr val="dk1"/>
                </a:solidFill>
              </a:rPr>
              <a:t>Σ </a:t>
            </a:r>
            <a:r>
              <a:rPr lang="es" sz="2100">
                <a:solidFill>
                  <a:schemeClr val="dk1"/>
                </a:solidFill>
              </a:rPr>
              <a:t>[</a:t>
            </a:r>
            <a:r>
              <a:rPr lang="es" sz="2100">
                <a:solidFill>
                  <a:schemeClr val="dk1"/>
                </a:solidFill>
              </a:rPr>
              <a:t>β</a:t>
            </a:r>
            <a:r>
              <a:rPr lang="es" sz="1700">
                <a:solidFill>
                  <a:schemeClr val="dk1"/>
                </a:solidFill>
              </a:rPr>
              <a:t>1</a:t>
            </a:r>
            <a:r>
              <a:rPr lang="es" sz="2100">
                <a:solidFill>
                  <a:schemeClr val="dk1"/>
                </a:solidFill>
              </a:rPr>
              <a:t>(X</a:t>
            </a:r>
            <a:r>
              <a:rPr lang="es" sz="1800">
                <a:solidFill>
                  <a:schemeClr val="dk1"/>
                </a:solidFill>
              </a:rPr>
              <a:t>i</a:t>
            </a:r>
            <a:r>
              <a:rPr lang="es" sz="2100">
                <a:solidFill>
                  <a:schemeClr val="dk1"/>
                </a:solidFill>
              </a:rPr>
              <a:t> - X)]</a:t>
            </a:r>
            <a:r>
              <a:rPr baseline="30000" lang="es" sz="2117">
                <a:solidFill>
                  <a:schemeClr val="dk1"/>
                </a:solidFill>
              </a:rPr>
              <a:t>2</a:t>
            </a:r>
            <a:r>
              <a:rPr lang="es" sz="2100">
                <a:solidFill>
                  <a:schemeClr val="dk1"/>
                </a:solidFill>
              </a:rPr>
              <a:t> </a:t>
            </a:r>
            <a:r>
              <a:rPr lang="es" sz="2200">
                <a:solidFill>
                  <a:schemeClr val="dk1"/>
                </a:solidFill>
              </a:rPr>
              <a:t> </a:t>
            </a:r>
            <a:endParaRPr sz="2300"/>
          </a:p>
        </p:txBody>
      </p:sp>
      <p:cxnSp>
        <p:nvCxnSpPr>
          <p:cNvPr id="385" name="Google Shape;385;p47"/>
          <p:cNvCxnSpPr/>
          <p:nvPr/>
        </p:nvCxnSpPr>
        <p:spPr>
          <a:xfrm rot="10800000">
            <a:off x="2509775" y="3911500"/>
            <a:ext cx="178500" cy="0"/>
          </a:xfrm>
          <a:prstGeom prst="straightConnector1">
            <a:avLst/>
          </a:prstGeom>
          <a:noFill/>
          <a:ln cap="flat" cmpd="sng" w="19050">
            <a:solidFill>
              <a:schemeClr val="dk1"/>
            </a:solidFill>
            <a:prstDash val="solid"/>
            <a:round/>
            <a:headEnd len="med" w="med" type="none"/>
            <a:tailEnd len="med" w="med" type="none"/>
          </a:ln>
        </p:spPr>
      </p:cxnSp>
      <p:sp>
        <p:nvSpPr>
          <p:cNvPr id="386" name="Google Shape;386;p47"/>
          <p:cNvSpPr txBox="1"/>
          <p:nvPr/>
        </p:nvSpPr>
        <p:spPr>
          <a:xfrm>
            <a:off x="417600" y="4535450"/>
            <a:ext cx="3762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1"/>
                </a:solidFill>
              </a:rPr>
              <a:t>SCT = SCR + SCE</a:t>
            </a:r>
            <a:endParaRPr sz="1900"/>
          </a:p>
        </p:txBody>
      </p:sp>
      <p:cxnSp>
        <p:nvCxnSpPr>
          <p:cNvPr id="387" name="Google Shape;387;p47"/>
          <p:cNvCxnSpPr/>
          <p:nvPr/>
        </p:nvCxnSpPr>
        <p:spPr>
          <a:xfrm>
            <a:off x="2806125" y="4766775"/>
            <a:ext cx="888300" cy="0"/>
          </a:xfrm>
          <a:prstGeom prst="straightConnector1">
            <a:avLst/>
          </a:prstGeom>
          <a:noFill/>
          <a:ln cap="flat" cmpd="sng" w="9525">
            <a:solidFill>
              <a:schemeClr val="dk2"/>
            </a:solidFill>
            <a:prstDash val="solid"/>
            <a:round/>
            <a:headEnd len="med" w="med" type="none"/>
            <a:tailEnd len="med" w="med" type="stealth"/>
          </a:ln>
        </p:spPr>
      </p:cxnSp>
      <p:sp>
        <p:nvSpPr>
          <p:cNvPr id="388" name="Google Shape;388;p47"/>
          <p:cNvSpPr txBox="1"/>
          <p:nvPr/>
        </p:nvSpPr>
        <p:spPr>
          <a:xfrm>
            <a:off x="3846600" y="4511000"/>
            <a:ext cx="3762900" cy="51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1"/>
                </a:solidFill>
              </a:rPr>
              <a:t>R</a:t>
            </a:r>
            <a:r>
              <a:rPr b="1" baseline="30000" lang="es" sz="2117">
                <a:solidFill>
                  <a:schemeClr val="dk1"/>
                </a:solidFill>
              </a:rPr>
              <a:t>2</a:t>
            </a:r>
            <a:r>
              <a:rPr b="1" lang="es" sz="1800">
                <a:solidFill>
                  <a:schemeClr val="dk1"/>
                </a:solidFill>
              </a:rPr>
              <a:t> = SCE / SCT</a:t>
            </a:r>
            <a:endParaRPr b="1" sz="1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8"/>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Supuestos de MCC para que los estimadores sean “buenos”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394" name="Google Shape;394;p48"/>
          <p:cNvSpPr txBox="1"/>
          <p:nvPr/>
        </p:nvSpPr>
        <p:spPr>
          <a:xfrm>
            <a:off x="102450" y="626250"/>
            <a:ext cx="9144000" cy="28167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s" sz="1700">
                <a:solidFill>
                  <a:schemeClr val="dk1"/>
                </a:solidFill>
              </a:rPr>
              <a:t>Linealidad. Supone que una recta sea un buen ajuste para los datos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s" sz="1700">
                <a:solidFill>
                  <a:schemeClr val="dk1"/>
                </a:solidFill>
              </a:rPr>
              <a:t>Exogeneidad. E(ε|X) = 0. No debe haber nada en el término de error que dependa de X. Para cualquier nivel dado de X, el error debe ser en promedio = 0, valores de Y por encima y por debajo del valor esperado pero no una desviación sistemática. Ejemplo: relación entre la red de contactos (error) y los años de experiencia.</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s" sz="1700">
                <a:solidFill>
                  <a:schemeClr val="dk1"/>
                </a:solidFill>
              </a:rPr>
              <a:t>Homocedasticidad. Var(</a:t>
            </a:r>
            <a:r>
              <a:rPr lang="es" sz="1700">
                <a:solidFill>
                  <a:schemeClr val="dk1"/>
                </a:solidFill>
              </a:rPr>
              <a:t>ε|X</a:t>
            </a:r>
            <a:r>
              <a:rPr lang="es" sz="1600">
                <a:solidFill>
                  <a:schemeClr val="dk1"/>
                </a:solidFill>
              </a:rPr>
              <a:t>i</a:t>
            </a:r>
            <a:r>
              <a:rPr lang="es" sz="1700">
                <a:solidFill>
                  <a:schemeClr val="dk1"/>
                </a:solidFill>
              </a:rPr>
              <a:t>) = σ². Ejemplo: gastos según nivel de ingreso (heterocedasticidad)</a:t>
            </a:r>
            <a:endParaRPr sz="1700">
              <a:solidFill>
                <a:schemeClr val="dk1"/>
              </a:solidFill>
            </a:endParaRPr>
          </a:p>
          <a:p>
            <a:pPr indent="0" lvl="0" marL="0" rtl="0" algn="l">
              <a:spcBef>
                <a:spcPts val="0"/>
              </a:spcBef>
              <a:spcAft>
                <a:spcPts val="0"/>
              </a:spcAft>
              <a:buNone/>
            </a:pPr>
            <a:r>
              <a:t/>
            </a:r>
            <a:endParaRPr sz="1800">
              <a:solidFill>
                <a:schemeClr val="dk1"/>
              </a:solidFill>
            </a:endParaRPr>
          </a:p>
        </p:txBody>
      </p:sp>
      <p:pic>
        <p:nvPicPr>
          <p:cNvPr id="395" name="Google Shape;395;p48"/>
          <p:cNvPicPr preferRelativeResize="0"/>
          <p:nvPr/>
        </p:nvPicPr>
        <p:blipFill>
          <a:blip r:embed="rId3">
            <a:alphaModFix/>
          </a:blip>
          <a:stretch>
            <a:fillRect/>
          </a:stretch>
        </p:blipFill>
        <p:spPr>
          <a:xfrm>
            <a:off x="2213438" y="3322500"/>
            <a:ext cx="4610574" cy="1692575"/>
          </a:xfrm>
          <a:prstGeom prst="rect">
            <a:avLst/>
          </a:prstGeom>
          <a:noFill/>
          <a:ln>
            <a:noFill/>
          </a:ln>
        </p:spPr>
      </p:pic>
      <p:sp>
        <p:nvSpPr>
          <p:cNvPr id="396" name="Google Shape;396;p48"/>
          <p:cNvSpPr txBox="1"/>
          <p:nvPr/>
        </p:nvSpPr>
        <p:spPr>
          <a:xfrm>
            <a:off x="2635350" y="4890425"/>
            <a:ext cx="1241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dk1"/>
                </a:solidFill>
              </a:rPr>
              <a:t>Homocedasticidad</a:t>
            </a:r>
            <a:endParaRPr sz="600"/>
          </a:p>
        </p:txBody>
      </p:sp>
      <p:sp>
        <p:nvSpPr>
          <p:cNvPr id="397" name="Google Shape;397;p48"/>
          <p:cNvSpPr txBox="1"/>
          <p:nvPr/>
        </p:nvSpPr>
        <p:spPr>
          <a:xfrm>
            <a:off x="5347100" y="4881000"/>
            <a:ext cx="1934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000">
                <a:solidFill>
                  <a:schemeClr val="dk1"/>
                </a:solidFill>
              </a:rPr>
              <a:t>Hetero</a:t>
            </a:r>
            <a:r>
              <a:rPr lang="es" sz="1000">
                <a:solidFill>
                  <a:schemeClr val="dk1"/>
                </a:solidFill>
              </a:rPr>
              <a:t>cedasticidad</a:t>
            </a:r>
            <a:endParaRPr sz="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9"/>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Supuestos de MCC para que los estimadores sean “buenos”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03" name="Google Shape;403;p49"/>
          <p:cNvSpPr txBox="1"/>
          <p:nvPr/>
        </p:nvSpPr>
        <p:spPr>
          <a:xfrm>
            <a:off x="-50700" y="647700"/>
            <a:ext cx="9144000" cy="3848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s" sz="1700">
                <a:solidFill>
                  <a:schemeClr val="dk1"/>
                </a:solidFill>
              </a:rPr>
              <a:t>Ausencia de correlación serial entre errores. Cov(εi, εh) = 0. El error en una observación i no guarda relación con el de otra observación h.</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336550" lvl="0" marL="457200" rtl="0" algn="l">
              <a:spcBef>
                <a:spcPts val="0"/>
              </a:spcBef>
              <a:spcAft>
                <a:spcPts val="0"/>
              </a:spcAft>
              <a:buClr>
                <a:schemeClr val="dk1"/>
              </a:buClr>
              <a:buSzPts val="1700"/>
              <a:buChar char="●"/>
            </a:pPr>
            <a:r>
              <a:rPr lang="es" sz="1700">
                <a:solidFill>
                  <a:schemeClr val="dk1"/>
                </a:solidFill>
              </a:rPr>
              <a:t>No multicolinealidad. No debe existir dependencia lineal entre variables explicativas. Por ejemplo: ingreso y salario.</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0" lvl="0" marL="457200" rtl="0" algn="l">
              <a:spcBef>
                <a:spcPts val="0"/>
              </a:spcBef>
              <a:spcAft>
                <a:spcPts val="0"/>
              </a:spcAft>
              <a:buNone/>
            </a:pPr>
            <a:r>
              <a:t/>
            </a:r>
            <a:endParaRPr sz="1700">
              <a:solidFill>
                <a:schemeClr val="dk1"/>
              </a:solidFill>
            </a:endParaRPr>
          </a:p>
          <a:p>
            <a:pPr indent="0" lvl="0" marL="457200" rtl="0" algn="l">
              <a:spcBef>
                <a:spcPts val="0"/>
              </a:spcBef>
              <a:spcAft>
                <a:spcPts val="0"/>
              </a:spcAft>
              <a:buNone/>
            </a:pPr>
            <a:r>
              <a:rPr lang="es" sz="1700">
                <a:solidFill>
                  <a:schemeClr val="dk1"/>
                </a:solidFill>
              </a:rPr>
              <a:t>La violación de estos supuestos produce que los estimadores de MCC no sean eficientes, consistentes e insesgados (“buenos”):</a:t>
            </a:r>
            <a:endParaRPr sz="1700">
              <a:solidFill>
                <a:schemeClr val="dk1"/>
              </a:solidFill>
            </a:endParaRPr>
          </a:p>
          <a:p>
            <a:pPr indent="0" lvl="0" marL="457200" rtl="0" algn="l">
              <a:spcBef>
                <a:spcPts val="0"/>
              </a:spcBef>
              <a:spcAft>
                <a:spcPts val="0"/>
              </a:spcAft>
              <a:buNone/>
            </a:pPr>
            <a:r>
              <a:rPr lang="es" sz="1700">
                <a:solidFill>
                  <a:schemeClr val="dk1"/>
                </a:solidFill>
              </a:rPr>
              <a:t>Eficiencia: su varianza es la menor de entre todos los estimadores.</a:t>
            </a:r>
            <a:endParaRPr sz="1700">
              <a:solidFill>
                <a:schemeClr val="dk1"/>
              </a:solidFill>
            </a:endParaRPr>
          </a:p>
          <a:p>
            <a:pPr indent="0" lvl="0" marL="457200" rtl="0" algn="l">
              <a:spcBef>
                <a:spcPts val="0"/>
              </a:spcBef>
              <a:spcAft>
                <a:spcPts val="0"/>
              </a:spcAft>
              <a:buNone/>
            </a:pPr>
            <a:r>
              <a:rPr lang="es" sz="1700">
                <a:solidFill>
                  <a:schemeClr val="dk1"/>
                </a:solidFill>
              </a:rPr>
              <a:t>Consistencia: a medida que aumenta el tamaño de la muestra, los estimadores de los parámetros se acercan a los valores de los parámetros poblacionales.</a:t>
            </a:r>
            <a:endParaRPr sz="1700">
              <a:solidFill>
                <a:schemeClr val="dk1"/>
              </a:solidFill>
            </a:endParaRPr>
          </a:p>
          <a:p>
            <a:pPr indent="0" lvl="0" marL="457200" rtl="0" algn="l">
              <a:spcBef>
                <a:spcPts val="0"/>
              </a:spcBef>
              <a:spcAft>
                <a:spcPts val="0"/>
              </a:spcAft>
              <a:buNone/>
            </a:pPr>
            <a:r>
              <a:rPr lang="es" sz="1700">
                <a:solidFill>
                  <a:schemeClr val="dk1"/>
                </a:solidFill>
              </a:rPr>
              <a:t>Insesgadez: el valor del parámetro estimado por el modelo coincide con el valor del parámetro estimado. </a:t>
            </a:r>
            <a:endParaRPr sz="1800">
              <a:solidFill>
                <a:schemeClr val="dk1"/>
              </a:solidFill>
            </a:endParaRPr>
          </a:p>
        </p:txBody>
      </p:sp>
      <p:sp>
        <p:nvSpPr>
          <p:cNvPr id="404" name="Google Shape;404;p49"/>
          <p:cNvSpPr txBox="1"/>
          <p:nvPr/>
        </p:nvSpPr>
        <p:spPr>
          <a:xfrm>
            <a:off x="2786025" y="3960400"/>
            <a:ext cx="39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a:t>^</a:t>
            </a:r>
            <a:endParaRPr b="1"/>
          </a:p>
        </p:txBody>
      </p:sp>
      <p:sp>
        <p:nvSpPr>
          <p:cNvPr id="405" name="Google Shape;405;p49"/>
          <p:cNvSpPr txBox="1"/>
          <p:nvPr/>
        </p:nvSpPr>
        <p:spPr>
          <a:xfrm>
            <a:off x="2067700" y="4049400"/>
            <a:ext cx="1510500" cy="446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 sz="1700">
                <a:solidFill>
                  <a:schemeClr val="dk1"/>
                </a:solidFill>
              </a:rPr>
              <a:t>E(β) = β</a:t>
            </a:r>
            <a:endParaRPr b="1" sz="17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0"/>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Supuestos de MCC para que los estimadores sean “buenos”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pic>
        <p:nvPicPr>
          <p:cNvPr id="411" name="Google Shape;411;p50"/>
          <p:cNvPicPr preferRelativeResize="0"/>
          <p:nvPr/>
        </p:nvPicPr>
        <p:blipFill>
          <a:blip r:embed="rId3">
            <a:alphaModFix/>
          </a:blip>
          <a:stretch>
            <a:fillRect/>
          </a:stretch>
        </p:blipFill>
        <p:spPr>
          <a:xfrm>
            <a:off x="1656413" y="626250"/>
            <a:ext cx="5831167" cy="4212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1"/>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Estimación de una regresión lineal simple</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17" name="Google Shape;417;p51"/>
          <p:cNvSpPr txBox="1"/>
          <p:nvPr/>
        </p:nvSpPr>
        <p:spPr>
          <a:xfrm>
            <a:off x="-50700" y="647700"/>
            <a:ext cx="9144000" cy="461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800">
              <a:solidFill>
                <a:schemeClr val="dk1"/>
              </a:solidFill>
            </a:endParaRPr>
          </a:p>
        </p:txBody>
      </p:sp>
      <p:sp>
        <p:nvSpPr>
          <p:cNvPr id="418" name="Google Shape;418;p51"/>
          <p:cNvSpPr txBox="1"/>
          <p:nvPr/>
        </p:nvSpPr>
        <p:spPr>
          <a:xfrm>
            <a:off x="449475" y="1059525"/>
            <a:ext cx="7675800" cy="227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dk1"/>
                </a:solidFill>
              </a:rPr>
              <a:t>¿Qué relación podemos esperar entre las siguientes variables?:</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s" sz="1700">
                <a:solidFill>
                  <a:schemeClr val="dk1"/>
                </a:solidFill>
              </a:rPr>
              <a:t>Autoubicación ideológica. Medida en una escala de izquierda a derecha que va de 1-10.</a:t>
            </a:r>
            <a:endParaRPr sz="1700">
              <a:solidFill>
                <a:schemeClr val="dk1"/>
              </a:solidFill>
            </a:endParaRPr>
          </a:p>
          <a:p>
            <a:pPr indent="0" lvl="0" marL="0" rtl="0" algn="l">
              <a:spcBef>
                <a:spcPts val="0"/>
              </a:spcBef>
              <a:spcAft>
                <a:spcPts val="0"/>
              </a:spcAft>
              <a:buNone/>
            </a:pPr>
            <a:r>
              <a:rPr lang="es" sz="1700">
                <a:solidFill>
                  <a:schemeClr val="dk1"/>
                </a:solidFill>
              </a:rPr>
              <a:t>Grado de importancia asignado a la </a:t>
            </a:r>
            <a:r>
              <a:rPr b="1" lang="es" sz="1700">
                <a:solidFill>
                  <a:schemeClr val="dk1"/>
                </a:solidFill>
              </a:rPr>
              <a:t>corrupción</a:t>
            </a:r>
            <a:r>
              <a:rPr lang="es" sz="1700">
                <a:solidFill>
                  <a:schemeClr val="dk1"/>
                </a:solidFill>
              </a:rPr>
              <a:t> como problema a nivel país. Medida en una escala que va de 1-10.</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rPr lang="es" sz="1700">
                <a:solidFill>
                  <a:schemeClr val="dk1"/>
                </a:solidFill>
              </a:rPr>
              <a:t>¿Cuál podría ser Y y cuál X?</a:t>
            </a:r>
            <a:endParaRPr sz="17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2"/>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Estimación de una regresión lineal simple</a:t>
            </a:r>
            <a:endParaRPr sz="2467">
              <a:latin typeface="Poppins"/>
              <a:ea typeface="Poppins"/>
              <a:cs typeface="Poppins"/>
              <a:sym typeface="Poppins"/>
            </a:endParaRPr>
          </a:p>
          <a:p>
            <a:pPr indent="0" lvl="0" marL="0" rtl="0" algn="l">
              <a:spcBef>
                <a:spcPts val="0"/>
              </a:spcBef>
              <a:spcAft>
                <a:spcPts val="0"/>
              </a:spcAft>
              <a:buNone/>
            </a:pPr>
            <a:r>
              <a:rPr lang="es" sz="2133">
                <a:latin typeface="Poppins"/>
                <a:ea typeface="Poppins"/>
                <a:cs typeface="Poppins"/>
                <a:sym typeface="Poppins"/>
              </a:rPr>
              <a:t>B</a:t>
            </a:r>
            <a:r>
              <a:rPr lang="es" sz="2133">
                <a:latin typeface="Poppins"/>
                <a:ea typeface="Poppins"/>
                <a:cs typeface="Poppins"/>
                <a:sym typeface="Poppins"/>
              </a:rPr>
              <a:t>ase de datos de encuestas a Diputados Nacionales (Argentina, 2022)</a:t>
            </a:r>
            <a:endParaRPr sz="2133">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24" name="Google Shape;424;p52"/>
          <p:cNvSpPr txBox="1"/>
          <p:nvPr/>
        </p:nvSpPr>
        <p:spPr>
          <a:xfrm>
            <a:off x="-50700" y="229025"/>
            <a:ext cx="91440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dk1"/>
              </a:solidFill>
            </a:endParaRPr>
          </a:p>
        </p:txBody>
      </p:sp>
      <p:pic>
        <p:nvPicPr>
          <p:cNvPr id="425" name="Google Shape;425;p52"/>
          <p:cNvPicPr preferRelativeResize="0"/>
          <p:nvPr/>
        </p:nvPicPr>
        <p:blipFill>
          <a:blip r:embed="rId3">
            <a:alphaModFix/>
          </a:blip>
          <a:stretch>
            <a:fillRect/>
          </a:stretch>
        </p:blipFill>
        <p:spPr>
          <a:xfrm>
            <a:off x="708925" y="1019925"/>
            <a:ext cx="7339579" cy="3729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Estimación de una regresión lineal simple</a:t>
            </a:r>
            <a:endParaRPr sz="2467">
              <a:latin typeface="Poppins"/>
              <a:ea typeface="Poppins"/>
              <a:cs typeface="Poppins"/>
              <a:sym typeface="Poppins"/>
            </a:endParaRPr>
          </a:p>
          <a:p>
            <a:pPr indent="0" lvl="0" marL="0" rtl="0" algn="l">
              <a:spcBef>
                <a:spcPts val="0"/>
              </a:spcBef>
              <a:spcAft>
                <a:spcPts val="0"/>
              </a:spcAft>
              <a:buNone/>
            </a:pPr>
            <a:r>
              <a:rPr lang="es" sz="2133">
                <a:latin typeface="Poppins"/>
                <a:ea typeface="Poppins"/>
                <a:cs typeface="Poppins"/>
                <a:sym typeface="Poppins"/>
              </a:rPr>
              <a:t>Base de datos de encuestas a Diputados Nacionales (Argentina, 2022)</a:t>
            </a:r>
            <a:endParaRPr sz="2133">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31" name="Google Shape;431;p53"/>
          <p:cNvSpPr txBox="1"/>
          <p:nvPr/>
        </p:nvSpPr>
        <p:spPr>
          <a:xfrm>
            <a:off x="-50700" y="229025"/>
            <a:ext cx="91440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dk1"/>
              </a:solidFill>
            </a:endParaRPr>
          </a:p>
        </p:txBody>
      </p:sp>
      <p:pic>
        <p:nvPicPr>
          <p:cNvPr id="432" name="Google Shape;432;p53"/>
          <p:cNvPicPr preferRelativeResize="0"/>
          <p:nvPr/>
        </p:nvPicPr>
        <p:blipFill>
          <a:blip r:embed="rId3">
            <a:alphaModFix/>
          </a:blip>
          <a:stretch>
            <a:fillRect/>
          </a:stretch>
        </p:blipFill>
        <p:spPr>
          <a:xfrm>
            <a:off x="938800" y="821475"/>
            <a:ext cx="7338137" cy="4212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4"/>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Estimación de una regresión lineal simple</a:t>
            </a:r>
            <a:endParaRPr sz="2467">
              <a:latin typeface="Poppins"/>
              <a:ea typeface="Poppins"/>
              <a:cs typeface="Poppins"/>
              <a:sym typeface="Poppins"/>
            </a:endParaRPr>
          </a:p>
          <a:p>
            <a:pPr indent="0" lvl="0" marL="0" rtl="0" algn="l">
              <a:spcBef>
                <a:spcPts val="0"/>
              </a:spcBef>
              <a:spcAft>
                <a:spcPts val="0"/>
              </a:spcAft>
              <a:buNone/>
            </a:pPr>
            <a:r>
              <a:rPr lang="es" sz="2133">
                <a:latin typeface="Poppins"/>
                <a:ea typeface="Poppins"/>
                <a:cs typeface="Poppins"/>
                <a:sym typeface="Poppins"/>
              </a:rPr>
              <a:t>Base de datos de encuestas a Diputados Nacionales (Argentina, 2022)</a:t>
            </a:r>
            <a:endParaRPr sz="2133">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38" name="Google Shape;438;p54"/>
          <p:cNvSpPr txBox="1"/>
          <p:nvPr/>
        </p:nvSpPr>
        <p:spPr>
          <a:xfrm>
            <a:off x="-50700" y="229025"/>
            <a:ext cx="91440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dk1"/>
              </a:solidFill>
            </a:endParaRPr>
          </a:p>
        </p:txBody>
      </p:sp>
      <p:pic>
        <p:nvPicPr>
          <p:cNvPr id="439" name="Google Shape;439;p54"/>
          <p:cNvPicPr preferRelativeResize="0"/>
          <p:nvPr/>
        </p:nvPicPr>
        <p:blipFill>
          <a:blip r:embed="rId3">
            <a:alphaModFix/>
          </a:blip>
          <a:stretch>
            <a:fillRect/>
          </a:stretch>
        </p:blipFill>
        <p:spPr>
          <a:xfrm>
            <a:off x="152400" y="1485000"/>
            <a:ext cx="8839197" cy="197703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5"/>
          <p:cNvSpPr txBox="1"/>
          <p:nvPr>
            <p:ph type="title"/>
          </p:nvPr>
        </p:nvSpPr>
        <p:spPr>
          <a:xfrm>
            <a:off x="311700" y="53550"/>
            <a:ext cx="8877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sz="2467">
                <a:latin typeface="Poppins"/>
                <a:ea typeface="Poppins"/>
                <a:cs typeface="Poppins"/>
                <a:sym typeface="Poppins"/>
              </a:rPr>
              <a:t>Estimación de una regresión lineal simple</a:t>
            </a:r>
            <a:endParaRPr sz="2467">
              <a:latin typeface="Poppins"/>
              <a:ea typeface="Poppins"/>
              <a:cs typeface="Poppins"/>
              <a:sym typeface="Poppins"/>
            </a:endParaRPr>
          </a:p>
          <a:p>
            <a:pPr indent="0" lvl="0" marL="0" rtl="0" algn="l">
              <a:spcBef>
                <a:spcPts val="0"/>
              </a:spcBef>
              <a:spcAft>
                <a:spcPts val="0"/>
              </a:spcAft>
              <a:buNone/>
            </a:pPr>
            <a:r>
              <a:rPr lang="es" sz="2133">
                <a:latin typeface="Poppins"/>
                <a:ea typeface="Poppins"/>
                <a:cs typeface="Poppins"/>
                <a:sym typeface="Poppins"/>
              </a:rPr>
              <a:t>Base de datos de encuestas a Diputados Nacionales (Argentina, 2022)</a:t>
            </a:r>
            <a:endParaRPr sz="2133">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t/>
            </a:r>
            <a:endParaRPr sz="1844">
              <a:latin typeface="Poppins"/>
              <a:ea typeface="Poppins"/>
              <a:cs typeface="Poppins"/>
              <a:sym typeface="Poppins"/>
            </a:endParaRPr>
          </a:p>
        </p:txBody>
      </p:sp>
      <p:sp>
        <p:nvSpPr>
          <p:cNvPr id="445" name="Google Shape;445;p55"/>
          <p:cNvSpPr txBox="1"/>
          <p:nvPr/>
        </p:nvSpPr>
        <p:spPr>
          <a:xfrm>
            <a:off x="-50700" y="229025"/>
            <a:ext cx="9144000" cy="38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00">
              <a:solidFill>
                <a:schemeClr val="dk1"/>
              </a:solidFill>
            </a:endParaRPr>
          </a:p>
        </p:txBody>
      </p:sp>
      <p:pic>
        <p:nvPicPr>
          <p:cNvPr id="446" name="Google Shape;446;p55"/>
          <p:cNvPicPr preferRelativeResize="0"/>
          <p:nvPr/>
        </p:nvPicPr>
        <p:blipFill>
          <a:blip r:embed="rId3">
            <a:alphaModFix/>
          </a:blip>
          <a:stretch>
            <a:fillRect/>
          </a:stretch>
        </p:blipFill>
        <p:spPr>
          <a:xfrm>
            <a:off x="1404550" y="842850"/>
            <a:ext cx="6092450" cy="4212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