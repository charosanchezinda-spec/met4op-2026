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Poppi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italic.fntdata"/><Relationship Id="rId20" Type="http://schemas.openxmlformats.org/officeDocument/2006/relationships/slide" Target="slides/slide15.xml"/><Relationship Id="rId41" Type="http://schemas.openxmlformats.org/officeDocument/2006/relationships/font" Target="fonts/Poppins-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Poppins-bold.fntdata"/><Relationship Id="rId16" Type="http://schemas.openxmlformats.org/officeDocument/2006/relationships/slide" Target="slides/slide11.xml"/><Relationship Id="rId38" Type="http://schemas.openxmlformats.org/officeDocument/2006/relationships/font" Target="fonts/Poppins-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00dc0c91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00dc0c91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00dc0c91f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00dc0c91f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65014e165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65014e165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00dc0c91f1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00dc0c91f1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65014e165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65014e165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65014e165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65014e165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00dc0c91f1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00dc0c91f1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00dc0c91f1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00dc0c91f1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00dc0c91f1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00dc0c91f1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00dc0c91f1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00dc0c91f1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00dc0c91f1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00dc0c91f1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00dc0c91f1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00dc0c91f1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79f20246ae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79f20246ae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79f20246ae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79f20246ae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79f20246ae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79f20246ae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79f20246ae_1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79f20246ae_1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79f20246ae_1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79f20246ae_1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79f20246ae_1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79f20246ae_1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79f20246ae_1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79f20246ae_1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79f20246ae_1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79f20246ae_1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79f20246ae_1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79f20246ae_1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79f20246ae_1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79f20246ae_1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79f20246ae_1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79f20246ae_1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79f20246a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79f20246a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79f20246ae_3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379f20246ae_3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79f20246ae_3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79f20246ae_3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79f20246ae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79f20246ae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79f20246ae_3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79f20246ae_3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79f20246ae_3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79f20246ae_3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79f20246ae_3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379f20246ae_3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79f20246ae_3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379f20246ae_3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79f20246ae_3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79f20246ae_3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3" name="Shape 53"/>
        <p:cNvGrpSpPr/>
        <p:nvPr/>
      </p:nvGrpSpPr>
      <p:grpSpPr>
        <a:xfrm>
          <a:off x="0" y="0"/>
          <a:ext cx="0" cy="0"/>
          <a:chOff x="0" y="0"/>
          <a:chExt cx="0" cy="0"/>
        </a:xfrm>
      </p:grpSpPr>
      <p:sp>
        <p:nvSpPr>
          <p:cNvPr id="54" name="Google Shape;54;p13"/>
          <p:cNvSpPr txBox="1"/>
          <p:nvPr>
            <p:ph type="title"/>
          </p:nvPr>
        </p:nvSpPr>
        <p:spPr>
          <a:xfrm>
            <a:off x="463525" y="280575"/>
            <a:ext cx="8612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Poppins"/>
                <a:ea typeface="Poppins"/>
                <a:cs typeface="Poppins"/>
                <a:sym typeface="Poppins"/>
              </a:rPr>
              <a:t>Por qué es importante tener una noción de combinatoria</a:t>
            </a:r>
            <a:endParaRPr>
              <a:latin typeface="Poppins"/>
              <a:ea typeface="Poppins"/>
              <a:cs typeface="Poppins"/>
              <a:sym typeface="Poppins"/>
            </a:endParaRPr>
          </a:p>
        </p:txBody>
      </p:sp>
      <p:sp>
        <p:nvSpPr>
          <p:cNvPr id="55" name="Google Shape;55;p1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308610" lvl="0" marL="457200" rtl="0" algn="l">
              <a:spcBef>
                <a:spcPts val="0"/>
              </a:spcBef>
              <a:spcAft>
                <a:spcPts val="0"/>
              </a:spcAft>
              <a:buSzPct val="100000"/>
              <a:buFont typeface="Poppins"/>
              <a:buChar char="●"/>
            </a:pPr>
            <a:r>
              <a:rPr lang="es">
                <a:highlight>
                  <a:schemeClr val="accent6"/>
                </a:highlight>
                <a:latin typeface="Poppins"/>
                <a:ea typeface="Poppins"/>
                <a:cs typeface="Poppins"/>
                <a:sym typeface="Poppins"/>
              </a:rPr>
              <a:t>Cálculo de probabilidades:</a:t>
            </a:r>
            <a:r>
              <a:rPr lang="es">
                <a:latin typeface="Poppins"/>
                <a:ea typeface="Poppins"/>
                <a:cs typeface="Poppins"/>
                <a:sym typeface="Poppins"/>
              </a:rPr>
              <a:t> Para determinar probabilidades, a menudo es necesario contar el número de resultados posibles. La combinatoria proporciona las herramientas para calcular de manera eficiente cuántos resultados diferentes se pueden obtener en un experimento (por ejemplo, lanzar dados, seleccionar cartas o formar grupos).</a:t>
            </a:r>
            <a:endParaRPr>
              <a:latin typeface="Poppins"/>
              <a:ea typeface="Poppins"/>
              <a:cs typeface="Poppins"/>
              <a:sym typeface="Poppins"/>
            </a:endParaRPr>
          </a:p>
          <a:p>
            <a:pPr indent="-308610" lvl="0" marL="457200" rtl="0" algn="l">
              <a:spcBef>
                <a:spcPts val="0"/>
              </a:spcBef>
              <a:spcAft>
                <a:spcPts val="0"/>
              </a:spcAft>
              <a:buSzPct val="100000"/>
              <a:buFont typeface="Poppins"/>
              <a:buChar char="●"/>
            </a:pPr>
            <a:r>
              <a:rPr lang="es">
                <a:highlight>
                  <a:schemeClr val="accent6"/>
                </a:highlight>
                <a:latin typeface="Poppins"/>
                <a:ea typeface="Poppins"/>
                <a:cs typeface="Poppins"/>
                <a:sym typeface="Poppins"/>
              </a:rPr>
              <a:t>Eventos complejos:</a:t>
            </a:r>
            <a:r>
              <a:rPr lang="es">
                <a:latin typeface="Poppins"/>
                <a:ea typeface="Poppins"/>
                <a:cs typeface="Poppins"/>
                <a:sym typeface="Poppins"/>
              </a:rPr>
              <a:t> Muchos problemas de probabilidad involucran eventos complejos donde se deben considerar diferentes formas de combinar elementos (por ejemplo, en cuántas maneras se pueden elegir equipos de un conjunto mayor o formar combinaciones ganadoras). La combinatoria te ayuda a descomponer estos problemas.</a:t>
            </a:r>
            <a:endParaRPr>
              <a:latin typeface="Poppins"/>
              <a:ea typeface="Poppins"/>
              <a:cs typeface="Poppins"/>
              <a:sym typeface="Poppins"/>
            </a:endParaRPr>
          </a:p>
          <a:p>
            <a:pPr indent="-308610" lvl="0" marL="457200" rtl="0" algn="l">
              <a:spcBef>
                <a:spcPts val="0"/>
              </a:spcBef>
              <a:spcAft>
                <a:spcPts val="0"/>
              </a:spcAft>
              <a:buSzPct val="100000"/>
              <a:buFont typeface="Poppins"/>
              <a:buChar char="●"/>
            </a:pPr>
            <a:r>
              <a:rPr lang="es">
                <a:highlight>
                  <a:schemeClr val="accent6"/>
                </a:highlight>
                <a:latin typeface="Poppins"/>
                <a:ea typeface="Poppins"/>
                <a:cs typeface="Poppins"/>
                <a:sym typeface="Poppins"/>
              </a:rPr>
              <a:t>Distribuciones probabilísticas: </a:t>
            </a:r>
            <a:r>
              <a:rPr lang="es">
                <a:latin typeface="Poppins"/>
                <a:ea typeface="Poppins"/>
                <a:cs typeface="Poppins"/>
                <a:sym typeface="Poppins"/>
              </a:rPr>
              <a:t>Algunas distribuciones de probabilidad, como la binomial, la hipergeométrica o la de Poisson, están directamente relacionadas con conceptos combinatorios. Entender cómo funcionan estos modelos implica conocer cómo se cuentan combinaciones y permutaciones.</a:t>
            </a:r>
            <a:endParaRPr>
              <a:latin typeface="Poppins"/>
              <a:ea typeface="Poppins"/>
              <a:cs typeface="Poppins"/>
              <a:sym typeface="Poppins"/>
            </a:endParaRPr>
          </a:p>
          <a:p>
            <a:pPr indent="-308610" lvl="0" marL="457200" rtl="0" algn="l">
              <a:spcBef>
                <a:spcPts val="0"/>
              </a:spcBef>
              <a:spcAft>
                <a:spcPts val="0"/>
              </a:spcAft>
              <a:buSzPct val="100000"/>
              <a:buFont typeface="Poppins"/>
              <a:buChar char="●"/>
            </a:pPr>
            <a:r>
              <a:rPr lang="es">
                <a:highlight>
                  <a:schemeClr val="accent6"/>
                </a:highlight>
                <a:latin typeface="Poppins"/>
                <a:ea typeface="Poppins"/>
                <a:cs typeface="Poppins"/>
                <a:sym typeface="Poppins"/>
              </a:rPr>
              <a:t>Espacio muestral:</a:t>
            </a:r>
            <a:r>
              <a:rPr lang="es">
                <a:latin typeface="Poppins"/>
                <a:ea typeface="Poppins"/>
                <a:cs typeface="Poppins"/>
                <a:sym typeface="Poppins"/>
              </a:rPr>
              <a:t> La combinatoria es útil para definir el espacio muestral de un experimento aleatorio, especialmente cuando hay muchas posibilidades. Esto es crucial para aplicar métodos estadísticos que se basan en todas las posibles combinaciones de eventos.</a:t>
            </a:r>
            <a:endParaRPr>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Poppins"/>
                <a:ea typeface="Poppins"/>
                <a:cs typeface="Poppins"/>
                <a:sym typeface="Poppins"/>
              </a:rPr>
              <a:t>Como saber de qué problema hablamos</a:t>
            </a:r>
            <a:endParaRPr>
              <a:latin typeface="Poppins"/>
              <a:ea typeface="Poppins"/>
              <a:cs typeface="Poppins"/>
              <a:sym typeface="Poppins"/>
            </a:endParaRPr>
          </a:p>
        </p:txBody>
      </p:sp>
      <p:sp>
        <p:nvSpPr>
          <p:cNvPr id="61" name="Google Shape;61;p14"/>
          <p:cNvSpPr txBox="1"/>
          <p:nvPr/>
        </p:nvSpPr>
        <p:spPr>
          <a:xfrm>
            <a:off x="381275" y="1809200"/>
            <a:ext cx="1510200" cy="7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rgbClr val="FF0000"/>
                </a:solidFill>
              </a:rPr>
              <a:t>¿importa el orden?</a:t>
            </a:r>
            <a:endParaRPr sz="1800">
              <a:solidFill>
                <a:srgbClr val="FF0000"/>
              </a:solidFill>
            </a:endParaRPr>
          </a:p>
        </p:txBody>
      </p:sp>
      <p:sp>
        <p:nvSpPr>
          <p:cNvPr id="62" name="Google Shape;62;p14"/>
          <p:cNvSpPr txBox="1"/>
          <p:nvPr/>
        </p:nvSpPr>
        <p:spPr>
          <a:xfrm>
            <a:off x="1988500" y="1293350"/>
            <a:ext cx="5382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SI</a:t>
            </a:r>
            <a:endParaRPr sz="1800">
              <a:solidFill>
                <a:schemeClr val="dk2"/>
              </a:solidFill>
            </a:endParaRPr>
          </a:p>
        </p:txBody>
      </p:sp>
      <p:sp>
        <p:nvSpPr>
          <p:cNvPr id="63" name="Google Shape;63;p14"/>
          <p:cNvSpPr txBox="1"/>
          <p:nvPr/>
        </p:nvSpPr>
        <p:spPr>
          <a:xfrm>
            <a:off x="1964200" y="2351250"/>
            <a:ext cx="5868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NO</a:t>
            </a:r>
            <a:endParaRPr sz="1800">
              <a:solidFill>
                <a:schemeClr val="dk2"/>
              </a:solidFill>
            </a:endParaRPr>
          </a:p>
        </p:txBody>
      </p:sp>
      <p:sp>
        <p:nvSpPr>
          <p:cNvPr id="64" name="Google Shape;64;p14"/>
          <p:cNvSpPr txBox="1"/>
          <p:nvPr/>
        </p:nvSpPr>
        <p:spPr>
          <a:xfrm>
            <a:off x="3376850" y="1017725"/>
            <a:ext cx="1413000" cy="80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rgbClr val="FF0000"/>
                </a:solidFill>
              </a:rPr>
              <a:t>¿Todos los elementos?</a:t>
            </a:r>
            <a:endParaRPr sz="1800">
              <a:solidFill>
                <a:srgbClr val="FF0000"/>
              </a:solidFill>
            </a:endParaRPr>
          </a:p>
        </p:txBody>
      </p:sp>
      <p:sp>
        <p:nvSpPr>
          <p:cNvPr id="65" name="Google Shape;65;p14"/>
          <p:cNvSpPr txBox="1"/>
          <p:nvPr/>
        </p:nvSpPr>
        <p:spPr>
          <a:xfrm>
            <a:off x="5639875" y="1272838"/>
            <a:ext cx="5382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SI</a:t>
            </a:r>
            <a:endParaRPr sz="1800">
              <a:solidFill>
                <a:schemeClr val="dk2"/>
              </a:solidFill>
            </a:endParaRPr>
          </a:p>
        </p:txBody>
      </p:sp>
      <p:sp>
        <p:nvSpPr>
          <p:cNvPr id="66" name="Google Shape;66;p14"/>
          <p:cNvSpPr txBox="1"/>
          <p:nvPr/>
        </p:nvSpPr>
        <p:spPr>
          <a:xfrm>
            <a:off x="5553850" y="1916750"/>
            <a:ext cx="6243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NO</a:t>
            </a:r>
            <a:endParaRPr sz="1800">
              <a:solidFill>
                <a:schemeClr val="dk2"/>
              </a:solidFill>
            </a:endParaRPr>
          </a:p>
        </p:txBody>
      </p:sp>
      <p:sp>
        <p:nvSpPr>
          <p:cNvPr id="67" name="Google Shape;67;p14"/>
          <p:cNvSpPr txBox="1"/>
          <p:nvPr/>
        </p:nvSpPr>
        <p:spPr>
          <a:xfrm>
            <a:off x="6855500" y="1211200"/>
            <a:ext cx="1595400" cy="471000"/>
          </a:xfrm>
          <a:prstGeom prst="rect">
            <a:avLst/>
          </a:prstGeom>
          <a:solidFill>
            <a:schemeClr val="accen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Permutación</a:t>
            </a:r>
            <a:endParaRPr sz="1800">
              <a:solidFill>
                <a:schemeClr val="dk1"/>
              </a:solidFill>
            </a:endParaRPr>
          </a:p>
        </p:txBody>
      </p:sp>
      <p:sp>
        <p:nvSpPr>
          <p:cNvPr id="68" name="Google Shape;68;p14"/>
          <p:cNvSpPr txBox="1"/>
          <p:nvPr/>
        </p:nvSpPr>
        <p:spPr>
          <a:xfrm>
            <a:off x="6937700" y="1875650"/>
            <a:ext cx="1195200" cy="471000"/>
          </a:xfrm>
          <a:prstGeom prst="rect">
            <a:avLst/>
          </a:prstGeom>
          <a:solidFill>
            <a:srgbClr val="E0666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Variación</a:t>
            </a:r>
            <a:endParaRPr sz="1800">
              <a:solidFill>
                <a:schemeClr val="dk1"/>
              </a:solidFill>
            </a:endParaRPr>
          </a:p>
        </p:txBody>
      </p:sp>
      <p:cxnSp>
        <p:nvCxnSpPr>
          <p:cNvPr id="69" name="Google Shape;69;p14"/>
          <p:cNvCxnSpPr>
            <a:endCxn id="62" idx="1"/>
          </p:cNvCxnSpPr>
          <p:nvPr/>
        </p:nvCxnSpPr>
        <p:spPr>
          <a:xfrm flipH="1" rot="10800000">
            <a:off x="1412800" y="1487750"/>
            <a:ext cx="575700" cy="351300"/>
          </a:xfrm>
          <a:prstGeom prst="straightConnector1">
            <a:avLst/>
          </a:prstGeom>
          <a:noFill/>
          <a:ln cap="flat" cmpd="sng" w="9525">
            <a:solidFill>
              <a:schemeClr val="dk2"/>
            </a:solidFill>
            <a:prstDash val="solid"/>
            <a:round/>
            <a:headEnd len="med" w="med" type="none"/>
            <a:tailEnd len="med" w="med" type="triangle"/>
          </a:ln>
        </p:spPr>
      </p:cxnSp>
      <p:cxnSp>
        <p:nvCxnSpPr>
          <p:cNvPr id="70" name="Google Shape;70;p14"/>
          <p:cNvCxnSpPr>
            <a:stCxn id="61" idx="2"/>
            <a:endCxn id="63" idx="1"/>
          </p:cNvCxnSpPr>
          <p:nvPr/>
        </p:nvCxnSpPr>
        <p:spPr>
          <a:xfrm>
            <a:off x="1136375" y="2519300"/>
            <a:ext cx="827700" cy="52500"/>
          </a:xfrm>
          <a:prstGeom prst="straightConnector1">
            <a:avLst/>
          </a:prstGeom>
          <a:noFill/>
          <a:ln cap="flat" cmpd="sng" w="9525">
            <a:solidFill>
              <a:schemeClr val="dk2"/>
            </a:solidFill>
            <a:prstDash val="solid"/>
            <a:round/>
            <a:headEnd len="med" w="med" type="none"/>
            <a:tailEnd len="med" w="med" type="triangle"/>
          </a:ln>
        </p:spPr>
      </p:cxnSp>
      <p:cxnSp>
        <p:nvCxnSpPr>
          <p:cNvPr id="71" name="Google Shape;71;p14"/>
          <p:cNvCxnSpPr>
            <a:stCxn id="62" idx="3"/>
            <a:endCxn id="64" idx="1"/>
          </p:cNvCxnSpPr>
          <p:nvPr/>
        </p:nvCxnSpPr>
        <p:spPr>
          <a:xfrm flipH="1" rot="10800000">
            <a:off x="2526700" y="1421450"/>
            <a:ext cx="850200" cy="66300"/>
          </a:xfrm>
          <a:prstGeom prst="straightConnector1">
            <a:avLst/>
          </a:prstGeom>
          <a:noFill/>
          <a:ln cap="flat" cmpd="sng" w="9525">
            <a:solidFill>
              <a:schemeClr val="dk2"/>
            </a:solidFill>
            <a:prstDash val="solid"/>
            <a:round/>
            <a:headEnd len="med" w="med" type="none"/>
            <a:tailEnd len="med" w="med" type="triangle"/>
          </a:ln>
        </p:spPr>
      </p:cxnSp>
      <p:cxnSp>
        <p:nvCxnSpPr>
          <p:cNvPr id="72" name="Google Shape;72;p14"/>
          <p:cNvCxnSpPr>
            <a:stCxn id="64" idx="3"/>
            <a:endCxn id="65" idx="1"/>
          </p:cNvCxnSpPr>
          <p:nvPr/>
        </p:nvCxnSpPr>
        <p:spPr>
          <a:xfrm>
            <a:off x="4789850" y="1421375"/>
            <a:ext cx="849900" cy="45900"/>
          </a:xfrm>
          <a:prstGeom prst="straightConnector1">
            <a:avLst/>
          </a:prstGeom>
          <a:noFill/>
          <a:ln cap="flat" cmpd="sng" w="9525">
            <a:solidFill>
              <a:schemeClr val="dk2"/>
            </a:solidFill>
            <a:prstDash val="solid"/>
            <a:round/>
            <a:headEnd len="med" w="med" type="none"/>
            <a:tailEnd len="med" w="med" type="triangle"/>
          </a:ln>
        </p:spPr>
      </p:cxnSp>
      <p:cxnSp>
        <p:nvCxnSpPr>
          <p:cNvPr id="73" name="Google Shape;73;p14"/>
          <p:cNvCxnSpPr>
            <a:stCxn id="64" idx="3"/>
            <a:endCxn id="66" idx="1"/>
          </p:cNvCxnSpPr>
          <p:nvPr/>
        </p:nvCxnSpPr>
        <p:spPr>
          <a:xfrm>
            <a:off x="4789850" y="1421375"/>
            <a:ext cx="764100" cy="689700"/>
          </a:xfrm>
          <a:prstGeom prst="straightConnector1">
            <a:avLst/>
          </a:prstGeom>
          <a:noFill/>
          <a:ln cap="flat" cmpd="sng" w="9525">
            <a:solidFill>
              <a:schemeClr val="dk2"/>
            </a:solidFill>
            <a:prstDash val="solid"/>
            <a:round/>
            <a:headEnd len="med" w="med" type="none"/>
            <a:tailEnd len="med" w="med" type="triangle"/>
          </a:ln>
        </p:spPr>
      </p:cxnSp>
      <p:cxnSp>
        <p:nvCxnSpPr>
          <p:cNvPr id="74" name="Google Shape;74;p14"/>
          <p:cNvCxnSpPr>
            <a:stCxn id="65" idx="3"/>
            <a:endCxn id="67" idx="1"/>
          </p:cNvCxnSpPr>
          <p:nvPr/>
        </p:nvCxnSpPr>
        <p:spPr>
          <a:xfrm flipH="1" rot="10800000">
            <a:off x="6178075" y="1446838"/>
            <a:ext cx="677400" cy="20400"/>
          </a:xfrm>
          <a:prstGeom prst="straightConnector1">
            <a:avLst/>
          </a:prstGeom>
          <a:noFill/>
          <a:ln cap="flat" cmpd="sng" w="9525">
            <a:solidFill>
              <a:schemeClr val="dk2"/>
            </a:solidFill>
            <a:prstDash val="solid"/>
            <a:round/>
            <a:headEnd len="med" w="med" type="none"/>
            <a:tailEnd len="med" w="med" type="triangle"/>
          </a:ln>
        </p:spPr>
      </p:cxnSp>
      <p:cxnSp>
        <p:nvCxnSpPr>
          <p:cNvPr id="75" name="Google Shape;75;p14"/>
          <p:cNvCxnSpPr>
            <a:stCxn id="66" idx="3"/>
            <a:endCxn id="68" idx="1"/>
          </p:cNvCxnSpPr>
          <p:nvPr/>
        </p:nvCxnSpPr>
        <p:spPr>
          <a:xfrm>
            <a:off x="6178150" y="2111150"/>
            <a:ext cx="759600" cy="0"/>
          </a:xfrm>
          <a:prstGeom prst="straightConnector1">
            <a:avLst/>
          </a:prstGeom>
          <a:noFill/>
          <a:ln cap="flat" cmpd="sng" w="9525">
            <a:solidFill>
              <a:schemeClr val="dk2"/>
            </a:solidFill>
            <a:prstDash val="solid"/>
            <a:round/>
            <a:headEnd len="med" w="med" type="none"/>
            <a:tailEnd len="med" w="med" type="triangle"/>
          </a:ln>
        </p:spPr>
      </p:cxnSp>
      <p:sp>
        <p:nvSpPr>
          <p:cNvPr id="76" name="Google Shape;76;p14"/>
          <p:cNvSpPr txBox="1"/>
          <p:nvPr/>
        </p:nvSpPr>
        <p:spPr>
          <a:xfrm>
            <a:off x="3072650" y="2351250"/>
            <a:ext cx="1551300" cy="4710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t>Combinación</a:t>
            </a:r>
            <a:endParaRPr sz="1800"/>
          </a:p>
        </p:txBody>
      </p:sp>
      <p:cxnSp>
        <p:nvCxnSpPr>
          <p:cNvPr id="77" name="Google Shape;77;p14"/>
          <p:cNvCxnSpPr>
            <a:stCxn id="63" idx="3"/>
            <a:endCxn id="76" idx="1"/>
          </p:cNvCxnSpPr>
          <p:nvPr/>
        </p:nvCxnSpPr>
        <p:spPr>
          <a:xfrm>
            <a:off x="2551000" y="2571750"/>
            <a:ext cx="521700" cy="15000"/>
          </a:xfrm>
          <a:prstGeom prst="straightConnector1">
            <a:avLst/>
          </a:prstGeom>
          <a:noFill/>
          <a:ln cap="flat" cmpd="sng" w="9525">
            <a:solidFill>
              <a:schemeClr val="dk2"/>
            </a:solidFill>
            <a:prstDash val="solid"/>
            <a:round/>
            <a:headEnd len="med" w="med" type="none"/>
            <a:tailEnd len="med" w="med" type="triangle"/>
          </a:ln>
        </p:spPr>
      </p:cxnSp>
      <p:sp>
        <p:nvSpPr>
          <p:cNvPr id="78" name="Google Shape;78;p14"/>
          <p:cNvSpPr txBox="1"/>
          <p:nvPr/>
        </p:nvSpPr>
        <p:spPr>
          <a:xfrm>
            <a:off x="538725" y="3304450"/>
            <a:ext cx="7458000" cy="14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s" sz="2000">
                <a:solidFill>
                  <a:schemeClr val="accent1"/>
                </a:solidFill>
                <a:latin typeface="Poppins"/>
                <a:ea typeface="Poppins"/>
                <a:cs typeface="Poppins"/>
                <a:sym typeface="Poppins"/>
              </a:rPr>
              <a:t>Un equipo de campaña tiene 10 miembros. Se necesitan elegir 3 para recorrer barrios de distinto tamaño</a:t>
            </a:r>
            <a:br>
              <a:rPr lang="es" sz="2000">
                <a:solidFill>
                  <a:schemeClr val="accent1"/>
                </a:solidFill>
                <a:latin typeface="Poppins"/>
                <a:ea typeface="Poppins"/>
                <a:cs typeface="Poppins"/>
                <a:sym typeface="Poppins"/>
              </a:rPr>
            </a:br>
            <a:r>
              <a:rPr lang="es" sz="2000">
                <a:solidFill>
                  <a:schemeClr val="accent1"/>
                </a:solidFill>
                <a:latin typeface="Poppins"/>
                <a:ea typeface="Poppins"/>
                <a:cs typeface="Poppins"/>
                <a:sym typeface="Poppins"/>
              </a:rPr>
              <a:t>(uno grande, uno mediano y uno pequeño). </a:t>
            </a:r>
            <a:br>
              <a:rPr lang="es" sz="2000">
                <a:solidFill>
                  <a:schemeClr val="accent1"/>
                </a:solidFill>
                <a:latin typeface="Poppins"/>
                <a:ea typeface="Poppins"/>
                <a:cs typeface="Poppins"/>
                <a:sym typeface="Poppins"/>
              </a:rPr>
            </a:br>
            <a:r>
              <a:rPr lang="es" sz="2000">
                <a:solidFill>
                  <a:schemeClr val="accent1"/>
                </a:solidFill>
                <a:latin typeface="Poppins"/>
                <a:ea typeface="Poppins"/>
                <a:cs typeface="Poppins"/>
                <a:sym typeface="Poppins"/>
              </a:rPr>
              <a:t>¿De cuántas formas se pueden seleccionar y asignar esos miembros del equipo?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2" name="Shape 82"/>
        <p:cNvGrpSpPr/>
        <p:nvPr/>
      </p:nvGrpSpPr>
      <p:grpSpPr>
        <a:xfrm>
          <a:off x="0" y="0"/>
          <a:ext cx="0" cy="0"/>
          <a:chOff x="0" y="0"/>
          <a:chExt cx="0" cy="0"/>
        </a:xfrm>
      </p:grpSpPr>
      <p:sp>
        <p:nvSpPr>
          <p:cNvPr id="83" name="Google Shape;83;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Poppins"/>
                <a:ea typeface="Poppins"/>
                <a:cs typeface="Poppins"/>
                <a:sym typeface="Poppins"/>
              </a:rPr>
              <a:t>Como saber de qué problema hablamos</a:t>
            </a:r>
            <a:endParaRPr>
              <a:latin typeface="Poppins"/>
              <a:ea typeface="Poppins"/>
              <a:cs typeface="Poppins"/>
              <a:sym typeface="Poppins"/>
            </a:endParaRPr>
          </a:p>
        </p:txBody>
      </p:sp>
      <p:sp>
        <p:nvSpPr>
          <p:cNvPr id="84" name="Google Shape;84;p15"/>
          <p:cNvSpPr txBox="1"/>
          <p:nvPr/>
        </p:nvSpPr>
        <p:spPr>
          <a:xfrm>
            <a:off x="381275" y="1809200"/>
            <a:ext cx="1510200" cy="7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rgbClr val="FF0000"/>
                </a:solidFill>
              </a:rPr>
              <a:t>¿importa el orden?</a:t>
            </a:r>
            <a:endParaRPr sz="1800">
              <a:solidFill>
                <a:srgbClr val="FF0000"/>
              </a:solidFill>
            </a:endParaRPr>
          </a:p>
        </p:txBody>
      </p:sp>
      <p:sp>
        <p:nvSpPr>
          <p:cNvPr id="85" name="Google Shape;85;p15"/>
          <p:cNvSpPr txBox="1"/>
          <p:nvPr/>
        </p:nvSpPr>
        <p:spPr>
          <a:xfrm>
            <a:off x="1988500" y="1293350"/>
            <a:ext cx="5382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SI</a:t>
            </a:r>
            <a:endParaRPr sz="1800">
              <a:solidFill>
                <a:schemeClr val="dk2"/>
              </a:solidFill>
            </a:endParaRPr>
          </a:p>
        </p:txBody>
      </p:sp>
      <p:sp>
        <p:nvSpPr>
          <p:cNvPr id="86" name="Google Shape;86;p15"/>
          <p:cNvSpPr txBox="1"/>
          <p:nvPr/>
        </p:nvSpPr>
        <p:spPr>
          <a:xfrm>
            <a:off x="1964200" y="2351250"/>
            <a:ext cx="5868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NO</a:t>
            </a:r>
            <a:endParaRPr sz="1800">
              <a:solidFill>
                <a:schemeClr val="dk2"/>
              </a:solidFill>
            </a:endParaRPr>
          </a:p>
        </p:txBody>
      </p:sp>
      <p:sp>
        <p:nvSpPr>
          <p:cNvPr id="87" name="Google Shape;87;p15"/>
          <p:cNvSpPr txBox="1"/>
          <p:nvPr/>
        </p:nvSpPr>
        <p:spPr>
          <a:xfrm>
            <a:off x="3376850" y="1017725"/>
            <a:ext cx="1413000" cy="80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rgbClr val="FF0000"/>
                </a:solidFill>
              </a:rPr>
              <a:t>¿Todos los elementos?</a:t>
            </a:r>
            <a:endParaRPr sz="1800">
              <a:solidFill>
                <a:srgbClr val="FF0000"/>
              </a:solidFill>
            </a:endParaRPr>
          </a:p>
        </p:txBody>
      </p:sp>
      <p:sp>
        <p:nvSpPr>
          <p:cNvPr id="88" name="Google Shape;88;p15"/>
          <p:cNvSpPr txBox="1"/>
          <p:nvPr/>
        </p:nvSpPr>
        <p:spPr>
          <a:xfrm>
            <a:off x="5639875" y="1272838"/>
            <a:ext cx="5382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SI</a:t>
            </a:r>
            <a:endParaRPr sz="1800">
              <a:solidFill>
                <a:schemeClr val="dk2"/>
              </a:solidFill>
            </a:endParaRPr>
          </a:p>
        </p:txBody>
      </p:sp>
      <p:sp>
        <p:nvSpPr>
          <p:cNvPr id="89" name="Google Shape;89;p15"/>
          <p:cNvSpPr txBox="1"/>
          <p:nvPr/>
        </p:nvSpPr>
        <p:spPr>
          <a:xfrm>
            <a:off x="5553850" y="1916750"/>
            <a:ext cx="6243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NO</a:t>
            </a:r>
            <a:endParaRPr sz="1800">
              <a:solidFill>
                <a:schemeClr val="dk2"/>
              </a:solidFill>
            </a:endParaRPr>
          </a:p>
        </p:txBody>
      </p:sp>
      <p:sp>
        <p:nvSpPr>
          <p:cNvPr id="90" name="Google Shape;90;p15"/>
          <p:cNvSpPr txBox="1"/>
          <p:nvPr/>
        </p:nvSpPr>
        <p:spPr>
          <a:xfrm>
            <a:off x="6855500" y="1211200"/>
            <a:ext cx="1595400" cy="471000"/>
          </a:xfrm>
          <a:prstGeom prst="rect">
            <a:avLst/>
          </a:prstGeom>
          <a:solidFill>
            <a:schemeClr val="accen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Permutación</a:t>
            </a:r>
            <a:endParaRPr sz="1800">
              <a:solidFill>
                <a:schemeClr val="dk1"/>
              </a:solidFill>
            </a:endParaRPr>
          </a:p>
        </p:txBody>
      </p:sp>
      <p:sp>
        <p:nvSpPr>
          <p:cNvPr id="91" name="Google Shape;91;p15"/>
          <p:cNvSpPr txBox="1"/>
          <p:nvPr/>
        </p:nvSpPr>
        <p:spPr>
          <a:xfrm>
            <a:off x="6937700" y="1875650"/>
            <a:ext cx="1195200" cy="471000"/>
          </a:xfrm>
          <a:prstGeom prst="rect">
            <a:avLst/>
          </a:prstGeom>
          <a:solidFill>
            <a:srgbClr val="E0666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Variación</a:t>
            </a:r>
            <a:endParaRPr sz="1800">
              <a:solidFill>
                <a:schemeClr val="dk1"/>
              </a:solidFill>
            </a:endParaRPr>
          </a:p>
        </p:txBody>
      </p:sp>
      <p:cxnSp>
        <p:nvCxnSpPr>
          <p:cNvPr id="92" name="Google Shape;92;p15"/>
          <p:cNvCxnSpPr>
            <a:endCxn id="85" idx="1"/>
          </p:cNvCxnSpPr>
          <p:nvPr/>
        </p:nvCxnSpPr>
        <p:spPr>
          <a:xfrm flipH="1" rot="10800000">
            <a:off x="1412800" y="1487750"/>
            <a:ext cx="575700" cy="351300"/>
          </a:xfrm>
          <a:prstGeom prst="straightConnector1">
            <a:avLst/>
          </a:prstGeom>
          <a:noFill/>
          <a:ln cap="flat" cmpd="sng" w="9525">
            <a:solidFill>
              <a:schemeClr val="dk2"/>
            </a:solidFill>
            <a:prstDash val="solid"/>
            <a:round/>
            <a:headEnd len="med" w="med" type="none"/>
            <a:tailEnd len="med" w="med" type="triangle"/>
          </a:ln>
        </p:spPr>
      </p:cxnSp>
      <p:cxnSp>
        <p:nvCxnSpPr>
          <p:cNvPr id="93" name="Google Shape;93;p15"/>
          <p:cNvCxnSpPr>
            <a:stCxn id="84" idx="2"/>
            <a:endCxn id="86" idx="1"/>
          </p:cNvCxnSpPr>
          <p:nvPr/>
        </p:nvCxnSpPr>
        <p:spPr>
          <a:xfrm>
            <a:off x="1136375" y="2519300"/>
            <a:ext cx="827700" cy="52500"/>
          </a:xfrm>
          <a:prstGeom prst="straightConnector1">
            <a:avLst/>
          </a:prstGeom>
          <a:noFill/>
          <a:ln cap="flat" cmpd="sng" w="9525">
            <a:solidFill>
              <a:schemeClr val="dk2"/>
            </a:solidFill>
            <a:prstDash val="solid"/>
            <a:round/>
            <a:headEnd len="med" w="med" type="none"/>
            <a:tailEnd len="med" w="med" type="triangle"/>
          </a:ln>
        </p:spPr>
      </p:cxnSp>
      <p:cxnSp>
        <p:nvCxnSpPr>
          <p:cNvPr id="94" name="Google Shape;94;p15"/>
          <p:cNvCxnSpPr>
            <a:stCxn id="85" idx="3"/>
            <a:endCxn id="87" idx="1"/>
          </p:cNvCxnSpPr>
          <p:nvPr/>
        </p:nvCxnSpPr>
        <p:spPr>
          <a:xfrm flipH="1" rot="10800000">
            <a:off x="2526700" y="1421450"/>
            <a:ext cx="850200" cy="66300"/>
          </a:xfrm>
          <a:prstGeom prst="straightConnector1">
            <a:avLst/>
          </a:prstGeom>
          <a:noFill/>
          <a:ln cap="flat" cmpd="sng" w="9525">
            <a:solidFill>
              <a:schemeClr val="dk2"/>
            </a:solidFill>
            <a:prstDash val="solid"/>
            <a:round/>
            <a:headEnd len="med" w="med" type="none"/>
            <a:tailEnd len="med" w="med" type="triangle"/>
          </a:ln>
        </p:spPr>
      </p:cxnSp>
      <p:cxnSp>
        <p:nvCxnSpPr>
          <p:cNvPr id="95" name="Google Shape;95;p15"/>
          <p:cNvCxnSpPr>
            <a:stCxn id="87" idx="3"/>
            <a:endCxn id="88" idx="1"/>
          </p:cNvCxnSpPr>
          <p:nvPr/>
        </p:nvCxnSpPr>
        <p:spPr>
          <a:xfrm>
            <a:off x="4789850" y="1421375"/>
            <a:ext cx="849900" cy="45900"/>
          </a:xfrm>
          <a:prstGeom prst="straightConnector1">
            <a:avLst/>
          </a:prstGeom>
          <a:noFill/>
          <a:ln cap="flat" cmpd="sng" w="9525">
            <a:solidFill>
              <a:schemeClr val="dk2"/>
            </a:solidFill>
            <a:prstDash val="solid"/>
            <a:round/>
            <a:headEnd len="med" w="med" type="none"/>
            <a:tailEnd len="med" w="med" type="triangle"/>
          </a:ln>
        </p:spPr>
      </p:cxnSp>
      <p:cxnSp>
        <p:nvCxnSpPr>
          <p:cNvPr id="96" name="Google Shape;96;p15"/>
          <p:cNvCxnSpPr>
            <a:stCxn id="87" idx="3"/>
            <a:endCxn id="89" idx="1"/>
          </p:cNvCxnSpPr>
          <p:nvPr/>
        </p:nvCxnSpPr>
        <p:spPr>
          <a:xfrm>
            <a:off x="4789850" y="1421375"/>
            <a:ext cx="764100" cy="689700"/>
          </a:xfrm>
          <a:prstGeom prst="straightConnector1">
            <a:avLst/>
          </a:prstGeom>
          <a:noFill/>
          <a:ln cap="flat" cmpd="sng" w="9525">
            <a:solidFill>
              <a:schemeClr val="dk2"/>
            </a:solidFill>
            <a:prstDash val="solid"/>
            <a:round/>
            <a:headEnd len="med" w="med" type="none"/>
            <a:tailEnd len="med" w="med" type="triangle"/>
          </a:ln>
        </p:spPr>
      </p:cxnSp>
      <p:cxnSp>
        <p:nvCxnSpPr>
          <p:cNvPr id="97" name="Google Shape;97;p15"/>
          <p:cNvCxnSpPr>
            <a:stCxn id="88" idx="3"/>
            <a:endCxn id="90" idx="1"/>
          </p:cNvCxnSpPr>
          <p:nvPr/>
        </p:nvCxnSpPr>
        <p:spPr>
          <a:xfrm flipH="1" rot="10800000">
            <a:off x="6178075" y="1446838"/>
            <a:ext cx="677400" cy="20400"/>
          </a:xfrm>
          <a:prstGeom prst="straightConnector1">
            <a:avLst/>
          </a:prstGeom>
          <a:noFill/>
          <a:ln cap="flat" cmpd="sng" w="9525">
            <a:solidFill>
              <a:schemeClr val="dk2"/>
            </a:solidFill>
            <a:prstDash val="solid"/>
            <a:round/>
            <a:headEnd len="med" w="med" type="none"/>
            <a:tailEnd len="med" w="med" type="triangle"/>
          </a:ln>
        </p:spPr>
      </p:cxnSp>
      <p:cxnSp>
        <p:nvCxnSpPr>
          <p:cNvPr id="98" name="Google Shape;98;p15"/>
          <p:cNvCxnSpPr>
            <a:stCxn id="89" idx="3"/>
            <a:endCxn id="91" idx="1"/>
          </p:cNvCxnSpPr>
          <p:nvPr/>
        </p:nvCxnSpPr>
        <p:spPr>
          <a:xfrm>
            <a:off x="6178150" y="2111150"/>
            <a:ext cx="759600" cy="0"/>
          </a:xfrm>
          <a:prstGeom prst="straightConnector1">
            <a:avLst/>
          </a:prstGeom>
          <a:noFill/>
          <a:ln cap="flat" cmpd="sng" w="9525">
            <a:solidFill>
              <a:schemeClr val="dk2"/>
            </a:solidFill>
            <a:prstDash val="solid"/>
            <a:round/>
            <a:headEnd len="med" w="med" type="none"/>
            <a:tailEnd len="med" w="med" type="triangle"/>
          </a:ln>
        </p:spPr>
      </p:cxnSp>
      <p:sp>
        <p:nvSpPr>
          <p:cNvPr id="99" name="Google Shape;99;p15"/>
          <p:cNvSpPr txBox="1"/>
          <p:nvPr/>
        </p:nvSpPr>
        <p:spPr>
          <a:xfrm>
            <a:off x="3072650" y="2351250"/>
            <a:ext cx="1551300" cy="4710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t>Combinación</a:t>
            </a:r>
            <a:endParaRPr sz="1800"/>
          </a:p>
        </p:txBody>
      </p:sp>
      <p:cxnSp>
        <p:nvCxnSpPr>
          <p:cNvPr id="100" name="Google Shape;100;p15"/>
          <p:cNvCxnSpPr>
            <a:stCxn id="86" idx="3"/>
            <a:endCxn id="99" idx="1"/>
          </p:cNvCxnSpPr>
          <p:nvPr/>
        </p:nvCxnSpPr>
        <p:spPr>
          <a:xfrm>
            <a:off x="2551000" y="2571750"/>
            <a:ext cx="521700" cy="15000"/>
          </a:xfrm>
          <a:prstGeom prst="straightConnector1">
            <a:avLst/>
          </a:prstGeom>
          <a:noFill/>
          <a:ln cap="flat" cmpd="sng" w="9525">
            <a:solidFill>
              <a:schemeClr val="dk2"/>
            </a:solidFill>
            <a:prstDash val="solid"/>
            <a:round/>
            <a:headEnd len="med" w="med" type="none"/>
            <a:tailEnd len="med" w="med" type="triangle"/>
          </a:ln>
        </p:spPr>
      </p:cxnSp>
      <p:sp>
        <p:nvSpPr>
          <p:cNvPr id="101" name="Google Shape;101;p15"/>
          <p:cNvSpPr/>
          <p:nvPr/>
        </p:nvSpPr>
        <p:spPr>
          <a:xfrm>
            <a:off x="6699550" y="1819400"/>
            <a:ext cx="1848600" cy="572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5"/>
          <p:cNvSpPr txBox="1"/>
          <p:nvPr/>
        </p:nvSpPr>
        <p:spPr>
          <a:xfrm>
            <a:off x="538725" y="3304450"/>
            <a:ext cx="7458000" cy="14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s" sz="2000">
                <a:solidFill>
                  <a:schemeClr val="accent1"/>
                </a:solidFill>
                <a:latin typeface="Poppins"/>
                <a:ea typeface="Poppins"/>
                <a:cs typeface="Poppins"/>
                <a:sym typeface="Poppins"/>
              </a:rPr>
              <a:t>Un equipo de campaña tiene 10 miembros. Se necesitan elegir 3 para recorrer barrios de distinto tamaño</a:t>
            </a:r>
            <a:br>
              <a:rPr lang="es" sz="2000">
                <a:solidFill>
                  <a:schemeClr val="accent1"/>
                </a:solidFill>
                <a:latin typeface="Poppins"/>
                <a:ea typeface="Poppins"/>
                <a:cs typeface="Poppins"/>
                <a:sym typeface="Poppins"/>
              </a:rPr>
            </a:br>
            <a:r>
              <a:rPr lang="es" sz="2000">
                <a:solidFill>
                  <a:schemeClr val="accent1"/>
                </a:solidFill>
                <a:latin typeface="Poppins"/>
                <a:ea typeface="Poppins"/>
                <a:cs typeface="Poppins"/>
                <a:sym typeface="Poppins"/>
              </a:rPr>
              <a:t>(uno grande, uno mediano y uno pequeño). </a:t>
            </a:r>
            <a:br>
              <a:rPr lang="es" sz="2000">
                <a:solidFill>
                  <a:schemeClr val="accent1"/>
                </a:solidFill>
                <a:latin typeface="Poppins"/>
                <a:ea typeface="Poppins"/>
                <a:cs typeface="Poppins"/>
                <a:sym typeface="Poppins"/>
              </a:rPr>
            </a:br>
            <a:r>
              <a:rPr lang="es" sz="2000">
                <a:solidFill>
                  <a:schemeClr val="accent1"/>
                </a:solidFill>
                <a:latin typeface="Poppins"/>
                <a:ea typeface="Poppins"/>
                <a:cs typeface="Poppins"/>
                <a:sym typeface="Poppins"/>
              </a:rPr>
              <a:t>¿De cuántas formas se pueden seleccionar y asignar esos miembros del equipo?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6" name="Shape 106"/>
        <p:cNvGrpSpPr/>
        <p:nvPr/>
      </p:nvGrpSpPr>
      <p:grpSpPr>
        <a:xfrm>
          <a:off x="0" y="0"/>
          <a:ext cx="0" cy="0"/>
          <a:chOff x="0" y="0"/>
          <a:chExt cx="0" cy="0"/>
        </a:xfrm>
      </p:grpSpPr>
      <p:sp>
        <p:nvSpPr>
          <p:cNvPr id="107" name="Google Shape;107;p16"/>
          <p:cNvSpPr txBox="1"/>
          <p:nvPr/>
        </p:nvSpPr>
        <p:spPr>
          <a:xfrm>
            <a:off x="381275" y="1809200"/>
            <a:ext cx="1510200" cy="7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rgbClr val="FF0000"/>
                </a:solidFill>
              </a:rPr>
              <a:t>¿importa el orden?</a:t>
            </a:r>
            <a:endParaRPr sz="1800">
              <a:solidFill>
                <a:srgbClr val="FF0000"/>
              </a:solidFill>
            </a:endParaRPr>
          </a:p>
        </p:txBody>
      </p:sp>
      <p:sp>
        <p:nvSpPr>
          <p:cNvPr id="108" name="Google Shape;108;p16"/>
          <p:cNvSpPr txBox="1"/>
          <p:nvPr/>
        </p:nvSpPr>
        <p:spPr>
          <a:xfrm>
            <a:off x="1988500" y="1293350"/>
            <a:ext cx="5382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SI</a:t>
            </a:r>
            <a:endParaRPr sz="1800">
              <a:solidFill>
                <a:schemeClr val="dk2"/>
              </a:solidFill>
            </a:endParaRPr>
          </a:p>
        </p:txBody>
      </p:sp>
      <p:sp>
        <p:nvSpPr>
          <p:cNvPr id="109" name="Google Shape;109;p16"/>
          <p:cNvSpPr txBox="1"/>
          <p:nvPr/>
        </p:nvSpPr>
        <p:spPr>
          <a:xfrm>
            <a:off x="1964200" y="2351250"/>
            <a:ext cx="5868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NO</a:t>
            </a:r>
            <a:endParaRPr sz="1800">
              <a:solidFill>
                <a:schemeClr val="dk2"/>
              </a:solidFill>
            </a:endParaRPr>
          </a:p>
        </p:txBody>
      </p:sp>
      <p:sp>
        <p:nvSpPr>
          <p:cNvPr id="110" name="Google Shape;110;p16"/>
          <p:cNvSpPr txBox="1"/>
          <p:nvPr/>
        </p:nvSpPr>
        <p:spPr>
          <a:xfrm>
            <a:off x="3376850" y="1017725"/>
            <a:ext cx="1413000" cy="80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rgbClr val="FF0000"/>
                </a:solidFill>
              </a:rPr>
              <a:t>¿Todos los elementos?</a:t>
            </a:r>
            <a:endParaRPr sz="1800">
              <a:solidFill>
                <a:srgbClr val="FF0000"/>
              </a:solidFill>
            </a:endParaRPr>
          </a:p>
        </p:txBody>
      </p:sp>
      <p:sp>
        <p:nvSpPr>
          <p:cNvPr id="111" name="Google Shape;111;p16"/>
          <p:cNvSpPr txBox="1"/>
          <p:nvPr/>
        </p:nvSpPr>
        <p:spPr>
          <a:xfrm>
            <a:off x="5639875" y="1272838"/>
            <a:ext cx="5382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SI</a:t>
            </a:r>
            <a:endParaRPr sz="1800">
              <a:solidFill>
                <a:schemeClr val="dk2"/>
              </a:solidFill>
            </a:endParaRPr>
          </a:p>
        </p:txBody>
      </p:sp>
      <p:sp>
        <p:nvSpPr>
          <p:cNvPr id="112" name="Google Shape;112;p16"/>
          <p:cNvSpPr txBox="1"/>
          <p:nvPr/>
        </p:nvSpPr>
        <p:spPr>
          <a:xfrm>
            <a:off x="5553850" y="1916750"/>
            <a:ext cx="6243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NO</a:t>
            </a:r>
            <a:endParaRPr sz="1800">
              <a:solidFill>
                <a:schemeClr val="dk2"/>
              </a:solidFill>
            </a:endParaRPr>
          </a:p>
        </p:txBody>
      </p:sp>
      <p:cxnSp>
        <p:nvCxnSpPr>
          <p:cNvPr id="113" name="Google Shape;113;p16"/>
          <p:cNvCxnSpPr>
            <a:endCxn id="108" idx="1"/>
          </p:cNvCxnSpPr>
          <p:nvPr/>
        </p:nvCxnSpPr>
        <p:spPr>
          <a:xfrm flipH="1" rot="10800000">
            <a:off x="1412800" y="1487750"/>
            <a:ext cx="575700" cy="351300"/>
          </a:xfrm>
          <a:prstGeom prst="straightConnector1">
            <a:avLst/>
          </a:prstGeom>
          <a:noFill/>
          <a:ln cap="flat" cmpd="sng" w="9525">
            <a:solidFill>
              <a:schemeClr val="dk2"/>
            </a:solidFill>
            <a:prstDash val="solid"/>
            <a:round/>
            <a:headEnd len="med" w="med" type="none"/>
            <a:tailEnd len="med" w="med" type="triangle"/>
          </a:ln>
        </p:spPr>
      </p:cxnSp>
      <p:cxnSp>
        <p:nvCxnSpPr>
          <p:cNvPr id="114" name="Google Shape;114;p16"/>
          <p:cNvCxnSpPr>
            <a:stCxn id="107" idx="2"/>
            <a:endCxn id="109" idx="1"/>
          </p:cNvCxnSpPr>
          <p:nvPr/>
        </p:nvCxnSpPr>
        <p:spPr>
          <a:xfrm>
            <a:off x="1136375" y="2519300"/>
            <a:ext cx="827700" cy="52500"/>
          </a:xfrm>
          <a:prstGeom prst="straightConnector1">
            <a:avLst/>
          </a:prstGeom>
          <a:noFill/>
          <a:ln cap="flat" cmpd="sng" w="9525">
            <a:solidFill>
              <a:schemeClr val="dk2"/>
            </a:solidFill>
            <a:prstDash val="solid"/>
            <a:round/>
            <a:headEnd len="med" w="med" type="none"/>
            <a:tailEnd len="med" w="med" type="triangle"/>
          </a:ln>
        </p:spPr>
      </p:cxnSp>
      <p:cxnSp>
        <p:nvCxnSpPr>
          <p:cNvPr id="115" name="Google Shape;115;p16"/>
          <p:cNvCxnSpPr>
            <a:stCxn id="108" idx="3"/>
            <a:endCxn id="110" idx="1"/>
          </p:cNvCxnSpPr>
          <p:nvPr/>
        </p:nvCxnSpPr>
        <p:spPr>
          <a:xfrm flipH="1" rot="10800000">
            <a:off x="2526700" y="1421450"/>
            <a:ext cx="850200" cy="66300"/>
          </a:xfrm>
          <a:prstGeom prst="straightConnector1">
            <a:avLst/>
          </a:prstGeom>
          <a:noFill/>
          <a:ln cap="flat" cmpd="sng" w="9525">
            <a:solidFill>
              <a:schemeClr val="dk2"/>
            </a:solidFill>
            <a:prstDash val="solid"/>
            <a:round/>
            <a:headEnd len="med" w="med" type="none"/>
            <a:tailEnd len="med" w="med" type="triangle"/>
          </a:ln>
        </p:spPr>
      </p:cxnSp>
      <p:cxnSp>
        <p:nvCxnSpPr>
          <p:cNvPr id="116" name="Google Shape;116;p16"/>
          <p:cNvCxnSpPr>
            <a:stCxn id="110" idx="3"/>
            <a:endCxn id="111" idx="1"/>
          </p:cNvCxnSpPr>
          <p:nvPr/>
        </p:nvCxnSpPr>
        <p:spPr>
          <a:xfrm>
            <a:off x="4789850" y="1421375"/>
            <a:ext cx="849900" cy="45900"/>
          </a:xfrm>
          <a:prstGeom prst="straightConnector1">
            <a:avLst/>
          </a:prstGeom>
          <a:noFill/>
          <a:ln cap="flat" cmpd="sng" w="9525">
            <a:solidFill>
              <a:schemeClr val="dk2"/>
            </a:solidFill>
            <a:prstDash val="solid"/>
            <a:round/>
            <a:headEnd len="med" w="med" type="none"/>
            <a:tailEnd len="med" w="med" type="triangle"/>
          </a:ln>
        </p:spPr>
      </p:cxnSp>
      <p:cxnSp>
        <p:nvCxnSpPr>
          <p:cNvPr id="117" name="Google Shape;117;p16"/>
          <p:cNvCxnSpPr>
            <a:stCxn id="110" idx="3"/>
            <a:endCxn id="112" idx="1"/>
          </p:cNvCxnSpPr>
          <p:nvPr/>
        </p:nvCxnSpPr>
        <p:spPr>
          <a:xfrm>
            <a:off x="4789850" y="1421375"/>
            <a:ext cx="764100" cy="689700"/>
          </a:xfrm>
          <a:prstGeom prst="straightConnector1">
            <a:avLst/>
          </a:prstGeom>
          <a:noFill/>
          <a:ln cap="flat" cmpd="sng" w="9525">
            <a:solidFill>
              <a:schemeClr val="dk2"/>
            </a:solidFill>
            <a:prstDash val="solid"/>
            <a:round/>
            <a:headEnd len="med" w="med" type="none"/>
            <a:tailEnd len="med" w="med" type="triangle"/>
          </a:ln>
        </p:spPr>
      </p:cxnSp>
      <p:cxnSp>
        <p:nvCxnSpPr>
          <p:cNvPr id="118" name="Google Shape;118;p16"/>
          <p:cNvCxnSpPr>
            <a:stCxn id="111" idx="3"/>
            <a:endCxn id="119" idx="1"/>
          </p:cNvCxnSpPr>
          <p:nvPr/>
        </p:nvCxnSpPr>
        <p:spPr>
          <a:xfrm flipH="1" rot="10800000">
            <a:off x="6178075" y="1446838"/>
            <a:ext cx="677400" cy="20400"/>
          </a:xfrm>
          <a:prstGeom prst="straightConnector1">
            <a:avLst/>
          </a:prstGeom>
          <a:noFill/>
          <a:ln cap="flat" cmpd="sng" w="9525">
            <a:solidFill>
              <a:schemeClr val="dk2"/>
            </a:solidFill>
            <a:prstDash val="solid"/>
            <a:round/>
            <a:headEnd len="med" w="med" type="none"/>
            <a:tailEnd len="med" w="med" type="triangle"/>
          </a:ln>
        </p:spPr>
      </p:cxnSp>
      <p:cxnSp>
        <p:nvCxnSpPr>
          <p:cNvPr id="120" name="Google Shape;120;p16"/>
          <p:cNvCxnSpPr>
            <a:stCxn id="112" idx="3"/>
            <a:endCxn id="121" idx="1"/>
          </p:cNvCxnSpPr>
          <p:nvPr/>
        </p:nvCxnSpPr>
        <p:spPr>
          <a:xfrm>
            <a:off x="6178150" y="2111150"/>
            <a:ext cx="759600" cy="0"/>
          </a:xfrm>
          <a:prstGeom prst="straightConnector1">
            <a:avLst/>
          </a:prstGeom>
          <a:noFill/>
          <a:ln cap="flat" cmpd="sng" w="9525">
            <a:solidFill>
              <a:schemeClr val="dk2"/>
            </a:solidFill>
            <a:prstDash val="solid"/>
            <a:round/>
            <a:headEnd len="med" w="med" type="none"/>
            <a:tailEnd len="med" w="med" type="triangle"/>
          </a:ln>
        </p:spPr>
      </p:cxnSp>
      <p:cxnSp>
        <p:nvCxnSpPr>
          <p:cNvPr id="122" name="Google Shape;122;p16"/>
          <p:cNvCxnSpPr>
            <a:stCxn id="109" idx="3"/>
            <a:endCxn id="123" idx="1"/>
          </p:cNvCxnSpPr>
          <p:nvPr/>
        </p:nvCxnSpPr>
        <p:spPr>
          <a:xfrm>
            <a:off x="2551000" y="2571750"/>
            <a:ext cx="521700" cy="15000"/>
          </a:xfrm>
          <a:prstGeom prst="straightConnector1">
            <a:avLst/>
          </a:prstGeom>
          <a:noFill/>
          <a:ln cap="flat" cmpd="sng" w="9525">
            <a:solidFill>
              <a:schemeClr val="dk2"/>
            </a:solidFill>
            <a:prstDash val="solid"/>
            <a:round/>
            <a:headEnd len="med" w="med" type="none"/>
            <a:tailEnd len="med" w="med" type="triangle"/>
          </a:ln>
        </p:spPr>
      </p:cxnSp>
      <p:sp>
        <p:nvSpPr>
          <p:cNvPr id="124" name="Google Shape;124;p16"/>
          <p:cNvSpPr txBox="1"/>
          <p:nvPr/>
        </p:nvSpPr>
        <p:spPr>
          <a:xfrm>
            <a:off x="311700" y="3296925"/>
            <a:ext cx="5328300" cy="14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accent1"/>
                </a:solidFill>
                <a:latin typeface="Poppins"/>
                <a:ea typeface="Poppins"/>
                <a:cs typeface="Poppins"/>
                <a:sym typeface="Poppins"/>
              </a:rPr>
              <a:t>En un debate presidencial participan 4 candidatos. </a:t>
            </a:r>
            <a:endParaRPr sz="2000">
              <a:solidFill>
                <a:schemeClr val="accent1"/>
              </a:solidFill>
              <a:latin typeface="Poppins"/>
              <a:ea typeface="Poppins"/>
              <a:cs typeface="Poppins"/>
              <a:sym typeface="Poppins"/>
            </a:endParaRPr>
          </a:p>
          <a:p>
            <a:pPr indent="0" lvl="0" marL="0" rtl="0" algn="l">
              <a:spcBef>
                <a:spcPts val="0"/>
              </a:spcBef>
              <a:spcAft>
                <a:spcPts val="0"/>
              </a:spcAft>
              <a:buNone/>
            </a:pPr>
            <a:r>
              <a:rPr lang="es" sz="2000">
                <a:solidFill>
                  <a:schemeClr val="accent1"/>
                </a:solidFill>
                <a:latin typeface="Poppins"/>
                <a:ea typeface="Poppins"/>
                <a:cs typeface="Poppins"/>
                <a:sym typeface="Poppins"/>
              </a:rPr>
              <a:t>¿De cuántas formas distintas pueden ordenarse en el escenario?</a:t>
            </a:r>
            <a:endParaRPr sz="2000">
              <a:solidFill>
                <a:schemeClr val="accent1"/>
              </a:solidFill>
              <a:latin typeface="Poppins"/>
              <a:ea typeface="Poppins"/>
              <a:cs typeface="Poppins"/>
              <a:sym typeface="Poppins"/>
            </a:endParaRPr>
          </a:p>
        </p:txBody>
      </p:sp>
      <p:sp>
        <p:nvSpPr>
          <p:cNvPr id="125" name="Google Shape;125;p16"/>
          <p:cNvSpPr txBox="1"/>
          <p:nvPr/>
        </p:nvSpPr>
        <p:spPr>
          <a:xfrm>
            <a:off x="6855500" y="1211200"/>
            <a:ext cx="1595400" cy="471000"/>
          </a:xfrm>
          <a:prstGeom prst="rect">
            <a:avLst/>
          </a:prstGeom>
          <a:solidFill>
            <a:schemeClr val="accen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Permutación</a:t>
            </a:r>
            <a:endParaRPr sz="1800">
              <a:solidFill>
                <a:schemeClr val="dk1"/>
              </a:solidFill>
            </a:endParaRPr>
          </a:p>
        </p:txBody>
      </p:sp>
      <p:sp>
        <p:nvSpPr>
          <p:cNvPr id="126" name="Google Shape;126;p16"/>
          <p:cNvSpPr txBox="1"/>
          <p:nvPr/>
        </p:nvSpPr>
        <p:spPr>
          <a:xfrm>
            <a:off x="6937700" y="1875650"/>
            <a:ext cx="1195200" cy="471000"/>
          </a:xfrm>
          <a:prstGeom prst="rect">
            <a:avLst/>
          </a:prstGeom>
          <a:solidFill>
            <a:srgbClr val="E0666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Variación</a:t>
            </a:r>
            <a:endParaRPr sz="1800">
              <a:solidFill>
                <a:schemeClr val="dk1"/>
              </a:solidFill>
            </a:endParaRPr>
          </a:p>
        </p:txBody>
      </p:sp>
      <p:sp>
        <p:nvSpPr>
          <p:cNvPr id="127" name="Google Shape;127;p16"/>
          <p:cNvSpPr txBox="1"/>
          <p:nvPr/>
        </p:nvSpPr>
        <p:spPr>
          <a:xfrm>
            <a:off x="3072650" y="2351250"/>
            <a:ext cx="1551300" cy="4710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t>Combinación</a:t>
            </a:r>
            <a:endParaRPr sz="1800"/>
          </a:p>
        </p:txBody>
      </p:sp>
      <p:sp>
        <p:nvSpPr>
          <p:cNvPr id="128" name="Google Shape;12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Poppins"/>
                <a:ea typeface="Poppins"/>
                <a:cs typeface="Poppins"/>
                <a:sym typeface="Poppins"/>
              </a:rPr>
              <a:t>Como saber de qué problema hablamos</a:t>
            </a:r>
            <a:endParaRPr>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2" name="Shape 132"/>
        <p:cNvGrpSpPr/>
        <p:nvPr/>
      </p:nvGrpSpPr>
      <p:grpSpPr>
        <a:xfrm>
          <a:off x="0" y="0"/>
          <a:ext cx="0" cy="0"/>
          <a:chOff x="0" y="0"/>
          <a:chExt cx="0" cy="0"/>
        </a:xfrm>
      </p:grpSpPr>
      <p:sp>
        <p:nvSpPr>
          <p:cNvPr id="133" name="Google Shape;133;p17"/>
          <p:cNvSpPr txBox="1"/>
          <p:nvPr/>
        </p:nvSpPr>
        <p:spPr>
          <a:xfrm>
            <a:off x="381275" y="1809200"/>
            <a:ext cx="1510200" cy="7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rgbClr val="FF0000"/>
                </a:solidFill>
              </a:rPr>
              <a:t>¿importa el orden?</a:t>
            </a:r>
            <a:endParaRPr sz="1800">
              <a:solidFill>
                <a:srgbClr val="FF0000"/>
              </a:solidFill>
            </a:endParaRPr>
          </a:p>
        </p:txBody>
      </p:sp>
      <p:sp>
        <p:nvSpPr>
          <p:cNvPr id="134" name="Google Shape;134;p17"/>
          <p:cNvSpPr txBox="1"/>
          <p:nvPr/>
        </p:nvSpPr>
        <p:spPr>
          <a:xfrm>
            <a:off x="1988500" y="1293350"/>
            <a:ext cx="5382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SI</a:t>
            </a:r>
            <a:endParaRPr sz="1800">
              <a:solidFill>
                <a:schemeClr val="dk2"/>
              </a:solidFill>
            </a:endParaRPr>
          </a:p>
        </p:txBody>
      </p:sp>
      <p:sp>
        <p:nvSpPr>
          <p:cNvPr id="135" name="Google Shape;135;p17"/>
          <p:cNvSpPr txBox="1"/>
          <p:nvPr/>
        </p:nvSpPr>
        <p:spPr>
          <a:xfrm>
            <a:off x="1964200" y="2351250"/>
            <a:ext cx="5868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NO</a:t>
            </a:r>
            <a:endParaRPr sz="1800">
              <a:solidFill>
                <a:schemeClr val="dk2"/>
              </a:solidFill>
            </a:endParaRPr>
          </a:p>
        </p:txBody>
      </p:sp>
      <p:sp>
        <p:nvSpPr>
          <p:cNvPr id="136" name="Google Shape;136;p17"/>
          <p:cNvSpPr txBox="1"/>
          <p:nvPr/>
        </p:nvSpPr>
        <p:spPr>
          <a:xfrm>
            <a:off x="3376850" y="1017725"/>
            <a:ext cx="1413000" cy="80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rgbClr val="FF0000"/>
                </a:solidFill>
              </a:rPr>
              <a:t>¿Todos los elementos?</a:t>
            </a:r>
            <a:endParaRPr sz="1800">
              <a:solidFill>
                <a:srgbClr val="FF0000"/>
              </a:solidFill>
            </a:endParaRPr>
          </a:p>
        </p:txBody>
      </p:sp>
      <p:sp>
        <p:nvSpPr>
          <p:cNvPr id="137" name="Google Shape;137;p17"/>
          <p:cNvSpPr txBox="1"/>
          <p:nvPr/>
        </p:nvSpPr>
        <p:spPr>
          <a:xfrm>
            <a:off x="5639875" y="1272838"/>
            <a:ext cx="5382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SI</a:t>
            </a:r>
            <a:endParaRPr sz="1800">
              <a:solidFill>
                <a:schemeClr val="dk2"/>
              </a:solidFill>
            </a:endParaRPr>
          </a:p>
        </p:txBody>
      </p:sp>
      <p:sp>
        <p:nvSpPr>
          <p:cNvPr id="138" name="Google Shape;138;p17"/>
          <p:cNvSpPr txBox="1"/>
          <p:nvPr/>
        </p:nvSpPr>
        <p:spPr>
          <a:xfrm>
            <a:off x="5553850" y="1916750"/>
            <a:ext cx="6243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NO</a:t>
            </a:r>
            <a:endParaRPr sz="1800">
              <a:solidFill>
                <a:schemeClr val="dk2"/>
              </a:solidFill>
            </a:endParaRPr>
          </a:p>
        </p:txBody>
      </p:sp>
      <p:cxnSp>
        <p:nvCxnSpPr>
          <p:cNvPr id="139" name="Google Shape;139;p17"/>
          <p:cNvCxnSpPr>
            <a:endCxn id="134" idx="1"/>
          </p:cNvCxnSpPr>
          <p:nvPr/>
        </p:nvCxnSpPr>
        <p:spPr>
          <a:xfrm flipH="1" rot="10800000">
            <a:off x="1412800" y="1487750"/>
            <a:ext cx="575700" cy="351300"/>
          </a:xfrm>
          <a:prstGeom prst="straightConnector1">
            <a:avLst/>
          </a:prstGeom>
          <a:noFill/>
          <a:ln cap="flat" cmpd="sng" w="9525">
            <a:solidFill>
              <a:schemeClr val="dk2"/>
            </a:solidFill>
            <a:prstDash val="solid"/>
            <a:round/>
            <a:headEnd len="med" w="med" type="none"/>
            <a:tailEnd len="med" w="med" type="triangle"/>
          </a:ln>
        </p:spPr>
      </p:cxnSp>
      <p:cxnSp>
        <p:nvCxnSpPr>
          <p:cNvPr id="140" name="Google Shape;140;p17"/>
          <p:cNvCxnSpPr>
            <a:stCxn id="133" idx="2"/>
            <a:endCxn id="135" idx="1"/>
          </p:cNvCxnSpPr>
          <p:nvPr/>
        </p:nvCxnSpPr>
        <p:spPr>
          <a:xfrm>
            <a:off x="1136375" y="2519300"/>
            <a:ext cx="827700" cy="52500"/>
          </a:xfrm>
          <a:prstGeom prst="straightConnector1">
            <a:avLst/>
          </a:prstGeom>
          <a:noFill/>
          <a:ln cap="flat" cmpd="sng" w="9525">
            <a:solidFill>
              <a:schemeClr val="dk2"/>
            </a:solidFill>
            <a:prstDash val="solid"/>
            <a:round/>
            <a:headEnd len="med" w="med" type="none"/>
            <a:tailEnd len="med" w="med" type="triangle"/>
          </a:ln>
        </p:spPr>
      </p:cxnSp>
      <p:cxnSp>
        <p:nvCxnSpPr>
          <p:cNvPr id="141" name="Google Shape;141;p17"/>
          <p:cNvCxnSpPr>
            <a:stCxn id="134" idx="3"/>
            <a:endCxn id="136" idx="1"/>
          </p:cNvCxnSpPr>
          <p:nvPr/>
        </p:nvCxnSpPr>
        <p:spPr>
          <a:xfrm flipH="1" rot="10800000">
            <a:off x="2526700" y="1421450"/>
            <a:ext cx="850200" cy="66300"/>
          </a:xfrm>
          <a:prstGeom prst="straightConnector1">
            <a:avLst/>
          </a:prstGeom>
          <a:noFill/>
          <a:ln cap="flat" cmpd="sng" w="9525">
            <a:solidFill>
              <a:schemeClr val="dk2"/>
            </a:solidFill>
            <a:prstDash val="solid"/>
            <a:round/>
            <a:headEnd len="med" w="med" type="none"/>
            <a:tailEnd len="med" w="med" type="triangle"/>
          </a:ln>
        </p:spPr>
      </p:cxnSp>
      <p:cxnSp>
        <p:nvCxnSpPr>
          <p:cNvPr id="142" name="Google Shape;142;p17"/>
          <p:cNvCxnSpPr>
            <a:stCxn id="136" idx="3"/>
            <a:endCxn id="137" idx="1"/>
          </p:cNvCxnSpPr>
          <p:nvPr/>
        </p:nvCxnSpPr>
        <p:spPr>
          <a:xfrm>
            <a:off x="4789850" y="1421375"/>
            <a:ext cx="849900" cy="45900"/>
          </a:xfrm>
          <a:prstGeom prst="straightConnector1">
            <a:avLst/>
          </a:prstGeom>
          <a:noFill/>
          <a:ln cap="flat" cmpd="sng" w="9525">
            <a:solidFill>
              <a:schemeClr val="dk2"/>
            </a:solidFill>
            <a:prstDash val="solid"/>
            <a:round/>
            <a:headEnd len="med" w="med" type="none"/>
            <a:tailEnd len="med" w="med" type="triangle"/>
          </a:ln>
        </p:spPr>
      </p:cxnSp>
      <p:cxnSp>
        <p:nvCxnSpPr>
          <p:cNvPr id="143" name="Google Shape;143;p17"/>
          <p:cNvCxnSpPr>
            <a:stCxn id="136" idx="3"/>
            <a:endCxn id="138" idx="1"/>
          </p:cNvCxnSpPr>
          <p:nvPr/>
        </p:nvCxnSpPr>
        <p:spPr>
          <a:xfrm>
            <a:off x="4789850" y="1421375"/>
            <a:ext cx="764100" cy="689700"/>
          </a:xfrm>
          <a:prstGeom prst="straightConnector1">
            <a:avLst/>
          </a:prstGeom>
          <a:noFill/>
          <a:ln cap="flat" cmpd="sng" w="9525">
            <a:solidFill>
              <a:schemeClr val="dk2"/>
            </a:solidFill>
            <a:prstDash val="solid"/>
            <a:round/>
            <a:headEnd len="med" w="med" type="none"/>
            <a:tailEnd len="med" w="med" type="triangle"/>
          </a:ln>
        </p:spPr>
      </p:cxnSp>
      <p:cxnSp>
        <p:nvCxnSpPr>
          <p:cNvPr id="144" name="Google Shape;144;p17"/>
          <p:cNvCxnSpPr>
            <a:stCxn id="137" idx="3"/>
            <a:endCxn id="145" idx="1"/>
          </p:cNvCxnSpPr>
          <p:nvPr/>
        </p:nvCxnSpPr>
        <p:spPr>
          <a:xfrm flipH="1" rot="10800000">
            <a:off x="6178075" y="1446838"/>
            <a:ext cx="677400" cy="20400"/>
          </a:xfrm>
          <a:prstGeom prst="straightConnector1">
            <a:avLst/>
          </a:prstGeom>
          <a:noFill/>
          <a:ln cap="flat" cmpd="sng" w="9525">
            <a:solidFill>
              <a:schemeClr val="dk2"/>
            </a:solidFill>
            <a:prstDash val="solid"/>
            <a:round/>
            <a:headEnd len="med" w="med" type="none"/>
            <a:tailEnd len="med" w="med" type="triangle"/>
          </a:ln>
        </p:spPr>
      </p:cxnSp>
      <p:cxnSp>
        <p:nvCxnSpPr>
          <p:cNvPr id="146" name="Google Shape;146;p17"/>
          <p:cNvCxnSpPr>
            <a:stCxn id="138" idx="3"/>
            <a:endCxn id="147" idx="1"/>
          </p:cNvCxnSpPr>
          <p:nvPr/>
        </p:nvCxnSpPr>
        <p:spPr>
          <a:xfrm>
            <a:off x="6178150" y="2111150"/>
            <a:ext cx="759600" cy="0"/>
          </a:xfrm>
          <a:prstGeom prst="straightConnector1">
            <a:avLst/>
          </a:prstGeom>
          <a:noFill/>
          <a:ln cap="flat" cmpd="sng" w="9525">
            <a:solidFill>
              <a:schemeClr val="dk2"/>
            </a:solidFill>
            <a:prstDash val="solid"/>
            <a:round/>
            <a:headEnd len="med" w="med" type="none"/>
            <a:tailEnd len="med" w="med" type="triangle"/>
          </a:ln>
        </p:spPr>
      </p:cxnSp>
      <p:cxnSp>
        <p:nvCxnSpPr>
          <p:cNvPr id="148" name="Google Shape;148;p17"/>
          <p:cNvCxnSpPr>
            <a:stCxn id="135" idx="3"/>
            <a:endCxn id="149" idx="1"/>
          </p:cNvCxnSpPr>
          <p:nvPr/>
        </p:nvCxnSpPr>
        <p:spPr>
          <a:xfrm>
            <a:off x="2551000" y="2571750"/>
            <a:ext cx="521700" cy="15000"/>
          </a:xfrm>
          <a:prstGeom prst="straightConnector1">
            <a:avLst/>
          </a:prstGeom>
          <a:noFill/>
          <a:ln cap="flat" cmpd="sng" w="9525">
            <a:solidFill>
              <a:schemeClr val="dk2"/>
            </a:solidFill>
            <a:prstDash val="solid"/>
            <a:round/>
            <a:headEnd len="med" w="med" type="none"/>
            <a:tailEnd len="med" w="med" type="triangle"/>
          </a:ln>
        </p:spPr>
      </p:cxnSp>
      <p:sp>
        <p:nvSpPr>
          <p:cNvPr id="150" name="Google Shape;150;p17"/>
          <p:cNvSpPr txBox="1"/>
          <p:nvPr/>
        </p:nvSpPr>
        <p:spPr>
          <a:xfrm>
            <a:off x="311700" y="3296925"/>
            <a:ext cx="5328300" cy="14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accent1"/>
                </a:solidFill>
                <a:latin typeface="Poppins"/>
                <a:ea typeface="Poppins"/>
                <a:cs typeface="Poppins"/>
                <a:sym typeface="Poppins"/>
              </a:rPr>
              <a:t>En un debate presidencial participan 4 candidatos. </a:t>
            </a:r>
            <a:endParaRPr sz="2000">
              <a:solidFill>
                <a:schemeClr val="accent1"/>
              </a:solidFill>
              <a:latin typeface="Poppins"/>
              <a:ea typeface="Poppins"/>
              <a:cs typeface="Poppins"/>
              <a:sym typeface="Poppins"/>
            </a:endParaRPr>
          </a:p>
          <a:p>
            <a:pPr indent="0" lvl="0" marL="0" rtl="0" algn="l">
              <a:spcBef>
                <a:spcPts val="0"/>
              </a:spcBef>
              <a:spcAft>
                <a:spcPts val="0"/>
              </a:spcAft>
              <a:buNone/>
            </a:pPr>
            <a:r>
              <a:rPr lang="es" sz="2000">
                <a:solidFill>
                  <a:schemeClr val="accent1"/>
                </a:solidFill>
                <a:latin typeface="Poppins"/>
                <a:ea typeface="Poppins"/>
                <a:cs typeface="Poppins"/>
                <a:sym typeface="Poppins"/>
              </a:rPr>
              <a:t>¿De cuántas formas distintas pueden ordenarse en el escenario?</a:t>
            </a:r>
            <a:endParaRPr sz="2000">
              <a:solidFill>
                <a:schemeClr val="accent1"/>
              </a:solidFill>
              <a:latin typeface="Poppins"/>
              <a:ea typeface="Poppins"/>
              <a:cs typeface="Poppins"/>
              <a:sym typeface="Poppins"/>
            </a:endParaRPr>
          </a:p>
        </p:txBody>
      </p:sp>
      <p:sp>
        <p:nvSpPr>
          <p:cNvPr id="151" name="Google Shape;151;p17"/>
          <p:cNvSpPr txBox="1"/>
          <p:nvPr/>
        </p:nvSpPr>
        <p:spPr>
          <a:xfrm>
            <a:off x="6855500" y="1211200"/>
            <a:ext cx="1595400" cy="471000"/>
          </a:xfrm>
          <a:prstGeom prst="rect">
            <a:avLst/>
          </a:prstGeom>
          <a:solidFill>
            <a:schemeClr val="accen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Permutación</a:t>
            </a:r>
            <a:endParaRPr sz="1800">
              <a:solidFill>
                <a:schemeClr val="dk1"/>
              </a:solidFill>
            </a:endParaRPr>
          </a:p>
        </p:txBody>
      </p:sp>
      <p:sp>
        <p:nvSpPr>
          <p:cNvPr id="152" name="Google Shape;152;p17"/>
          <p:cNvSpPr txBox="1"/>
          <p:nvPr/>
        </p:nvSpPr>
        <p:spPr>
          <a:xfrm>
            <a:off x="6937700" y="1875650"/>
            <a:ext cx="1195200" cy="471000"/>
          </a:xfrm>
          <a:prstGeom prst="rect">
            <a:avLst/>
          </a:prstGeom>
          <a:solidFill>
            <a:srgbClr val="E0666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Variación</a:t>
            </a:r>
            <a:endParaRPr sz="1800">
              <a:solidFill>
                <a:schemeClr val="dk1"/>
              </a:solidFill>
            </a:endParaRPr>
          </a:p>
        </p:txBody>
      </p:sp>
      <p:sp>
        <p:nvSpPr>
          <p:cNvPr id="153" name="Google Shape;153;p17"/>
          <p:cNvSpPr txBox="1"/>
          <p:nvPr/>
        </p:nvSpPr>
        <p:spPr>
          <a:xfrm>
            <a:off x="3072650" y="2351250"/>
            <a:ext cx="1551300" cy="4710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t>Combinación</a:t>
            </a:r>
            <a:endParaRPr sz="1800"/>
          </a:p>
        </p:txBody>
      </p:sp>
      <p:sp>
        <p:nvSpPr>
          <p:cNvPr id="154" name="Google Shape;15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Poppins"/>
                <a:ea typeface="Poppins"/>
                <a:cs typeface="Poppins"/>
                <a:sym typeface="Poppins"/>
              </a:rPr>
              <a:t>Como saber de qué problema hablamos</a:t>
            </a:r>
            <a:endParaRPr>
              <a:latin typeface="Poppins"/>
              <a:ea typeface="Poppins"/>
              <a:cs typeface="Poppins"/>
              <a:sym typeface="Poppins"/>
            </a:endParaRPr>
          </a:p>
        </p:txBody>
      </p:sp>
      <p:sp>
        <p:nvSpPr>
          <p:cNvPr id="155" name="Google Shape;155;p17"/>
          <p:cNvSpPr/>
          <p:nvPr/>
        </p:nvSpPr>
        <p:spPr>
          <a:xfrm>
            <a:off x="6731975" y="1080600"/>
            <a:ext cx="1848600" cy="689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9" name="Shape 159"/>
        <p:cNvGrpSpPr/>
        <p:nvPr/>
      </p:nvGrpSpPr>
      <p:grpSpPr>
        <a:xfrm>
          <a:off x="0" y="0"/>
          <a:ext cx="0" cy="0"/>
          <a:chOff x="0" y="0"/>
          <a:chExt cx="0" cy="0"/>
        </a:xfrm>
      </p:grpSpPr>
      <p:sp>
        <p:nvSpPr>
          <p:cNvPr id="160" name="Google Shape;16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Poppins"/>
                <a:ea typeface="Poppins"/>
                <a:cs typeface="Poppins"/>
                <a:sym typeface="Poppins"/>
              </a:rPr>
              <a:t>Como saber de qué problema hablamos</a:t>
            </a:r>
            <a:endParaRPr>
              <a:latin typeface="Poppins"/>
              <a:ea typeface="Poppins"/>
              <a:cs typeface="Poppins"/>
              <a:sym typeface="Poppins"/>
            </a:endParaRPr>
          </a:p>
        </p:txBody>
      </p:sp>
      <p:sp>
        <p:nvSpPr>
          <p:cNvPr id="161" name="Google Shape;161;p18"/>
          <p:cNvSpPr txBox="1"/>
          <p:nvPr/>
        </p:nvSpPr>
        <p:spPr>
          <a:xfrm>
            <a:off x="381275" y="1809200"/>
            <a:ext cx="1510200" cy="7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rgbClr val="FF0000"/>
                </a:solidFill>
              </a:rPr>
              <a:t>¿importa el orden?</a:t>
            </a:r>
            <a:endParaRPr sz="1800">
              <a:solidFill>
                <a:srgbClr val="FF0000"/>
              </a:solidFill>
            </a:endParaRPr>
          </a:p>
        </p:txBody>
      </p:sp>
      <p:sp>
        <p:nvSpPr>
          <p:cNvPr id="162" name="Google Shape;162;p18"/>
          <p:cNvSpPr txBox="1"/>
          <p:nvPr/>
        </p:nvSpPr>
        <p:spPr>
          <a:xfrm>
            <a:off x="1988500" y="1293350"/>
            <a:ext cx="5382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SI</a:t>
            </a:r>
            <a:endParaRPr sz="1800">
              <a:solidFill>
                <a:schemeClr val="dk2"/>
              </a:solidFill>
            </a:endParaRPr>
          </a:p>
        </p:txBody>
      </p:sp>
      <p:sp>
        <p:nvSpPr>
          <p:cNvPr id="163" name="Google Shape;163;p18"/>
          <p:cNvSpPr txBox="1"/>
          <p:nvPr/>
        </p:nvSpPr>
        <p:spPr>
          <a:xfrm>
            <a:off x="1964200" y="2351250"/>
            <a:ext cx="5868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NO</a:t>
            </a:r>
            <a:endParaRPr sz="1800">
              <a:solidFill>
                <a:schemeClr val="dk2"/>
              </a:solidFill>
            </a:endParaRPr>
          </a:p>
        </p:txBody>
      </p:sp>
      <p:sp>
        <p:nvSpPr>
          <p:cNvPr id="164" name="Google Shape;164;p18"/>
          <p:cNvSpPr txBox="1"/>
          <p:nvPr/>
        </p:nvSpPr>
        <p:spPr>
          <a:xfrm>
            <a:off x="3376850" y="1017725"/>
            <a:ext cx="1413000" cy="80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rgbClr val="FF0000"/>
                </a:solidFill>
              </a:rPr>
              <a:t>¿Todos los elementos?</a:t>
            </a:r>
            <a:endParaRPr sz="1800">
              <a:solidFill>
                <a:srgbClr val="FF0000"/>
              </a:solidFill>
            </a:endParaRPr>
          </a:p>
        </p:txBody>
      </p:sp>
      <p:sp>
        <p:nvSpPr>
          <p:cNvPr id="165" name="Google Shape;165;p18"/>
          <p:cNvSpPr txBox="1"/>
          <p:nvPr/>
        </p:nvSpPr>
        <p:spPr>
          <a:xfrm>
            <a:off x="5639875" y="1272838"/>
            <a:ext cx="5382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SI</a:t>
            </a:r>
            <a:endParaRPr sz="1800">
              <a:solidFill>
                <a:schemeClr val="dk2"/>
              </a:solidFill>
            </a:endParaRPr>
          </a:p>
        </p:txBody>
      </p:sp>
      <p:sp>
        <p:nvSpPr>
          <p:cNvPr id="166" name="Google Shape;166;p18"/>
          <p:cNvSpPr txBox="1"/>
          <p:nvPr/>
        </p:nvSpPr>
        <p:spPr>
          <a:xfrm>
            <a:off x="5553850" y="1916750"/>
            <a:ext cx="6243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NO</a:t>
            </a:r>
            <a:endParaRPr sz="1800">
              <a:solidFill>
                <a:schemeClr val="dk2"/>
              </a:solidFill>
            </a:endParaRPr>
          </a:p>
        </p:txBody>
      </p:sp>
      <p:cxnSp>
        <p:nvCxnSpPr>
          <p:cNvPr id="167" name="Google Shape;167;p18"/>
          <p:cNvCxnSpPr>
            <a:endCxn id="162" idx="1"/>
          </p:cNvCxnSpPr>
          <p:nvPr/>
        </p:nvCxnSpPr>
        <p:spPr>
          <a:xfrm flipH="1" rot="10800000">
            <a:off x="1412800" y="1487750"/>
            <a:ext cx="575700" cy="351300"/>
          </a:xfrm>
          <a:prstGeom prst="straightConnector1">
            <a:avLst/>
          </a:prstGeom>
          <a:noFill/>
          <a:ln cap="flat" cmpd="sng" w="9525">
            <a:solidFill>
              <a:schemeClr val="dk2"/>
            </a:solidFill>
            <a:prstDash val="solid"/>
            <a:round/>
            <a:headEnd len="med" w="med" type="none"/>
            <a:tailEnd len="med" w="med" type="triangle"/>
          </a:ln>
        </p:spPr>
      </p:cxnSp>
      <p:cxnSp>
        <p:nvCxnSpPr>
          <p:cNvPr id="168" name="Google Shape;168;p18"/>
          <p:cNvCxnSpPr>
            <a:stCxn id="161" idx="2"/>
            <a:endCxn id="163" idx="1"/>
          </p:cNvCxnSpPr>
          <p:nvPr/>
        </p:nvCxnSpPr>
        <p:spPr>
          <a:xfrm>
            <a:off x="1136375" y="2519300"/>
            <a:ext cx="827700" cy="52500"/>
          </a:xfrm>
          <a:prstGeom prst="straightConnector1">
            <a:avLst/>
          </a:prstGeom>
          <a:noFill/>
          <a:ln cap="flat" cmpd="sng" w="9525">
            <a:solidFill>
              <a:schemeClr val="dk2"/>
            </a:solidFill>
            <a:prstDash val="solid"/>
            <a:round/>
            <a:headEnd len="med" w="med" type="none"/>
            <a:tailEnd len="med" w="med" type="triangle"/>
          </a:ln>
        </p:spPr>
      </p:cxnSp>
      <p:cxnSp>
        <p:nvCxnSpPr>
          <p:cNvPr id="169" name="Google Shape;169;p18"/>
          <p:cNvCxnSpPr>
            <a:stCxn id="162" idx="3"/>
            <a:endCxn id="164" idx="1"/>
          </p:cNvCxnSpPr>
          <p:nvPr/>
        </p:nvCxnSpPr>
        <p:spPr>
          <a:xfrm flipH="1" rot="10800000">
            <a:off x="2526700" y="1421450"/>
            <a:ext cx="850200" cy="66300"/>
          </a:xfrm>
          <a:prstGeom prst="straightConnector1">
            <a:avLst/>
          </a:prstGeom>
          <a:noFill/>
          <a:ln cap="flat" cmpd="sng" w="9525">
            <a:solidFill>
              <a:schemeClr val="dk2"/>
            </a:solidFill>
            <a:prstDash val="solid"/>
            <a:round/>
            <a:headEnd len="med" w="med" type="none"/>
            <a:tailEnd len="med" w="med" type="triangle"/>
          </a:ln>
        </p:spPr>
      </p:cxnSp>
      <p:cxnSp>
        <p:nvCxnSpPr>
          <p:cNvPr id="170" name="Google Shape;170;p18"/>
          <p:cNvCxnSpPr>
            <a:stCxn id="164" idx="3"/>
            <a:endCxn id="165" idx="1"/>
          </p:cNvCxnSpPr>
          <p:nvPr/>
        </p:nvCxnSpPr>
        <p:spPr>
          <a:xfrm>
            <a:off x="4789850" y="1421375"/>
            <a:ext cx="849900" cy="45900"/>
          </a:xfrm>
          <a:prstGeom prst="straightConnector1">
            <a:avLst/>
          </a:prstGeom>
          <a:noFill/>
          <a:ln cap="flat" cmpd="sng" w="9525">
            <a:solidFill>
              <a:schemeClr val="dk2"/>
            </a:solidFill>
            <a:prstDash val="solid"/>
            <a:round/>
            <a:headEnd len="med" w="med" type="none"/>
            <a:tailEnd len="med" w="med" type="triangle"/>
          </a:ln>
        </p:spPr>
      </p:cxnSp>
      <p:cxnSp>
        <p:nvCxnSpPr>
          <p:cNvPr id="171" name="Google Shape;171;p18"/>
          <p:cNvCxnSpPr>
            <a:stCxn id="164" idx="3"/>
            <a:endCxn id="166" idx="1"/>
          </p:cNvCxnSpPr>
          <p:nvPr/>
        </p:nvCxnSpPr>
        <p:spPr>
          <a:xfrm>
            <a:off x="4789850" y="1421375"/>
            <a:ext cx="764100" cy="689700"/>
          </a:xfrm>
          <a:prstGeom prst="straightConnector1">
            <a:avLst/>
          </a:prstGeom>
          <a:noFill/>
          <a:ln cap="flat" cmpd="sng" w="9525">
            <a:solidFill>
              <a:schemeClr val="dk2"/>
            </a:solidFill>
            <a:prstDash val="solid"/>
            <a:round/>
            <a:headEnd len="med" w="med" type="none"/>
            <a:tailEnd len="med" w="med" type="triangle"/>
          </a:ln>
        </p:spPr>
      </p:cxnSp>
      <p:cxnSp>
        <p:nvCxnSpPr>
          <p:cNvPr id="172" name="Google Shape;172;p18"/>
          <p:cNvCxnSpPr>
            <a:stCxn id="165" idx="3"/>
            <a:endCxn id="173" idx="1"/>
          </p:cNvCxnSpPr>
          <p:nvPr/>
        </p:nvCxnSpPr>
        <p:spPr>
          <a:xfrm flipH="1" rot="10800000">
            <a:off x="6178075" y="1446838"/>
            <a:ext cx="677400" cy="20400"/>
          </a:xfrm>
          <a:prstGeom prst="straightConnector1">
            <a:avLst/>
          </a:prstGeom>
          <a:noFill/>
          <a:ln cap="flat" cmpd="sng" w="9525">
            <a:solidFill>
              <a:schemeClr val="dk2"/>
            </a:solidFill>
            <a:prstDash val="solid"/>
            <a:round/>
            <a:headEnd len="med" w="med" type="none"/>
            <a:tailEnd len="med" w="med" type="triangle"/>
          </a:ln>
        </p:spPr>
      </p:cxnSp>
      <p:cxnSp>
        <p:nvCxnSpPr>
          <p:cNvPr id="174" name="Google Shape;174;p18"/>
          <p:cNvCxnSpPr>
            <a:stCxn id="166" idx="3"/>
            <a:endCxn id="175" idx="1"/>
          </p:cNvCxnSpPr>
          <p:nvPr/>
        </p:nvCxnSpPr>
        <p:spPr>
          <a:xfrm>
            <a:off x="6178150" y="2111150"/>
            <a:ext cx="759600" cy="0"/>
          </a:xfrm>
          <a:prstGeom prst="straightConnector1">
            <a:avLst/>
          </a:prstGeom>
          <a:noFill/>
          <a:ln cap="flat" cmpd="sng" w="9525">
            <a:solidFill>
              <a:schemeClr val="dk2"/>
            </a:solidFill>
            <a:prstDash val="solid"/>
            <a:round/>
            <a:headEnd len="med" w="med" type="none"/>
            <a:tailEnd len="med" w="med" type="triangle"/>
          </a:ln>
        </p:spPr>
      </p:cxnSp>
      <p:cxnSp>
        <p:nvCxnSpPr>
          <p:cNvPr id="176" name="Google Shape;176;p18"/>
          <p:cNvCxnSpPr>
            <a:stCxn id="163" idx="3"/>
            <a:endCxn id="177" idx="1"/>
          </p:cNvCxnSpPr>
          <p:nvPr/>
        </p:nvCxnSpPr>
        <p:spPr>
          <a:xfrm>
            <a:off x="2551000" y="2571750"/>
            <a:ext cx="521700" cy="15000"/>
          </a:xfrm>
          <a:prstGeom prst="straightConnector1">
            <a:avLst/>
          </a:prstGeom>
          <a:noFill/>
          <a:ln cap="flat" cmpd="sng" w="9525">
            <a:solidFill>
              <a:schemeClr val="dk2"/>
            </a:solidFill>
            <a:prstDash val="solid"/>
            <a:round/>
            <a:headEnd len="med" w="med" type="none"/>
            <a:tailEnd len="med" w="med" type="triangle"/>
          </a:ln>
        </p:spPr>
      </p:cxnSp>
      <p:sp>
        <p:nvSpPr>
          <p:cNvPr id="178" name="Google Shape;178;p18"/>
          <p:cNvSpPr txBox="1"/>
          <p:nvPr/>
        </p:nvSpPr>
        <p:spPr>
          <a:xfrm>
            <a:off x="311700" y="3296925"/>
            <a:ext cx="5328300" cy="14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accent1"/>
                </a:solidFill>
                <a:latin typeface="Poppins"/>
                <a:ea typeface="Poppins"/>
                <a:cs typeface="Poppins"/>
                <a:sym typeface="Poppins"/>
              </a:rPr>
              <a:t>En una comisión parlamentaria hay 8 legisladores. </a:t>
            </a:r>
            <a:endParaRPr sz="2000">
              <a:solidFill>
                <a:schemeClr val="accent1"/>
              </a:solidFill>
              <a:latin typeface="Poppins"/>
              <a:ea typeface="Poppins"/>
              <a:cs typeface="Poppins"/>
              <a:sym typeface="Poppins"/>
            </a:endParaRPr>
          </a:p>
          <a:p>
            <a:pPr indent="0" lvl="0" marL="0" rtl="0" algn="l">
              <a:spcBef>
                <a:spcPts val="0"/>
              </a:spcBef>
              <a:spcAft>
                <a:spcPts val="0"/>
              </a:spcAft>
              <a:buNone/>
            </a:pPr>
            <a:r>
              <a:rPr lang="es" sz="2000">
                <a:solidFill>
                  <a:schemeClr val="accent1"/>
                </a:solidFill>
                <a:latin typeface="Poppins"/>
                <a:ea typeface="Poppins"/>
                <a:cs typeface="Poppins"/>
                <a:sym typeface="Poppins"/>
              </a:rPr>
              <a:t>¿De cuántas formas se pueden formar subcomisiones de 4 miembros (sin importar el orden)?</a:t>
            </a:r>
            <a:endParaRPr sz="2000">
              <a:solidFill>
                <a:schemeClr val="accent1"/>
              </a:solidFill>
              <a:latin typeface="Poppins"/>
              <a:ea typeface="Poppins"/>
              <a:cs typeface="Poppins"/>
              <a:sym typeface="Poppins"/>
            </a:endParaRPr>
          </a:p>
        </p:txBody>
      </p:sp>
      <p:sp>
        <p:nvSpPr>
          <p:cNvPr id="179" name="Google Shape;179;p18"/>
          <p:cNvSpPr txBox="1"/>
          <p:nvPr/>
        </p:nvSpPr>
        <p:spPr>
          <a:xfrm>
            <a:off x="6855500" y="1211200"/>
            <a:ext cx="1595400" cy="471000"/>
          </a:xfrm>
          <a:prstGeom prst="rect">
            <a:avLst/>
          </a:prstGeom>
          <a:solidFill>
            <a:schemeClr val="accen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Permutación</a:t>
            </a:r>
            <a:endParaRPr sz="1800">
              <a:solidFill>
                <a:schemeClr val="dk1"/>
              </a:solidFill>
            </a:endParaRPr>
          </a:p>
        </p:txBody>
      </p:sp>
      <p:sp>
        <p:nvSpPr>
          <p:cNvPr id="180" name="Google Shape;180;p18"/>
          <p:cNvSpPr txBox="1"/>
          <p:nvPr/>
        </p:nvSpPr>
        <p:spPr>
          <a:xfrm>
            <a:off x="6937700" y="1875650"/>
            <a:ext cx="1195200" cy="471000"/>
          </a:xfrm>
          <a:prstGeom prst="rect">
            <a:avLst/>
          </a:prstGeom>
          <a:solidFill>
            <a:srgbClr val="E0666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Variación</a:t>
            </a:r>
            <a:endParaRPr sz="1800">
              <a:solidFill>
                <a:schemeClr val="dk1"/>
              </a:solidFill>
            </a:endParaRPr>
          </a:p>
        </p:txBody>
      </p:sp>
      <p:sp>
        <p:nvSpPr>
          <p:cNvPr id="181" name="Google Shape;181;p18"/>
          <p:cNvSpPr txBox="1"/>
          <p:nvPr/>
        </p:nvSpPr>
        <p:spPr>
          <a:xfrm>
            <a:off x="3072650" y="2351250"/>
            <a:ext cx="1551300" cy="4710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t>Combinación</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5" name="Shape 185"/>
        <p:cNvGrpSpPr/>
        <p:nvPr/>
      </p:nvGrpSpPr>
      <p:grpSpPr>
        <a:xfrm>
          <a:off x="0" y="0"/>
          <a:ext cx="0" cy="0"/>
          <a:chOff x="0" y="0"/>
          <a:chExt cx="0" cy="0"/>
        </a:xfrm>
      </p:grpSpPr>
      <p:sp>
        <p:nvSpPr>
          <p:cNvPr id="186" name="Google Shape;18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Poppins"/>
                <a:ea typeface="Poppins"/>
                <a:cs typeface="Poppins"/>
                <a:sym typeface="Poppins"/>
              </a:rPr>
              <a:t>Como saber de qué problema hablamos</a:t>
            </a:r>
            <a:endParaRPr>
              <a:latin typeface="Poppins"/>
              <a:ea typeface="Poppins"/>
              <a:cs typeface="Poppins"/>
              <a:sym typeface="Poppins"/>
            </a:endParaRPr>
          </a:p>
        </p:txBody>
      </p:sp>
      <p:sp>
        <p:nvSpPr>
          <p:cNvPr id="187" name="Google Shape;187;p19"/>
          <p:cNvSpPr txBox="1"/>
          <p:nvPr/>
        </p:nvSpPr>
        <p:spPr>
          <a:xfrm>
            <a:off x="381275" y="1809200"/>
            <a:ext cx="1510200" cy="7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rgbClr val="FF0000"/>
                </a:solidFill>
              </a:rPr>
              <a:t>¿importa el orden?</a:t>
            </a:r>
            <a:endParaRPr sz="1800">
              <a:solidFill>
                <a:srgbClr val="FF0000"/>
              </a:solidFill>
            </a:endParaRPr>
          </a:p>
        </p:txBody>
      </p:sp>
      <p:sp>
        <p:nvSpPr>
          <p:cNvPr id="188" name="Google Shape;188;p19"/>
          <p:cNvSpPr txBox="1"/>
          <p:nvPr/>
        </p:nvSpPr>
        <p:spPr>
          <a:xfrm>
            <a:off x="1988500" y="1293350"/>
            <a:ext cx="5382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SI</a:t>
            </a:r>
            <a:endParaRPr sz="1800">
              <a:solidFill>
                <a:schemeClr val="dk2"/>
              </a:solidFill>
            </a:endParaRPr>
          </a:p>
        </p:txBody>
      </p:sp>
      <p:sp>
        <p:nvSpPr>
          <p:cNvPr id="189" name="Google Shape;189;p19"/>
          <p:cNvSpPr txBox="1"/>
          <p:nvPr/>
        </p:nvSpPr>
        <p:spPr>
          <a:xfrm>
            <a:off x="1964200" y="2351250"/>
            <a:ext cx="5868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NO</a:t>
            </a:r>
            <a:endParaRPr sz="1800">
              <a:solidFill>
                <a:schemeClr val="dk2"/>
              </a:solidFill>
            </a:endParaRPr>
          </a:p>
        </p:txBody>
      </p:sp>
      <p:sp>
        <p:nvSpPr>
          <p:cNvPr id="190" name="Google Shape;190;p19"/>
          <p:cNvSpPr txBox="1"/>
          <p:nvPr/>
        </p:nvSpPr>
        <p:spPr>
          <a:xfrm>
            <a:off x="3376850" y="1017725"/>
            <a:ext cx="1413000" cy="80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rgbClr val="FF0000"/>
                </a:solidFill>
              </a:rPr>
              <a:t>¿Todos los elementos?</a:t>
            </a:r>
            <a:endParaRPr sz="1800">
              <a:solidFill>
                <a:srgbClr val="FF0000"/>
              </a:solidFill>
            </a:endParaRPr>
          </a:p>
        </p:txBody>
      </p:sp>
      <p:sp>
        <p:nvSpPr>
          <p:cNvPr id="191" name="Google Shape;191;p19"/>
          <p:cNvSpPr txBox="1"/>
          <p:nvPr/>
        </p:nvSpPr>
        <p:spPr>
          <a:xfrm>
            <a:off x="5639875" y="1272838"/>
            <a:ext cx="5382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SI</a:t>
            </a:r>
            <a:endParaRPr sz="1800">
              <a:solidFill>
                <a:schemeClr val="dk2"/>
              </a:solidFill>
            </a:endParaRPr>
          </a:p>
        </p:txBody>
      </p:sp>
      <p:sp>
        <p:nvSpPr>
          <p:cNvPr id="192" name="Google Shape;192;p19"/>
          <p:cNvSpPr txBox="1"/>
          <p:nvPr/>
        </p:nvSpPr>
        <p:spPr>
          <a:xfrm>
            <a:off x="5553850" y="1916750"/>
            <a:ext cx="6243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NO</a:t>
            </a:r>
            <a:endParaRPr sz="1800">
              <a:solidFill>
                <a:schemeClr val="dk2"/>
              </a:solidFill>
            </a:endParaRPr>
          </a:p>
        </p:txBody>
      </p:sp>
      <p:cxnSp>
        <p:nvCxnSpPr>
          <p:cNvPr id="193" name="Google Shape;193;p19"/>
          <p:cNvCxnSpPr>
            <a:endCxn id="188" idx="1"/>
          </p:cNvCxnSpPr>
          <p:nvPr/>
        </p:nvCxnSpPr>
        <p:spPr>
          <a:xfrm flipH="1" rot="10800000">
            <a:off x="1412800" y="1487750"/>
            <a:ext cx="575700" cy="351300"/>
          </a:xfrm>
          <a:prstGeom prst="straightConnector1">
            <a:avLst/>
          </a:prstGeom>
          <a:noFill/>
          <a:ln cap="flat" cmpd="sng" w="9525">
            <a:solidFill>
              <a:schemeClr val="dk2"/>
            </a:solidFill>
            <a:prstDash val="solid"/>
            <a:round/>
            <a:headEnd len="med" w="med" type="none"/>
            <a:tailEnd len="med" w="med" type="triangle"/>
          </a:ln>
        </p:spPr>
      </p:cxnSp>
      <p:cxnSp>
        <p:nvCxnSpPr>
          <p:cNvPr id="194" name="Google Shape;194;p19"/>
          <p:cNvCxnSpPr>
            <a:stCxn id="187" idx="2"/>
            <a:endCxn id="189" idx="1"/>
          </p:cNvCxnSpPr>
          <p:nvPr/>
        </p:nvCxnSpPr>
        <p:spPr>
          <a:xfrm>
            <a:off x="1136375" y="2519300"/>
            <a:ext cx="827700" cy="52500"/>
          </a:xfrm>
          <a:prstGeom prst="straightConnector1">
            <a:avLst/>
          </a:prstGeom>
          <a:noFill/>
          <a:ln cap="flat" cmpd="sng" w="9525">
            <a:solidFill>
              <a:schemeClr val="dk2"/>
            </a:solidFill>
            <a:prstDash val="solid"/>
            <a:round/>
            <a:headEnd len="med" w="med" type="none"/>
            <a:tailEnd len="med" w="med" type="triangle"/>
          </a:ln>
        </p:spPr>
      </p:cxnSp>
      <p:cxnSp>
        <p:nvCxnSpPr>
          <p:cNvPr id="195" name="Google Shape;195;p19"/>
          <p:cNvCxnSpPr>
            <a:stCxn id="188" idx="3"/>
            <a:endCxn id="190" idx="1"/>
          </p:cNvCxnSpPr>
          <p:nvPr/>
        </p:nvCxnSpPr>
        <p:spPr>
          <a:xfrm flipH="1" rot="10800000">
            <a:off x="2526700" y="1421450"/>
            <a:ext cx="850200" cy="66300"/>
          </a:xfrm>
          <a:prstGeom prst="straightConnector1">
            <a:avLst/>
          </a:prstGeom>
          <a:noFill/>
          <a:ln cap="flat" cmpd="sng" w="9525">
            <a:solidFill>
              <a:schemeClr val="dk2"/>
            </a:solidFill>
            <a:prstDash val="solid"/>
            <a:round/>
            <a:headEnd len="med" w="med" type="none"/>
            <a:tailEnd len="med" w="med" type="triangle"/>
          </a:ln>
        </p:spPr>
      </p:cxnSp>
      <p:cxnSp>
        <p:nvCxnSpPr>
          <p:cNvPr id="196" name="Google Shape;196;p19"/>
          <p:cNvCxnSpPr>
            <a:stCxn id="190" idx="3"/>
            <a:endCxn id="191" idx="1"/>
          </p:cNvCxnSpPr>
          <p:nvPr/>
        </p:nvCxnSpPr>
        <p:spPr>
          <a:xfrm>
            <a:off x="4789850" y="1421375"/>
            <a:ext cx="849900" cy="45900"/>
          </a:xfrm>
          <a:prstGeom prst="straightConnector1">
            <a:avLst/>
          </a:prstGeom>
          <a:noFill/>
          <a:ln cap="flat" cmpd="sng" w="9525">
            <a:solidFill>
              <a:schemeClr val="dk2"/>
            </a:solidFill>
            <a:prstDash val="solid"/>
            <a:round/>
            <a:headEnd len="med" w="med" type="none"/>
            <a:tailEnd len="med" w="med" type="triangle"/>
          </a:ln>
        </p:spPr>
      </p:cxnSp>
      <p:cxnSp>
        <p:nvCxnSpPr>
          <p:cNvPr id="197" name="Google Shape;197;p19"/>
          <p:cNvCxnSpPr>
            <a:stCxn id="190" idx="3"/>
            <a:endCxn id="192" idx="1"/>
          </p:cNvCxnSpPr>
          <p:nvPr/>
        </p:nvCxnSpPr>
        <p:spPr>
          <a:xfrm>
            <a:off x="4789850" y="1421375"/>
            <a:ext cx="764100" cy="689700"/>
          </a:xfrm>
          <a:prstGeom prst="straightConnector1">
            <a:avLst/>
          </a:prstGeom>
          <a:noFill/>
          <a:ln cap="flat" cmpd="sng" w="9525">
            <a:solidFill>
              <a:schemeClr val="dk2"/>
            </a:solidFill>
            <a:prstDash val="solid"/>
            <a:round/>
            <a:headEnd len="med" w="med" type="none"/>
            <a:tailEnd len="med" w="med" type="triangle"/>
          </a:ln>
        </p:spPr>
      </p:cxnSp>
      <p:cxnSp>
        <p:nvCxnSpPr>
          <p:cNvPr id="198" name="Google Shape;198;p19"/>
          <p:cNvCxnSpPr>
            <a:stCxn id="191" idx="3"/>
            <a:endCxn id="199" idx="1"/>
          </p:cNvCxnSpPr>
          <p:nvPr/>
        </p:nvCxnSpPr>
        <p:spPr>
          <a:xfrm flipH="1" rot="10800000">
            <a:off x="6178075" y="1446838"/>
            <a:ext cx="677400" cy="20400"/>
          </a:xfrm>
          <a:prstGeom prst="straightConnector1">
            <a:avLst/>
          </a:prstGeom>
          <a:noFill/>
          <a:ln cap="flat" cmpd="sng" w="9525">
            <a:solidFill>
              <a:schemeClr val="dk2"/>
            </a:solidFill>
            <a:prstDash val="solid"/>
            <a:round/>
            <a:headEnd len="med" w="med" type="none"/>
            <a:tailEnd len="med" w="med" type="triangle"/>
          </a:ln>
        </p:spPr>
      </p:cxnSp>
      <p:cxnSp>
        <p:nvCxnSpPr>
          <p:cNvPr id="200" name="Google Shape;200;p19"/>
          <p:cNvCxnSpPr>
            <a:stCxn id="192" idx="3"/>
            <a:endCxn id="201" idx="1"/>
          </p:cNvCxnSpPr>
          <p:nvPr/>
        </p:nvCxnSpPr>
        <p:spPr>
          <a:xfrm>
            <a:off x="6178150" y="2111150"/>
            <a:ext cx="759600" cy="0"/>
          </a:xfrm>
          <a:prstGeom prst="straightConnector1">
            <a:avLst/>
          </a:prstGeom>
          <a:noFill/>
          <a:ln cap="flat" cmpd="sng" w="9525">
            <a:solidFill>
              <a:schemeClr val="dk2"/>
            </a:solidFill>
            <a:prstDash val="solid"/>
            <a:round/>
            <a:headEnd len="med" w="med" type="none"/>
            <a:tailEnd len="med" w="med" type="triangle"/>
          </a:ln>
        </p:spPr>
      </p:cxnSp>
      <p:cxnSp>
        <p:nvCxnSpPr>
          <p:cNvPr id="202" name="Google Shape;202;p19"/>
          <p:cNvCxnSpPr>
            <a:stCxn id="189" idx="3"/>
            <a:endCxn id="203" idx="1"/>
          </p:cNvCxnSpPr>
          <p:nvPr/>
        </p:nvCxnSpPr>
        <p:spPr>
          <a:xfrm>
            <a:off x="2551000" y="2571750"/>
            <a:ext cx="521700" cy="15000"/>
          </a:xfrm>
          <a:prstGeom prst="straightConnector1">
            <a:avLst/>
          </a:prstGeom>
          <a:noFill/>
          <a:ln cap="flat" cmpd="sng" w="9525">
            <a:solidFill>
              <a:schemeClr val="dk2"/>
            </a:solidFill>
            <a:prstDash val="solid"/>
            <a:round/>
            <a:headEnd len="med" w="med" type="none"/>
            <a:tailEnd len="med" w="med" type="triangle"/>
          </a:ln>
        </p:spPr>
      </p:cxnSp>
      <p:sp>
        <p:nvSpPr>
          <p:cNvPr id="204" name="Google Shape;204;p19"/>
          <p:cNvSpPr txBox="1"/>
          <p:nvPr/>
        </p:nvSpPr>
        <p:spPr>
          <a:xfrm>
            <a:off x="311700" y="3296925"/>
            <a:ext cx="5328300" cy="14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accent1"/>
                </a:solidFill>
                <a:latin typeface="Poppins"/>
                <a:ea typeface="Poppins"/>
                <a:cs typeface="Poppins"/>
                <a:sym typeface="Poppins"/>
              </a:rPr>
              <a:t>En una comisión parlamentaria hay 8 legisladores. </a:t>
            </a:r>
            <a:endParaRPr sz="2000">
              <a:solidFill>
                <a:schemeClr val="accent1"/>
              </a:solidFill>
              <a:latin typeface="Poppins"/>
              <a:ea typeface="Poppins"/>
              <a:cs typeface="Poppins"/>
              <a:sym typeface="Poppins"/>
            </a:endParaRPr>
          </a:p>
          <a:p>
            <a:pPr indent="0" lvl="0" marL="0" rtl="0" algn="l">
              <a:spcBef>
                <a:spcPts val="0"/>
              </a:spcBef>
              <a:spcAft>
                <a:spcPts val="0"/>
              </a:spcAft>
              <a:buNone/>
            </a:pPr>
            <a:r>
              <a:rPr lang="es" sz="2000">
                <a:solidFill>
                  <a:schemeClr val="accent1"/>
                </a:solidFill>
                <a:latin typeface="Poppins"/>
                <a:ea typeface="Poppins"/>
                <a:cs typeface="Poppins"/>
                <a:sym typeface="Poppins"/>
              </a:rPr>
              <a:t>¿De cuántas formas se pueden formar subcomisiones de 4 miembros (sin importar el orden)?</a:t>
            </a:r>
            <a:r>
              <a:rPr lang="es" sz="2000">
                <a:solidFill>
                  <a:schemeClr val="accent1"/>
                </a:solidFill>
                <a:latin typeface="Poppins"/>
                <a:ea typeface="Poppins"/>
                <a:cs typeface="Poppins"/>
                <a:sym typeface="Poppins"/>
              </a:rPr>
              <a:t> </a:t>
            </a:r>
            <a:endParaRPr sz="2000">
              <a:solidFill>
                <a:schemeClr val="accent1"/>
              </a:solidFill>
              <a:latin typeface="Poppins"/>
              <a:ea typeface="Poppins"/>
              <a:cs typeface="Poppins"/>
              <a:sym typeface="Poppins"/>
            </a:endParaRPr>
          </a:p>
        </p:txBody>
      </p:sp>
      <p:sp>
        <p:nvSpPr>
          <p:cNvPr id="205" name="Google Shape;205;p19"/>
          <p:cNvSpPr txBox="1"/>
          <p:nvPr/>
        </p:nvSpPr>
        <p:spPr>
          <a:xfrm>
            <a:off x="6855500" y="1211200"/>
            <a:ext cx="1595400" cy="471000"/>
          </a:xfrm>
          <a:prstGeom prst="rect">
            <a:avLst/>
          </a:prstGeom>
          <a:solidFill>
            <a:schemeClr val="accen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Permutación</a:t>
            </a:r>
            <a:endParaRPr sz="1800">
              <a:solidFill>
                <a:schemeClr val="dk1"/>
              </a:solidFill>
            </a:endParaRPr>
          </a:p>
        </p:txBody>
      </p:sp>
      <p:sp>
        <p:nvSpPr>
          <p:cNvPr id="206" name="Google Shape;206;p19"/>
          <p:cNvSpPr txBox="1"/>
          <p:nvPr/>
        </p:nvSpPr>
        <p:spPr>
          <a:xfrm>
            <a:off x="6937700" y="1875650"/>
            <a:ext cx="1195200" cy="471000"/>
          </a:xfrm>
          <a:prstGeom prst="rect">
            <a:avLst/>
          </a:prstGeom>
          <a:solidFill>
            <a:srgbClr val="E0666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Variación</a:t>
            </a:r>
            <a:endParaRPr sz="1800">
              <a:solidFill>
                <a:schemeClr val="dk1"/>
              </a:solidFill>
            </a:endParaRPr>
          </a:p>
        </p:txBody>
      </p:sp>
      <p:sp>
        <p:nvSpPr>
          <p:cNvPr id="207" name="Google Shape;207;p19"/>
          <p:cNvSpPr txBox="1"/>
          <p:nvPr/>
        </p:nvSpPr>
        <p:spPr>
          <a:xfrm>
            <a:off x="3072650" y="2351250"/>
            <a:ext cx="1551300" cy="4710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t>Combinación</a:t>
            </a:r>
            <a:endParaRPr sz="1800"/>
          </a:p>
        </p:txBody>
      </p:sp>
      <p:sp>
        <p:nvSpPr>
          <p:cNvPr id="208" name="Google Shape;208;p19"/>
          <p:cNvSpPr/>
          <p:nvPr/>
        </p:nvSpPr>
        <p:spPr>
          <a:xfrm>
            <a:off x="2945700" y="2216125"/>
            <a:ext cx="1848600" cy="689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12" name="Shape 212"/>
        <p:cNvGrpSpPr/>
        <p:nvPr/>
      </p:nvGrpSpPr>
      <p:grpSpPr>
        <a:xfrm>
          <a:off x="0" y="0"/>
          <a:ext cx="0" cy="0"/>
          <a:chOff x="0" y="0"/>
          <a:chExt cx="0" cy="0"/>
        </a:xfrm>
      </p:grpSpPr>
      <p:sp>
        <p:nvSpPr>
          <p:cNvPr id="213" name="Google Shape;21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Poppins"/>
                <a:ea typeface="Poppins"/>
                <a:cs typeface="Poppins"/>
                <a:sym typeface="Poppins"/>
              </a:rPr>
              <a:t>Fórmulas</a:t>
            </a:r>
            <a:r>
              <a:rPr lang="es">
                <a:latin typeface="Poppins"/>
                <a:ea typeface="Poppins"/>
                <a:cs typeface="Poppins"/>
                <a:sym typeface="Poppins"/>
              </a:rPr>
              <a:t> para ejercicios </a:t>
            </a:r>
            <a:r>
              <a:rPr b="1" lang="es">
                <a:solidFill>
                  <a:srgbClr val="995914"/>
                </a:solidFill>
                <a:latin typeface="Poppins"/>
                <a:ea typeface="Poppins"/>
                <a:cs typeface="Poppins"/>
                <a:sym typeface="Poppins"/>
              </a:rPr>
              <a:t>sin repetición</a:t>
            </a:r>
            <a:endParaRPr b="1">
              <a:solidFill>
                <a:srgbClr val="995914"/>
              </a:solidFill>
              <a:latin typeface="Poppins"/>
              <a:ea typeface="Poppins"/>
              <a:cs typeface="Poppins"/>
              <a:sym typeface="Poppins"/>
            </a:endParaRPr>
          </a:p>
        </p:txBody>
      </p:sp>
      <p:pic>
        <p:nvPicPr>
          <p:cNvPr id="214" name="Google Shape;214;p20"/>
          <p:cNvPicPr preferRelativeResize="0"/>
          <p:nvPr/>
        </p:nvPicPr>
        <p:blipFill>
          <a:blip r:embed="rId3">
            <a:alphaModFix/>
          </a:blip>
          <a:stretch>
            <a:fillRect/>
          </a:stretch>
        </p:blipFill>
        <p:spPr>
          <a:xfrm>
            <a:off x="5348250" y="1955100"/>
            <a:ext cx="3226750" cy="1592150"/>
          </a:xfrm>
          <a:prstGeom prst="rect">
            <a:avLst/>
          </a:prstGeom>
          <a:noFill/>
          <a:ln>
            <a:noFill/>
          </a:ln>
        </p:spPr>
      </p:pic>
      <p:grpSp>
        <p:nvGrpSpPr>
          <p:cNvPr id="215" name="Google Shape;215;p20"/>
          <p:cNvGrpSpPr/>
          <p:nvPr/>
        </p:nvGrpSpPr>
        <p:grpSpPr>
          <a:xfrm>
            <a:off x="219700" y="2022425"/>
            <a:ext cx="4146300" cy="1243900"/>
            <a:chOff x="144925" y="1282275"/>
            <a:chExt cx="4146300" cy="1243900"/>
          </a:xfrm>
        </p:grpSpPr>
        <p:pic>
          <p:nvPicPr>
            <p:cNvPr id="216" name="Google Shape;216;p20"/>
            <p:cNvPicPr preferRelativeResize="0"/>
            <p:nvPr/>
          </p:nvPicPr>
          <p:blipFill>
            <a:blip r:embed="rId4">
              <a:alphaModFix/>
            </a:blip>
            <a:stretch>
              <a:fillRect/>
            </a:stretch>
          </p:blipFill>
          <p:spPr>
            <a:xfrm>
              <a:off x="144925" y="1282275"/>
              <a:ext cx="4146300" cy="1243900"/>
            </a:xfrm>
            <a:prstGeom prst="rect">
              <a:avLst/>
            </a:prstGeom>
            <a:noFill/>
            <a:ln>
              <a:noFill/>
            </a:ln>
          </p:spPr>
        </p:pic>
        <p:sp>
          <p:nvSpPr>
            <p:cNvPr id="217" name="Google Shape;217;p20"/>
            <p:cNvSpPr txBox="1"/>
            <p:nvPr/>
          </p:nvSpPr>
          <p:spPr>
            <a:xfrm>
              <a:off x="433625" y="1582775"/>
              <a:ext cx="216900" cy="642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218" name="Google Shape;218;p20"/>
            <p:cNvSpPr txBox="1"/>
            <p:nvPr/>
          </p:nvSpPr>
          <p:spPr>
            <a:xfrm>
              <a:off x="321575" y="1537900"/>
              <a:ext cx="4410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3500">
                  <a:solidFill>
                    <a:srgbClr val="995914"/>
                  </a:solidFill>
                </a:rPr>
                <a:t>V</a:t>
              </a:r>
              <a:endParaRPr b="1" sz="3500">
                <a:solidFill>
                  <a:srgbClr val="995914"/>
                </a:solidFill>
              </a:endParaRPr>
            </a:p>
          </p:txBody>
        </p:sp>
      </p:grpSp>
      <p:sp>
        <p:nvSpPr>
          <p:cNvPr id="219" name="Google Shape;219;p20"/>
          <p:cNvSpPr txBox="1"/>
          <p:nvPr/>
        </p:nvSpPr>
        <p:spPr>
          <a:xfrm>
            <a:off x="381250" y="3655775"/>
            <a:ext cx="3125100" cy="87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3900">
                <a:solidFill>
                  <a:srgbClr val="995914"/>
                </a:solidFill>
              </a:rPr>
              <a:t>Pn = n!</a:t>
            </a:r>
            <a:endParaRPr b="1" sz="3900">
              <a:solidFill>
                <a:srgbClr val="995914"/>
              </a:solidFill>
            </a:endParaRPr>
          </a:p>
        </p:txBody>
      </p:sp>
      <p:sp>
        <p:nvSpPr>
          <p:cNvPr id="220" name="Google Shape;220;p20"/>
          <p:cNvSpPr txBox="1"/>
          <p:nvPr/>
        </p:nvSpPr>
        <p:spPr>
          <a:xfrm>
            <a:off x="956925" y="1420450"/>
            <a:ext cx="2594100" cy="4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Importa el orden</a:t>
            </a:r>
            <a:endParaRPr b="1" sz="1800">
              <a:solidFill>
                <a:schemeClr val="dk2"/>
              </a:solidFill>
              <a:latin typeface="Poppins"/>
              <a:ea typeface="Poppins"/>
              <a:cs typeface="Poppins"/>
              <a:sym typeface="Poppins"/>
            </a:endParaRPr>
          </a:p>
        </p:txBody>
      </p:sp>
      <p:sp>
        <p:nvSpPr>
          <p:cNvPr id="221" name="Google Shape;221;p20"/>
          <p:cNvSpPr txBox="1"/>
          <p:nvPr/>
        </p:nvSpPr>
        <p:spPr>
          <a:xfrm>
            <a:off x="5400575" y="1366738"/>
            <a:ext cx="2594100" cy="4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NO Importa el orden</a:t>
            </a:r>
            <a:endParaRPr b="1" sz="1800">
              <a:solidFill>
                <a:schemeClr val="dk2"/>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25" name="Shape 225"/>
        <p:cNvGrpSpPr/>
        <p:nvPr/>
      </p:nvGrpSpPr>
      <p:grpSpPr>
        <a:xfrm>
          <a:off x="0" y="0"/>
          <a:ext cx="0" cy="0"/>
          <a:chOff x="0" y="0"/>
          <a:chExt cx="0" cy="0"/>
        </a:xfrm>
      </p:grpSpPr>
      <p:pic>
        <p:nvPicPr>
          <p:cNvPr id="226" name="Google Shape;226;p21"/>
          <p:cNvPicPr preferRelativeResize="0"/>
          <p:nvPr/>
        </p:nvPicPr>
        <p:blipFill>
          <a:blip r:embed="rId3">
            <a:alphaModFix/>
          </a:blip>
          <a:stretch>
            <a:fillRect/>
          </a:stretch>
        </p:blipFill>
        <p:spPr>
          <a:xfrm>
            <a:off x="51449" y="3354384"/>
            <a:ext cx="2983825" cy="1564840"/>
          </a:xfrm>
          <a:prstGeom prst="rect">
            <a:avLst/>
          </a:prstGeom>
          <a:noFill/>
          <a:ln>
            <a:noFill/>
          </a:ln>
        </p:spPr>
      </p:pic>
      <p:sp>
        <p:nvSpPr>
          <p:cNvPr id="227" name="Google Shape;227;p21"/>
          <p:cNvSpPr txBox="1"/>
          <p:nvPr/>
        </p:nvSpPr>
        <p:spPr>
          <a:xfrm>
            <a:off x="351474" y="675800"/>
            <a:ext cx="144868" cy="415763"/>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228" name="Google Shape;228;p21"/>
          <p:cNvSpPr txBox="1"/>
          <p:nvPr/>
        </p:nvSpPr>
        <p:spPr>
          <a:xfrm>
            <a:off x="158658" y="2089337"/>
            <a:ext cx="1843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3600">
                <a:solidFill>
                  <a:srgbClr val="995914"/>
                </a:solidFill>
              </a:rPr>
              <a:t>Pn = n!</a:t>
            </a:r>
            <a:endParaRPr b="1" sz="3600">
              <a:solidFill>
                <a:srgbClr val="995914"/>
              </a:solidFill>
            </a:endParaRPr>
          </a:p>
        </p:txBody>
      </p:sp>
      <p:sp>
        <p:nvSpPr>
          <p:cNvPr id="229" name="Google Shape;229;p21"/>
          <p:cNvSpPr txBox="1"/>
          <p:nvPr/>
        </p:nvSpPr>
        <p:spPr>
          <a:xfrm>
            <a:off x="93766" y="0"/>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Importa el orden</a:t>
            </a:r>
            <a:endParaRPr b="1" sz="1800">
              <a:solidFill>
                <a:schemeClr val="dk2"/>
              </a:solidFill>
              <a:latin typeface="Poppins"/>
              <a:ea typeface="Poppins"/>
              <a:cs typeface="Poppins"/>
              <a:sym typeface="Poppins"/>
            </a:endParaRPr>
          </a:p>
        </p:txBody>
      </p:sp>
      <p:sp>
        <p:nvSpPr>
          <p:cNvPr id="230" name="Google Shape;230;p21"/>
          <p:cNvSpPr txBox="1"/>
          <p:nvPr/>
        </p:nvSpPr>
        <p:spPr>
          <a:xfrm>
            <a:off x="99835" y="3150579"/>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NO Importa el orden</a:t>
            </a:r>
            <a:endParaRPr b="1" sz="1800">
              <a:solidFill>
                <a:schemeClr val="dk2"/>
              </a:solidFill>
              <a:latin typeface="Poppins"/>
              <a:ea typeface="Poppins"/>
              <a:cs typeface="Poppins"/>
              <a:sym typeface="Poppins"/>
            </a:endParaRPr>
          </a:p>
        </p:txBody>
      </p:sp>
      <p:sp>
        <p:nvSpPr>
          <p:cNvPr id="231" name="Google Shape;231;p21"/>
          <p:cNvSpPr txBox="1"/>
          <p:nvPr/>
        </p:nvSpPr>
        <p:spPr>
          <a:xfrm>
            <a:off x="3909950" y="306525"/>
            <a:ext cx="4306200" cy="1277400"/>
          </a:xfrm>
          <a:prstGeom prst="rect">
            <a:avLst/>
          </a:prstGeom>
          <a:noFill/>
          <a:ln>
            <a:noFill/>
          </a:ln>
        </p:spPr>
        <p:txBody>
          <a:bodyPr anchorCtr="0" anchor="t" bIns="91425" lIns="91425" spcFirstLastPara="1" rIns="91425" wrap="square" tIns="91425">
            <a:spAutoFit/>
          </a:bodyPr>
          <a:lstStyle/>
          <a:p>
            <a:pPr indent="-374650" lvl="0" marL="457200" rtl="0" algn="l">
              <a:spcBef>
                <a:spcPts val="0"/>
              </a:spcBef>
              <a:spcAft>
                <a:spcPts val="0"/>
              </a:spcAft>
              <a:buClr>
                <a:schemeClr val="dk2"/>
              </a:buClr>
              <a:buSzPts val="2300"/>
              <a:buAutoNum type="arabicPeriod"/>
            </a:pPr>
            <a:r>
              <a:rPr lang="es" sz="1600">
                <a:solidFill>
                  <a:schemeClr val="dk1"/>
                </a:solidFill>
              </a:rPr>
              <a:t>En una comisión parlamentaria hay 8 legisladores. ¿De cuántas formas se pueden formar </a:t>
            </a:r>
            <a:r>
              <a:rPr b="1" lang="es" sz="1600">
                <a:solidFill>
                  <a:schemeClr val="dk1"/>
                </a:solidFill>
              </a:rPr>
              <a:t>subcomisiones de 4</a:t>
            </a:r>
            <a:r>
              <a:rPr lang="es" sz="1600">
                <a:solidFill>
                  <a:schemeClr val="dk1"/>
                </a:solidFill>
              </a:rPr>
              <a:t> miembros</a:t>
            </a:r>
            <a:endParaRPr sz="2300">
              <a:solidFill>
                <a:schemeClr val="dk2"/>
              </a:solidFill>
            </a:endParaRPr>
          </a:p>
        </p:txBody>
      </p:sp>
      <p:cxnSp>
        <p:nvCxnSpPr>
          <p:cNvPr id="232" name="Google Shape;232;p21"/>
          <p:cNvCxnSpPr/>
          <p:nvPr/>
        </p:nvCxnSpPr>
        <p:spPr>
          <a:xfrm>
            <a:off x="3154875" y="7475"/>
            <a:ext cx="22500" cy="5173500"/>
          </a:xfrm>
          <a:prstGeom prst="straightConnector1">
            <a:avLst/>
          </a:prstGeom>
          <a:noFill/>
          <a:ln cap="flat" cmpd="sng" w="9525">
            <a:solidFill>
              <a:schemeClr val="dk2"/>
            </a:solidFill>
            <a:prstDash val="solid"/>
            <a:round/>
            <a:headEnd len="med" w="med" type="none"/>
            <a:tailEnd len="med" w="med" type="none"/>
          </a:ln>
        </p:spPr>
      </p:cxnSp>
      <p:grpSp>
        <p:nvGrpSpPr>
          <p:cNvPr id="233" name="Google Shape;233;p21"/>
          <p:cNvGrpSpPr/>
          <p:nvPr/>
        </p:nvGrpSpPr>
        <p:grpSpPr>
          <a:xfrm>
            <a:off x="158651" y="646780"/>
            <a:ext cx="2769314" cy="1088466"/>
            <a:chOff x="144925" y="1537900"/>
            <a:chExt cx="4146300" cy="1683108"/>
          </a:xfrm>
        </p:grpSpPr>
        <p:pic>
          <p:nvPicPr>
            <p:cNvPr id="234" name="Google Shape;234;p21"/>
            <p:cNvPicPr preferRelativeResize="0"/>
            <p:nvPr/>
          </p:nvPicPr>
          <p:blipFill>
            <a:blip r:embed="rId4">
              <a:alphaModFix/>
            </a:blip>
            <a:stretch>
              <a:fillRect/>
            </a:stretch>
          </p:blipFill>
          <p:spPr>
            <a:xfrm>
              <a:off x="144925" y="1977108"/>
              <a:ext cx="4146300" cy="1243900"/>
            </a:xfrm>
            <a:prstGeom prst="rect">
              <a:avLst/>
            </a:prstGeom>
            <a:noFill/>
            <a:ln>
              <a:noFill/>
            </a:ln>
          </p:spPr>
        </p:pic>
        <p:sp>
          <p:nvSpPr>
            <p:cNvPr id="235" name="Google Shape;235;p21"/>
            <p:cNvSpPr txBox="1"/>
            <p:nvPr/>
          </p:nvSpPr>
          <p:spPr>
            <a:xfrm>
              <a:off x="433625" y="1582775"/>
              <a:ext cx="216900" cy="642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236" name="Google Shape;236;p21"/>
            <p:cNvSpPr txBox="1"/>
            <p:nvPr/>
          </p:nvSpPr>
          <p:spPr>
            <a:xfrm>
              <a:off x="321575" y="1537900"/>
              <a:ext cx="4410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500">
                <a:solidFill>
                  <a:srgbClr val="995914"/>
                </a:solidFill>
              </a:endParaRPr>
            </a:p>
          </p:txBody>
        </p:sp>
      </p:grpSp>
      <p:sp>
        <p:nvSpPr>
          <p:cNvPr id="237" name="Google Shape;237;p21"/>
          <p:cNvSpPr txBox="1"/>
          <p:nvPr/>
        </p:nvSpPr>
        <p:spPr>
          <a:xfrm>
            <a:off x="99825" y="1027138"/>
            <a:ext cx="621600" cy="5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995914"/>
                </a:solidFill>
                <a:highlight>
                  <a:srgbClr val="EEEEEE"/>
                </a:highlight>
              </a:rPr>
              <a:t>n</a:t>
            </a:r>
            <a:r>
              <a:rPr b="1" lang="es" sz="2300">
                <a:solidFill>
                  <a:srgbClr val="995914"/>
                </a:solidFill>
                <a:highlight>
                  <a:srgbClr val="EEEEEE"/>
                </a:highlight>
              </a:rPr>
              <a:t>V</a:t>
            </a:r>
            <a:r>
              <a:rPr b="1" lang="es" sz="1800">
                <a:solidFill>
                  <a:srgbClr val="995914"/>
                </a:solidFill>
                <a:highlight>
                  <a:srgbClr val="EEEEEE"/>
                </a:highlight>
              </a:rPr>
              <a:t>r</a:t>
            </a:r>
            <a:endParaRPr b="1" sz="1800">
              <a:solidFill>
                <a:srgbClr val="995914"/>
              </a:solidFill>
              <a:highlight>
                <a:srgbClr val="EEEEEE"/>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41" name="Shape 241"/>
        <p:cNvGrpSpPr/>
        <p:nvPr/>
      </p:nvGrpSpPr>
      <p:grpSpPr>
        <a:xfrm>
          <a:off x="0" y="0"/>
          <a:ext cx="0" cy="0"/>
          <a:chOff x="0" y="0"/>
          <a:chExt cx="0" cy="0"/>
        </a:xfrm>
      </p:grpSpPr>
      <p:pic>
        <p:nvPicPr>
          <p:cNvPr id="242" name="Google Shape;242;p22"/>
          <p:cNvPicPr preferRelativeResize="0"/>
          <p:nvPr/>
        </p:nvPicPr>
        <p:blipFill>
          <a:blip r:embed="rId3">
            <a:alphaModFix/>
          </a:blip>
          <a:stretch>
            <a:fillRect/>
          </a:stretch>
        </p:blipFill>
        <p:spPr>
          <a:xfrm>
            <a:off x="51449" y="3354384"/>
            <a:ext cx="2983825" cy="1564840"/>
          </a:xfrm>
          <a:prstGeom prst="rect">
            <a:avLst/>
          </a:prstGeom>
          <a:noFill/>
          <a:ln>
            <a:noFill/>
          </a:ln>
        </p:spPr>
      </p:pic>
      <p:grpSp>
        <p:nvGrpSpPr>
          <p:cNvPr id="243" name="Google Shape;243;p22"/>
          <p:cNvGrpSpPr/>
          <p:nvPr/>
        </p:nvGrpSpPr>
        <p:grpSpPr>
          <a:xfrm>
            <a:off x="158651" y="646780"/>
            <a:ext cx="2769314" cy="1088466"/>
            <a:chOff x="144925" y="1537900"/>
            <a:chExt cx="4146300" cy="1683108"/>
          </a:xfrm>
        </p:grpSpPr>
        <p:pic>
          <p:nvPicPr>
            <p:cNvPr id="244" name="Google Shape;244;p22"/>
            <p:cNvPicPr preferRelativeResize="0"/>
            <p:nvPr/>
          </p:nvPicPr>
          <p:blipFill>
            <a:blip r:embed="rId4">
              <a:alphaModFix/>
            </a:blip>
            <a:stretch>
              <a:fillRect/>
            </a:stretch>
          </p:blipFill>
          <p:spPr>
            <a:xfrm>
              <a:off x="144925" y="1977108"/>
              <a:ext cx="4146300" cy="1243900"/>
            </a:xfrm>
            <a:prstGeom prst="rect">
              <a:avLst/>
            </a:prstGeom>
            <a:noFill/>
            <a:ln>
              <a:noFill/>
            </a:ln>
          </p:spPr>
        </p:pic>
        <p:sp>
          <p:nvSpPr>
            <p:cNvPr id="245" name="Google Shape;245;p22"/>
            <p:cNvSpPr txBox="1"/>
            <p:nvPr/>
          </p:nvSpPr>
          <p:spPr>
            <a:xfrm>
              <a:off x="433625" y="1582775"/>
              <a:ext cx="216900" cy="642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246" name="Google Shape;246;p22"/>
            <p:cNvSpPr txBox="1"/>
            <p:nvPr/>
          </p:nvSpPr>
          <p:spPr>
            <a:xfrm>
              <a:off x="321575" y="1537900"/>
              <a:ext cx="4410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500">
                <a:solidFill>
                  <a:srgbClr val="995914"/>
                </a:solidFill>
              </a:endParaRPr>
            </a:p>
          </p:txBody>
        </p:sp>
      </p:grpSp>
      <p:sp>
        <p:nvSpPr>
          <p:cNvPr id="247" name="Google Shape;247;p22"/>
          <p:cNvSpPr txBox="1"/>
          <p:nvPr/>
        </p:nvSpPr>
        <p:spPr>
          <a:xfrm>
            <a:off x="158658" y="2089337"/>
            <a:ext cx="1843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3600">
                <a:solidFill>
                  <a:srgbClr val="995914"/>
                </a:solidFill>
              </a:rPr>
              <a:t>Pn = n!</a:t>
            </a:r>
            <a:endParaRPr b="1" sz="3600">
              <a:solidFill>
                <a:srgbClr val="995914"/>
              </a:solidFill>
            </a:endParaRPr>
          </a:p>
        </p:txBody>
      </p:sp>
      <p:sp>
        <p:nvSpPr>
          <p:cNvPr id="248" name="Google Shape;248;p22"/>
          <p:cNvSpPr txBox="1"/>
          <p:nvPr/>
        </p:nvSpPr>
        <p:spPr>
          <a:xfrm>
            <a:off x="93766" y="0"/>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Importa el orden</a:t>
            </a:r>
            <a:endParaRPr b="1" sz="1800">
              <a:solidFill>
                <a:schemeClr val="dk2"/>
              </a:solidFill>
              <a:latin typeface="Poppins"/>
              <a:ea typeface="Poppins"/>
              <a:cs typeface="Poppins"/>
              <a:sym typeface="Poppins"/>
            </a:endParaRPr>
          </a:p>
        </p:txBody>
      </p:sp>
      <p:sp>
        <p:nvSpPr>
          <p:cNvPr id="249" name="Google Shape;249;p22"/>
          <p:cNvSpPr txBox="1"/>
          <p:nvPr/>
        </p:nvSpPr>
        <p:spPr>
          <a:xfrm>
            <a:off x="99835" y="3150579"/>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NO Importa el orden</a:t>
            </a:r>
            <a:endParaRPr b="1" sz="1800">
              <a:solidFill>
                <a:schemeClr val="dk2"/>
              </a:solidFill>
              <a:latin typeface="Poppins"/>
              <a:ea typeface="Poppins"/>
              <a:cs typeface="Poppins"/>
              <a:sym typeface="Poppins"/>
            </a:endParaRPr>
          </a:p>
        </p:txBody>
      </p:sp>
      <p:cxnSp>
        <p:nvCxnSpPr>
          <p:cNvPr id="250" name="Google Shape;250;p22"/>
          <p:cNvCxnSpPr/>
          <p:nvPr/>
        </p:nvCxnSpPr>
        <p:spPr>
          <a:xfrm>
            <a:off x="3154875" y="7475"/>
            <a:ext cx="22500" cy="5173500"/>
          </a:xfrm>
          <a:prstGeom prst="straightConnector1">
            <a:avLst/>
          </a:prstGeom>
          <a:noFill/>
          <a:ln cap="flat" cmpd="sng" w="9525">
            <a:solidFill>
              <a:schemeClr val="dk2"/>
            </a:solidFill>
            <a:prstDash val="solid"/>
            <a:round/>
            <a:headEnd len="med" w="med" type="none"/>
            <a:tailEnd len="med" w="med" type="none"/>
          </a:ln>
        </p:spPr>
      </p:cxnSp>
      <p:sp>
        <p:nvSpPr>
          <p:cNvPr id="251" name="Google Shape;251;p22"/>
          <p:cNvSpPr txBox="1"/>
          <p:nvPr/>
        </p:nvSpPr>
        <p:spPr>
          <a:xfrm>
            <a:off x="3513750" y="3072650"/>
            <a:ext cx="1405500" cy="9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dk2"/>
                </a:solidFill>
              </a:rPr>
              <a:t>8</a:t>
            </a:r>
            <a:r>
              <a:rPr lang="es" sz="4800">
                <a:solidFill>
                  <a:schemeClr val="dk2"/>
                </a:solidFill>
              </a:rPr>
              <a:t>C</a:t>
            </a:r>
            <a:r>
              <a:rPr lang="es" sz="3200">
                <a:solidFill>
                  <a:schemeClr val="dk2"/>
                </a:solidFill>
              </a:rPr>
              <a:t>4</a:t>
            </a:r>
            <a:endParaRPr sz="3200">
              <a:solidFill>
                <a:schemeClr val="dk2"/>
              </a:solidFill>
            </a:endParaRPr>
          </a:p>
        </p:txBody>
      </p:sp>
      <p:sp>
        <p:nvSpPr>
          <p:cNvPr id="252" name="Google Shape;252;p22"/>
          <p:cNvSpPr txBox="1"/>
          <p:nvPr/>
        </p:nvSpPr>
        <p:spPr>
          <a:xfrm>
            <a:off x="5138647" y="3222175"/>
            <a:ext cx="1618200" cy="7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253" name="Google Shape;253;p22"/>
          <p:cNvSpPr txBox="1"/>
          <p:nvPr/>
        </p:nvSpPr>
        <p:spPr>
          <a:xfrm>
            <a:off x="5218250" y="3536150"/>
            <a:ext cx="4263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a:t>
            </a:r>
            <a:endParaRPr sz="1800">
              <a:solidFill>
                <a:schemeClr val="dk2"/>
              </a:solidFill>
            </a:endParaRPr>
          </a:p>
        </p:txBody>
      </p:sp>
      <p:sp>
        <p:nvSpPr>
          <p:cNvPr id="254" name="Google Shape;254;p22"/>
          <p:cNvSpPr txBox="1"/>
          <p:nvPr/>
        </p:nvSpPr>
        <p:spPr>
          <a:xfrm>
            <a:off x="5691872" y="3244600"/>
            <a:ext cx="1405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8</a:t>
            </a:r>
            <a:r>
              <a:rPr lang="es" sz="1800">
                <a:solidFill>
                  <a:schemeClr val="dk2"/>
                </a:solidFill>
              </a:rPr>
              <a:t>!</a:t>
            </a:r>
            <a:endParaRPr sz="1800">
              <a:solidFill>
                <a:schemeClr val="dk2"/>
              </a:solidFill>
            </a:endParaRPr>
          </a:p>
        </p:txBody>
      </p:sp>
      <p:cxnSp>
        <p:nvCxnSpPr>
          <p:cNvPr id="255" name="Google Shape;255;p22"/>
          <p:cNvCxnSpPr/>
          <p:nvPr/>
        </p:nvCxnSpPr>
        <p:spPr>
          <a:xfrm>
            <a:off x="5699347" y="3745475"/>
            <a:ext cx="867300" cy="7500"/>
          </a:xfrm>
          <a:prstGeom prst="straightConnector1">
            <a:avLst/>
          </a:prstGeom>
          <a:noFill/>
          <a:ln cap="flat" cmpd="sng" w="9525">
            <a:solidFill>
              <a:schemeClr val="dk2"/>
            </a:solidFill>
            <a:prstDash val="solid"/>
            <a:round/>
            <a:headEnd len="med" w="med" type="none"/>
            <a:tailEnd len="med" w="med" type="none"/>
          </a:ln>
        </p:spPr>
      </p:cxnSp>
      <p:sp>
        <p:nvSpPr>
          <p:cNvPr id="256" name="Google Shape;256;p22"/>
          <p:cNvSpPr txBox="1"/>
          <p:nvPr/>
        </p:nvSpPr>
        <p:spPr>
          <a:xfrm>
            <a:off x="5649897" y="3815650"/>
            <a:ext cx="144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4</a:t>
            </a:r>
            <a:r>
              <a:rPr lang="es" sz="1800">
                <a:solidFill>
                  <a:schemeClr val="dk2"/>
                </a:solidFill>
              </a:rPr>
              <a:t>! . (8-4)!</a:t>
            </a:r>
            <a:endParaRPr/>
          </a:p>
        </p:txBody>
      </p:sp>
      <p:sp>
        <p:nvSpPr>
          <p:cNvPr id="257" name="Google Shape;257;p22"/>
          <p:cNvSpPr txBox="1"/>
          <p:nvPr/>
        </p:nvSpPr>
        <p:spPr>
          <a:xfrm>
            <a:off x="99825" y="1027138"/>
            <a:ext cx="621600" cy="5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995914"/>
                </a:solidFill>
                <a:highlight>
                  <a:srgbClr val="EEEEEE"/>
                </a:highlight>
              </a:rPr>
              <a:t>n</a:t>
            </a:r>
            <a:r>
              <a:rPr b="1" lang="es" sz="2300">
                <a:solidFill>
                  <a:srgbClr val="995914"/>
                </a:solidFill>
                <a:highlight>
                  <a:srgbClr val="EEEEEE"/>
                </a:highlight>
              </a:rPr>
              <a:t>V</a:t>
            </a:r>
            <a:r>
              <a:rPr b="1" lang="es" sz="1800">
                <a:solidFill>
                  <a:srgbClr val="995914"/>
                </a:solidFill>
                <a:highlight>
                  <a:srgbClr val="EEEEEE"/>
                </a:highlight>
              </a:rPr>
              <a:t>r</a:t>
            </a:r>
            <a:endParaRPr b="1" sz="1800">
              <a:solidFill>
                <a:srgbClr val="995914"/>
              </a:solidFill>
              <a:highlight>
                <a:srgbClr val="EEEEEE"/>
              </a:highlight>
            </a:endParaRPr>
          </a:p>
        </p:txBody>
      </p:sp>
      <p:sp>
        <p:nvSpPr>
          <p:cNvPr id="258" name="Google Shape;258;p22"/>
          <p:cNvSpPr txBox="1"/>
          <p:nvPr/>
        </p:nvSpPr>
        <p:spPr>
          <a:xfrm>
            <a:off x="3909950" y="306525"/>
            <a:ext cx="4306200" cy="1277400"/>
          </a:xfrm>
          <a:prstGeom prst="rect">
            <a:avLst/>
          </a:prstGeom>
          <a:noFill/>
          <a:ln>
            <a:noFill/>
          </a:ln>
        </p:spPr>
        <p:txBody>
          <a:bodyPr anchorCtr="0" anchor="t" bIns="91425" lIns="91425" spcFirstLastPara="1" rIns="91425" wrap="square" tIns="91425">
            <a:spAutoFit/>
          </a:bodyPr>
          <a:lstStyle/>
          <a:p>
            <a:pPr indent="-374650" lvl="0" marL="457200" rtl="0" algn="l">
              <a:spcBef>
                <a:spcPts val="0"/>
              </a:spcBef>
              <a:spcAft>
                <a:spcPts val="0"/>
              </a:spcAft>
              <a:buClr>
                <a:schemeClr val="dk2"/>
              </a:buClr>
              <a:buSzPts val="2300"/>
              <a:buAutoNum type="arabicPeriod"/>
            </a:pPr>
            <a:r>
              <a:rPr lang="es" sz="1600">
                <a:solidFill>
                  <a:schemeClr val="dk1"/>
                </a:solidFill>
              </a:rPr>
              <a:t>En una comisión parlamentaria hay 8 legisladores. ¿De cuántas formas se pueden formar </a:t>
            </a:r>
            <a:r>
              <a:rPr b="1" lang="es" sz="1600">
                <a:solidFill>
                  <a:schemeClr val="dk1"/>
                </a:solidFill>
              </a:rPr>
              <a:t>subcomisiones de 4</a:t>
            </a:r>
            <a:r>
              <a:rPr lang="es" sz="1600">
                <a:solidFill>
                  <a:schemeClr val="dk1"/>
                </a:solidFill>
              </a:rPr>
              <a:t> miembros</a:t>
            </a:r>
            <a:endParaRPr sz="2300">
              <a:solidFill>
                <a:schemeClr val="dk2"/>
              </a:solidFill>
            </a:endParaRPr>
          </a:p>
        </p:txBody>
      </p:sp>
      <p:sp>
        <p:nvSpPr>
          <p:cNvPr id="259" name="Google Shape;259;p22"/>
          <p:cNvSpPr txBox="1"/>
          <p:nvPr/>
        </p:nvSpPr>
        <p:spPr>
          <a:xfrm>
            <a:off x="4455700" y="1936300"/>
            <a:ext cx="33120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2"/>
                </a:solidFill>
              </a:rPr>
              <a:t>n =    8          r = 4</a:t>
            </a:r>
            <a:endParaRPr sz="2100">
              <a:solidFill>
                <a:schemeClr val="dk2"/>
              </a:solidFill>
            </a:endParaRPr>
          </a:p>
        </p:txBody>
      </p:sp>
      <p:sp>
        <p:nvSpPr>
          <p:cNvPr id="260" name="Google Shape;260;p22"/>
          <p:cNvSpPr txBox="1"/>
          <p:nvPr/>
        </p:nvSpPr>
        <p:spPr>
          <a:xfrm>
            <a:off x="6873897" y="3221638"/>
            <a:ext cx="1618200" cy="7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261" name="Google Shape;261;p22"/>
          <p:cNvSpPr txBox="1"/>
          <p:nvPr/>
        </p:nvSpPr>
        <p:spPr>
          <a:xfrm>
            <a:off x="6642122" y="3535613"/>
            <a:ext cx="4263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a:t>
            </a:r>
            <a:endParaRPr sz="1800">
              <a:solidFill>
                <a:schemeClr val="dk2"/>
              </a:solidFill>
            </a:endParaRPr>
          </a:p>
        </p:txBody>
      </p:sp>
      <p:sp>
        <p:nvSpPr>
          <p:cNvPr id="262" name="Google Shape;262;p22"/>
          <p:cNvSpPr txBox="1"/>
          <p:nvPr/>
        </p:nvSpPr>
        <p:spPr>
          <a:xfrm>
            <a:off x="7427122" y="3244063"/>
            <a:ext cx="1405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8</a:t>
            </a:r>
            <a:r>
              <a:rPr lang="es" sz="1800">
                <a:solidFill>
                  <a:schemeClr val="dk2"/>
                </a:solidFill>
              </a:rPr>
              <a:t>!</a:t>
            </a:r>
            <a:endParaRPr sz="1800">
              <a:solidFill>
                <a:schemeClr val="dk2"/>
              </a:solidFill>
            </a:endParaRPr>
          </a:p>
        </p:txBody>
      </p:sp>
      <p:cxnSp>
        <p:nvCxnSpPr>
          <p:cNvPr id="263" name="Google Shape;263;p22"/>
          <p:cNvCxnSpPr/>
          <p:nvPr/>
        </p:nvCxnSpPr>
        <p:spPr>
          <a:xfrm>
            <a:off x="7434597" y="3744938"/>
            <a:ext cx="867300" cy="7500"/>
          </a:xfrm>
          <a:prstGeom prst="straightConnector1">
            <a:avLst/>
          </a:prstGeom>
          <a:noFill/>
          <a:ln cap="flat" cmpd="sng" w="9525">
            <a:solidFill>
              <a:schemeClr val="dk2"/>
            </a:solidFill>
            <a:prstDash val="solid"/>
            <a:round/>
            <a:headEnd len="med" w="med" type="none"/>
            <a:tailEnd len="med" w="med" type="none"/>
          </a:ln>
        </p:spPr>
      </p:cxnSp>
      <p:sp>
        <p:nvSpPr>
          <p:cNvPr id="264" name="Google Shape;264;p22"/>
          <p:cNvSpPr txBox="1"/>
          <p:nvPr/>
        </p:nvSpPr>
        <p:spPr>
          <a:xfrm>
            <a:off x="7385147" y="3815113"/>
            <a:ext cx="867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4! . 4!</a:t>
            </a:r>
            <a:endParaRPr/>
          </a:p>
        </p:txBody>
      </p:sp>
      <p:sp>
        <p:nvSpPr>
          <p:cNvPr id="265" name="Google Shape;265;p22"/>
          <p:cNvSpPr txBox="1"/>
          <p:nvPr/>
        </p:nvSpPr>
        <p:spPr>
          <a:xfrm>
            <a:off x="7592700" y="7475"/>
            <a:ext cx="1551300" cy="4710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t>Combinación</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69" name="Shape 269"/>
        <p:cNvGrpSpPr/>
        <p:nvPr/>
      </p:nvGrpSpPr>
      <p:grpSpPr>
        <a:xfrm>
          <a:off x="0" y="0"/>
          <a:ext cx="0" cy="0"/>
          <a:chOff x="0" y="0"/>
          <a:chExt cx="0" cy="0"/>
        </a:xfrm>
      </p:grpSpPr>
      <p:pic>
        <p:nvPicPr>
          <p:cNvPr id="270" name="Google Shape;270;p23"/>
          <p:cNvPicPr preferRelativeResize="0"/>
          <p:nvPr/>
        </p:nvPicPr>
        <p:blipFill>
          <a:blip r:embed="rId3">
            <a:alphaModFix/>
          </a:blip>
          <a:stretch>
            <a:fillRect/>
          </a:stretch>
        </p:blipFill>
        <p:spPr>
          <a:xfrm>
            <a:off x="51449" y="3354384"/>
            <a:ext cx="2983825" cy="1564840"/>
          </a:xfrm>
          <a:prstGeom prst="rect">
            <a:avLst/>
          </a:prstGeom>
          <a:noFill/>
          <a:ln>
            <a:noFill/>
          </a:ln>
        </p:spPr>
      </p:pic>
      <p:sp>
        <p:nvSpPr>
          <p:cNvPr id="271" name="Google Shape;271;p23"/>
          <p:cNvSpPr txBox="1"/>
          <p:nvPr/>
        </p:nvSpPr>
        <p:spPr>
          <a:xfrm>
            <a:off x="158658" y="2089337"/>
            <a:ext cx="1843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3600">
                <a:solidFill>
                  <a:srgbClr val="995914"/>
                </a:solidFill>
              </a:rPr>
              <a:t>Pn = n!</a:t>
            </a:r>
            <a:endParaRPr b="1" sz="3600">
              <a:solidFill>
                <a:srgbClr val="995914"/>
              </a:solidFill>
            </a:endParaRPr>
          </a:p>
        </p:txBody>
      </p:sp>
      <p:sp>
        <p:nvSpPr>
          <p:cNvPr id="272" name="Google Shape;272;p23"/>
          <p:cNvSpPr txBox="1"/>
          <p:nvPr/>
        </p:nvSpPr>
        <p:spPr>
          <a:xfrm>
            <a:off x="93766" y="0"/>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Importa el orden</a:t>
            </a:r>
            <a:endParaRPr b="1" sz="1800">
              <a:solidFill>
                <a:schemeClr val="dk2"/>
              </a:solidFill>
              <a:latin typeface="Poppins"/>
              <a:ea typeface="Poppins"/>
              <a:cs typeface="Poppins"/>
              <a:sym typeface="Poppins"/>
            </a:endParaRPr>
          </a:p>
        </p:txBody>
      </p:sp>
      <p:sp>
        <p:nvSpPr>
          <p:cNvPr id="273" name="Google Shape;273;p23"/>
          <p:cNvSpPr txBox="1"/>
          <p:nvPr/>
        </p:nvSpPr>
        <p:spPr>
          <a:xfrm>
            <a:off x="99835" y="3150579"/>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NO Importa el orden</a:t>
            </a:r>
            <a:endParaRPr b="1" sz="1800">
              <a:solidFill>
                <a:schemeClr val="dk2"/>
              </a:solidFill>
              <a:latin typeface="Poppins"/>
              <a:ea typeface="Poppins"/>
              <a:cs typeface="Poppins"/>
              <a:sym typeface="Poppins"/>
            </a:endParaRPr>
          </a:p>
        </p:txBody>
      </p:sp>
      <p:cxnSp>
        <p:nvCxnSpPr>
          <p:cNvPr id="274" name="Google Shape;274;p23"/>
          <p:cNvCxnSpPr/>
          <p:nvPr/>
        </p:nvCxnSpPr>
        <p:spPr>
          <a:xfrm>
            <a:off x="3154875" y="699425"/>
            <a:ext cx="22500" cy="5173500"/>
          </a:xfrm>
          <a:prstGeom prst="straightConnector1">
            <a:avLst/>
          </a:prstGeom>
          <a:noFill/>
          <a:ln cap="flat" cmpd="sng" w="9525">
            <a:solidFill>
              <a:schemeClr val="dk2"/>
            </a:solidFill>
            <a:prstDash val="solid"/>
            <a:round/>
            <a:headEnd len="med" w="med" type="none"/>
            <a:tailEnd len="med" w="med" type="none"/>
          </a:ln>
        </p:spPr>
      </p:cxnSp>
      <p:grpSp>
        <p:nvGrpSpPr>
          <p:cNvPr id="275" name="Google Shape;275;p23"/>
          <p:cNvGrpSpPr/>
          <p:nvPr/>
        </p:nvGrpSpPr>
        <p:grpSpPr>
          <a:xfrm>
            <a:off x="158651" y="646780"/>
            <a:ext cx="2769314" cy="1088466"/>
            <a:chOff x="144925" y="1537900"/>
            <a:chExt cx="4146300" cy="1683108"/>
          </a:xfrm>
        </p:grpSpPr>
        <p:pic>
          <p:nvPicPr>
            <p:cNvPr id="276" name="Google Shape;276;p23"/>
            <p:cNvPicPr preferRelativeResize="0"/>
            <p:nvPr/>
          </p:nvPicPr>
          <p:blipFill>
            <a:blip r:embed="rId4">
              <a:alphaModFix/>
            </a:blip>
            <a:stretch>
              <a:fillRect/>
            </a:stretch>
          </p:blipFill>
          <p:spPr>
            <a:xfrm>
              <a:off x="144925" y="1977108"/>
              <a:ext cx="4146300" cy="1243900"/>
            </a:xfrm>
            <a:prstGeom prst="rect">
              <a:avLst/>
            </a:prstGeom>
            <a:noFill/>
            <a:ln>
              <a:noFill/>
            </a:ln>
          </p:spPr>
        </p:pic>
        <p:sp>
          <p:nvSpPr>
            <p:cNvPr id="277" name="Google Shape;277;p23"/>
            <p:cNvSpPr txBox="1"/>
            <p:nvPr/>
          </p:nvSpPr>
          <p:spPr>
            <a:xfrm>
              <a:off x="433625" y="1582775"/>
              <a:ext cx="216900" cy="642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278" name="Google Shape;278;p23"/>
            <p:cNvSpPr txBox="1"/>
            <p:nvPr/>
          </p:nvSpPr>
          <p:spPr>
            <a:xfrm>
              <a:off x="321575" y="1537900"/>
              <a:ext cx="4410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500">
                <a:solidFill>
                  <a:srgbClr val="995914"/>
                </a:solidFill>
              </a:endParaRPr>
            </a:p>
          </p:txBody>
        </p:sp>
      </p:grpSp>
      <p:sp>
        <p:nvSpPr>
          <p:cNvPr id="279" name="Google Shape;279;p23"/>
          <p:cNvSpPr txBox="1"/>
          <p:nvPr/>
        </p:nvSpPr>
        <p:spPr>
          <a:xfrm>
            <a:off x="99825" y="1027138"/>
            <a:ext cx="621600" cy="5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995914"/>
                </a:solidFill>
                <a:highlight>
                  <a:srgbClr val="EEEEEE"/>
                </a:highlight>
              </a:rPr>
              <a:t>n</a:t>
            </a:r>
            <a:r>
              <a:rPr b="1" lang="es" sz="2300">
                <a:solidFill>
                  <a:srgbClr val="995914"/>
                </a:solidFill>
                <a:highlight>
                  <a:srgbClr val="EEEEEE"/>
                </a:highlight>
              </a:rPr>
              <a:t>V</a:t>
            </a:r>
            <a:r>
              <a:rPr b="1" lang="es" sz="1800">
                <a:solidFill>
                  <a:srgbClr val="995914"/>
                </a:solidFill>
                <a:highlight>
                  <a:srgbClr val="EEEEEE"/>
                </a:highlight>
              </a:rPr>
              <a:t>r</a:t>
            </a:r>
            <a:endParaRPr b="1" sz="1800">
              <a:solidFill>
                <a:srgbClr val="995914"/>
              </a:solidFill>
              <a:highlight>
                <a:srgbClr val="EEEEEE"/>
              </a:highlight>
            </a:endParaRPr>
          </a:p>
        </p:txBody>
      </p:sp>
      <p:sp>
        <p:nvSpPr>
          <p:cNvPr id="280" name="Google Shape;280;p23"/>
          <p:cNvSpPr txBox="1"/>
          <p:nvPr/>
        </p:nvSpPr>
        <p:spPr>
          <a:xfrm>
            <a:off x="3513750" y="3072650"/>
            <a:ext cx="1405500" cy="9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dk2"/>
                </a:solidFill>
              </a:rPr>
              <a:t>8</a:t>
            </a:r>
            <a:r>
              <a:rPr lang="es" sz="4800">
                <a:solidFill>
                  <a:schemeClr val="dk2"/>
                </a:solidFill>
              </a:rPr>
              <a:t>C</a:t>
            </a:r>
            <a:r>
              <a:rPr lang="es" sz="3200">
                <a:solidFill>
                  <a:schemeClr val="dk2"/>
                </a:solidFill>
              </a:rPr>
              <a:t>4</a:t>
            </a:r>
            <a:endParaRPr sz="3200">
              <a:solidFill>
                <a:schemeClr val="dk2"/>
              </a:solidFill>
            </a:endParaRPr>
          </a:p>
        </p:txBody>
      </p:sp>
      <p:sp>
        <p:nvSpPr>
          <p:cNvPr id="281" name="Google Shape;281;p23"/>
          <p:cNvSpPr txBox="1"/>
          <p:nvPr/>
        </p:nvSpPr>
        <p:spPr>
          <a:xfrm>
            <a:off x="3909950" y="306525"/>
            <a:ext cx="4306200" cy="1277400"/>
          </a:xfrm>
          <a:prstGeom prst="rect">
            <a:avLst/>
          </a:prstGeom>
          <a:noFill/>
          <a:ln>
            <a:noFill/>
          </a:ln>
        </p:spPr>
        <p:txBody>
          <a:bodyPr anchorCtr="0" anchor="t" bIns="91425" lIns="91425" spcFirstLastPara="1" rIns="91425" wrap="square" tIns="91425">
            <a:spAutoFit/>
          </a:bodyPr>
          <a:lstStyle/>
          <a:p>
            <a:pPr indent="-374650" lvl="0" marL="457200" rtl="0" algn="l">
              <a:spcBef>
                <a:spcPts val="0"/>
              </a:spcBef>
              <a:spcAft>
                <a:spcPts val="0"/>
              </a:spcAft>
              <a:buClr>
                <a:schemeClr val="dk2"/>
              </a:buClr>
              <a:buSzPts val="2300"/>
              <a:buAutoNum type="arabicPeriod"/>
            </a:pPr>
            <a:r>
              <a:rPr lang="es" sz="1600">
                <a:solidFill>
                  <a:schemeClr val="dk1"/>
                </a:solidFill>
              </a:rPr>
              <a:t>En una comisión parlamentaria hay 8 legisladores. ¿De cuántas formas se pueden formar </a:t>
            </a:r>
            <a:r>
              <a:rPr b="1" lang="es" sz="1600">
                <a:solidFill>
                  <a:schemeClr val="dk1"/>
                </a:solidFill>
              </a:rPr>
              <a:t>subcomisiones de 4</a:t>
            </a:r>
            <a:r>
              <a:rPr lang="es" sz="1600">
                <a:solidFill>
                  <a:schemeClr val="dk1"/>
                </a:solidFill>
              </a:rPr>
              <a:t> miembros</a:t>
            </a:r>
            <a:endParaRPr sz="2300">
              <a:solidFill>
                <a:schemeClr val="dk2"/>
              </a:solidFill>
            </a:endParaRPr>
          </a:p>
        </p:txBody>
      </p:sp>
      <p:sp>
        <p:nvSpPr>
          <p:cNvPr id="282" name="Google Shape;282;p23"/>
          <p:cNvSpPr txBox="1"/>
          <p:nvPr/>
        </p:nvSpPr>
        <p:spPr>
          <a:xfrm>
            <a:off x="4455700" y="1936300"/>
            <a:ext cx="33120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2"/>
                </a:solidFill>
              </a:rPr>
              <a:t>n =    8          r = 4</a:t>
            </a:r>
            <a:endParaRPr sz="2100">
              <a:solidFill>
                <a:schemeClr val="dk2"/>
              </a:solidFill>
            </a:endParaRPr>
          </a:p>
        </p:txBody>
      </p:sp>
      <p:cxnSp>
        <p:nvCxnSpPr>
          <p:cNvPr id="283" name="Google Shape;283;p23"/>
          <p:cNvCxnSpPr/>
          <p:nvPr/>
        </p:nvCxnSpPr>
        <p:spPr>
          <a:xfrm>
            <a:off x="5105027" y="3573513"/>
            <a:ext cx="867300" cy="7500"/>
          </a:xfrm>
          <a:prstGeom prst="straightConnector1">
            <a:avLst/>
          </a:prstGeom>
          <a:noFill/>
          <a:ln cap="flat" cmpd="sng" w="9525">
            <a:solidFill>
              <a:schemeClr val="dk2"/>
            </a:solidFill>
            <a:prstDash val="solid"/>
            <a:round/>
            <a:headEnd len="med" w="med" type="none"/>
            <a:tailEnd len="med" w="med" type="none"/>
          </a:ln>
        </p:spPr>
      </p:cxnSp>
      <p:sp>
        <p:nvSpPr>
          <p:cNvPr id="284" name="Google Shape;284;p23"/>
          <p:cNvSpPr txBox="1"/>
          <p:nvPr/>
        </p:nvSpPr>
        <p:spPr>
          <a:xfrm>
            <a:off x="4919250" y="3643700"/>
            <a:ext cx="1196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(4.3.2).4</a:t>
            </a:r>
            <a:r>
              <a:rPr lang="es" sz="1800">
                <a:solidFill>
                  <a:schemeClr val="dk2"/>
                </a:solidFill>
              </a:rPr>
              <a:t>!</a:t>
            </a:r>
            <a:endParaRPr/>
          </a:p>
        </p:txBody>
      </p:sp>
      <p:sp>
        <p:nvSpPr>
          <p:cNvPr id="285" name="Google Shape;285;p23"/>
          <p:cNvSpPr txBox="1"/>
          <p:nvPr/>
        </p:nvSpPr>
        <p:spPr>
          <a:xfrm>
            <a:off x="4689925" y="3323325"/>
            <a:ext cx="542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2"/>
                </a:solidFill>
              </a:rPr>
              <a:t>=</a:t>
            </a:r>
            <a:endParaRPr/>
          </a:p>
        </p:txBody>
      </p:sp>
      <p:sp>
        <p:nvSpPr>
          <p:cNvPr id="286" name="Google Shape;286;p23"/>
          <p:cNvSpPr txBox="1"/>
          <p:nvPr/>
        </p:nvSpPr>
        <p:spPr>
          <a:xfrm>
            <a:off x="4814550" y="3098900"/>
            <a:ext cx="14700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8. 7. 6. 5. 4!</a:t>
            </a:r>
            <a:endParaRPr sz="1800">
              <a:solidFill>
                <a:schemeClr val="dk2"/>
              </a:solidFill>
            </a:endParaRPr>
          </a:p>
        </p:txBody>
      </p:sp>
      <p:sp>
        <p:nvSpPr>
          <p:cNvPr id="287" name="Google Shape;287;p23"/>
          <p:cNvSpPr txBox="1"/>
          <p:nvPr/>
        </p:nvSpPr>
        <p:spPr>
          <a:xfrm>
            <a:off x="6115650" y="3297200"/>
            <a:ext cx="542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2"/>
                </a:solidFill>
              </a:rPr>
              <a:t>=</a:t>
            </a:r>
            <a:endParaRPr/>
          </a:p>
        </p:txBody>
      </p:sp>
      <p:sp>
        <p:nvSpPr>
          <p:cNvPr id="288" name="Google Shape;288;p23"/>
          <p:cNvSpPr txBox="1"/>
          <p:nvPr/>
        </p:nvSpPr>
        <p:spPr>
          <a:xfrm>
            <a:off x="7592700" y="7475"/>
            <a:ext cx="1551300" cy="4710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t>Combinación</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92" name="Shape 292"/>
        <p:cNvGrpSpPr/>
        <p:nvPr/>
      </p:nvGrpSpPr>
      <p:grpSpPr>
        <a:xfrm>
          <a:off x="0" y="0"/>
          <a:ext cx="0" cy="0"/>
          <a:chOff x="0" y="0"/>
          <a:chExt cx="0" cy="0"/>
        </a:xfrm>
      </p:grpSpPr>
      <p:pic>
        <p:nvPicPr>
          <p:cNvPr id="293" name="Google Shape;293;p24"/>
          <p:cNvPicPr preferRelativeResize="0"/>
          <p:nvPr/>
        </p:nvPicPr>
        <p:blipFill>
          <a:blip r:embed="rId3">
            <a:alphaModFix/>
          </a:blip>
          <a:stretch>
            <a:fillRect/>
          </a:stretch>
        </p:blipFill>
        <p:spPr>
          <a:xfrm>
            <a:off x="51449" y="3354384"/>
            <a:ext cx="2983825" cy="1564840"/>
          </a:xfrm>
          <a:prstGeom prst="rect">
            <a:avLst/>
          </a:prstGeom>
          <a:noFill/>
          <a:ln>
            <a:noFill/>
          </a:ln>
        </p:spPr>
      </p:pic>
      <p:sp>
        <p:nvSpPr>
          <p:cNvPr id="294" name="Google Shape;294;p24"/>
          <p:cNvSpPr txBox="1"/>
          <p:nvPr/>
        </p:nvSpPr>
        <p:spPr>
          <a:xfrm>
            <a:off x="158658" y="2089337"/>
            <a:ext cx="1843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3600">
                <a:solidFill>
                  <a:srgbClr val="995914"/>
                </a:solidFill>
              </a:rPr>
              <a:t>Pn = n!</a:t>
            </a:r>
            <a:endParaRPr b="1" sz="3600">
              <a:solidFill>
                <a:srgbClr val="995914"/>
              </a:solidFill>
            </a:endParaRPr>
          </a:p>
        </p:txBody>
      </p:sp>
      <p:sp>
        <p:nvSpPr>
          <p:cNvPr id="295" name="Google Shape;295;p24"/>
          <p:cNvSpPr txBox="1"/>
          <p:nvPr/>
        </p:nvSpPr>
        <p:spPr>
          <a:xfrm>
            <a:off x="93766" y="0"/>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Importa el orden</a:t>
            </a:r>
            <a:endParaRPr b="1" sz="1800">
              <a:solidFill>
                <a:schemeClr val="dk2"/>
              </a:solidFill>
              <a:latin typeface="Poppins"/>
              <a:ea typeface="Poppins"/>
              <a:cs typeface="Poppins"/>
              <a:sym typeface="Poppins"/>
            </a:endParaRPr>
          </a:p>
        </p:txBody>
      </p:sp>
      <p:sp>
        <p:nvSpPr>
          <p:cNvPr id="296" name="Google Shape;296;p24"/>
          <p:cNvSpPr txBox="1"/>
          <p:nvPr/>
        </p:nvSpPr>
        <p:spPr>
          <a:xfrm>
            <a:off x="99835" y="3150579"/>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NO Importa el orden</a:t>
            </a:r>
            <a:endParaRPr b="1" sz="1800">
              <a:solidFill>
                <a:schemeClr val="dk2"/>
              </a:solidFill>
              <a:latin typeface="Poppins"/>
              <a:ea typeface="Poppins"/>
              <a:cs typeface="Poppins"/>
              <a:sym typeface="Poppins"/>
            </a:endParaRPr>
          </a:p>
        </p:txBody>
      </p:sp>
      <p:cxnSp>
        <p:nvCxnSpPr>
          <p:cNvPr id="297" name="Google Shape;297;p24"/>
          <p:cNvCxnSpPr/>
          <p:nvPr/>
        </p:nvCxnSpPr>
        <p:spPr>
          <a:xfrm>
            <a:off x="3154875" y="7475"/>
            <a:ext cx="22500" cy="5173500"/>
          </a:xfrm>
          <a:prstGeom prst="straightConnector1">
            <a:avLst/>
          </a:prstGeom>
          <a:noFill/>
          <a:ln cap="flat" cmpd="sng" w="9525">
            <a:solidFill>
              <a:schemeClr val="dk2"/>
            </a:solidFill>
            <a:prstDash val="solid"/>
            <a:round/>
            <a:headEnd len="med" w="med" type="none"/>
            <a:tailEnd len="med" w="med" type="none"/>
          </a:ln>
        </p:spPr>
      </p:cxnSp>
      <p:cxnSp>
        <p:nvCxnSpPr>
          <p:cNvPr id="298" name="Google Shape;298;p24"/>
          <p:cNvCxnSpPr/>
          <p:nvPr/>
        </p:nvCxnSpPr>
        <p:spPr>
          <a:xfrm flipH="1" rot="10800000">
            <a:off x="5418600" y="3752150"/>
            <a:ext cx="197700" cy="277500"/>
          </a:xfrm>
          <a:prstGeom prst="straightConnector1">
            <a:avLst/>
          </a:prstGeom>
          <a:noFill/>
          <a:ln cap="flat" cmpd="sng" w="28575">
            <a:solidFill>
              <a:schemeClr val="accent1"/>
            </a:solidFill>
            <a:prstDash val="solid"/>
            <a:round/>
            <a:headEnd len="med" w="med" type="none"/>
            <a:tailEnd len="med" w="med" type="none"/>
          </a:ln>
        </p:spPr>
      </p:cxnSp>
      <p:sp>
        <p:nvSpPr>
          <p:cNvPr id="299" name="Google Shape;299;p24"/>
          <p:cNvSpPr txBox="1"/>
          <p:nvPr/>
        </p:nvSpPr>
        <p:spPr>
          <a:xfrm>
            <a:off x="5008200" y="3914175"/>
            <a:ext cx="747600" cy="27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rgbClr val="FF0000"/>
                </a:solidFill>
              </a:rPr>
              <a:t>1  1</a:t>
            </a:r>
            <a:endParaRPr sz="1200">
              <a:solidFill>
                <a:srgbClr val="FF0000"/>
              </a:solidFill>
            </a:endParaRPr>
          </a:p>
        </p:txBody>
      </p:sp>
      <p:grpSp>
        <p:nvGrpSpPr>
          <p:cNvPr id="300" name="Google Shape;300;p24"/>
          <p:cNvGrpSpPr/>
          <p:nvPr/>
        </p:nvGrpSpPr>
        <p:grpSpPr>
          <a:xfrm>
            <a:off x="158651" y="646780"/>
            <a:ext cx="2769314" cy="1088466"/>
            <a:chOff x="144925" y="1537900"/>
            <a:chExt cx="4146300" cy="1683108"/>
          </a:xfrm>
        </p:grpSpPr>
        <p:pic>
          <p:nvPicPr>
            <p:cNvPr id="301" name="Google Shape;301;p24"/>
            <p:cNvPicPr preferRelativeResize="0"/>
            <p:nvPr/>
          </p:nvPicPr>
          <p:blipFill>
            <a:blip r:embed="rId4">
              <a:alphaModFix/>
            </a:blip>
            <a:stretch>
              <a:fillRect/>
            </a:stretch>
          </p:blipFill>
          <p:spPr>
            <a:xfrm>
              <a:off x="144925" y="1977108"/>
              <a:ext cx="4146300" cy="1243900"/>
            </a:xfrm>
            <a:prstGeom prst="rect">
              <a:avLst/>
            </a:prstGeom>
            <a:noFill/>
            <a:ln>
              <a:noFill/>
            </a:ln>
          </p:spPr>
        </p:pic>
        <p:sp>
          <p:nvSpPr>
            <p:cNvPr id="302" name="Google Shape;302;p24"/>
            <p:cNvSpPr txBox="1"/>
            <p:nvPr/>
          </p:nvSpPr>
          <p:spPr>
            <a:xfrm>
              <a:off x="433625" y="1582775"/>
              <a:ext cx="216900" cy="642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303" name="Google Shape;303;p24"/>
            <p:cNvSpPr txBox="1"/>
            <p:nvPr/>
          </p:nvSpPr>
          <p:spPr>
            <a:xfrm>
              <a:off x="321575" y="1537900"/>
              <a:ext cx="4410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500">
                <a:solidFill>
                  <a:srgbClr val="995914"/>
                </a:solidFill>
              </a:endParaRPr>
            </a:p>
          </p:txBody>
        </p:sp>
      </p:grpSp>
      <p:sp>
        <p:nvSpPr>
          <p:cNvPr id="304" name="Google Shape;304;p24"/>
          <p:cNvSpPr txBox="1"/>
          <p:nvPr/>
        </p:nvSpPr>
        <p:spPr>
          <a:xfrm>
            <a:off x="99825" y="1027138"/>
            <a:ext cx="621600" cy="5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995914"/>
                </a:solidFill>
                <a:highlight>
                  <a:srgbClr val="EEEEEE"/>
                </a:highlight>
              </a:rPr>
              <a:t>n</a:t>
            </a:r>
            <a:r>
              <a:rPr b="1" lang="es" sz="2300">
                <a:solidFill>
                  <a:srgbClr val="995914"/>
                </a:solidFill>
                <a:highlight>
                  <a:srgbClr val="EEEEEE"/>
                </a:highlight>
              </a:rPr>
              <a:t>V</a:t>
            </a:r>
            <a:r>
              <a:rPr b="1" lang="es" sz="1800">
                <a:solidFill>
                  <a:srgbClr val="995914"/>
                </a:solidFill>
                <a:highlight>
                  <a:srgbClr val="EEEEEE"/>
                </a:highlight>
              </a:rPr>
              <a:t>r</a:t>
            </a:r>
            <a:endParaRPr b="1" sz="1800">
              <a:solidFill>
                <a:srgbClr val="995914"/>
              </a:solidFill>
              <a:highlight>
                <a:srgbClr val="EEEEEE"/>
              </a:highlight>
            </a:endParaRPr>
          </a:p>
        </p:txBody>
      </p:sp>
      <p:sp>
        <p:nvSpPr>
          <p:cNvPr id="305" name="Google Shape;305;p24"/>
          <p:cNvSpPr txBox="1"/>
          <p:nvPr/>
        </p:nvSpPr>
        <p:spPr>
          <a:xfrm>
            <a:off x="3909950" y="306525"/>
            <a:ext cx="4306200" cy="1277400"/>
          </a:xfrm>
          <a:prstGeom prst="rect">
            <a:avLst/>
          </a:prstGeom>
          <a:noFill/>
          <a:ln>
            <a:noFill/>
          </a:ln>
        </p:spPr>
        <p:txBody>
          <a:bodyPr anchorCtr="0" anchor="t" bIns="91425" lIns="91425" spcFirstLastPara="1" rIns="91425" wrap="square" tIns="91425">
            <a:spAutoFit/>
          </a:bodyPr>
          <a:lstStyle/>
          <a:p>
            <a:pPr indent="-374650" lvl="0" marL="457200" rtl="0" algn="l">
              <a:spcBef>
                <a:spcPts val="0"/>
              </a:spcBef>
              <a:spcAft>
                <a:spcPts val="0"/>
              </a:spcAft>
              <a:buClr>
                <a:schemeClr val="dk2"/>
              </a:buClr>
              <a:buSzPts val="2300"/>
              <a:buAutoNum type="arabicPeriod"/>
            </a:pPr>
            <a:r>
              <a:rPr lang="es" sz="1600">
                <a:solidFill>
                  <a:schemeClr val="dk1"/>
                </a:solidFill>
              </a:rPr>
              <a:t>En una comisión parlamentaria hay 8 legisladores. ¿De cuántas formas se pueden formar </a:t>
            </a:r>
            <a:r>
              <a:rPr b="1" lang="es" sz="1600">
                <a:solidFill>
                  <a:schemeClr val="dk1"/>
                </a:solidFill>
              </a:rPr>
              <a:t>subcomisiones de 4</a:t>
            </a:r>
            <a:r>
              <a:rPr lang="es" sz="1600">
                <a:solidFill>
                  <a:schemeClr val="dk1"/>
                </a:solidFill>
              </a:rPr>
              <a:t> miembros</a:t>
            </a:r>
            <a:endParaRPr sz="2300">
              <a:solidFill>
                <a:schemeClr val="dk2"/>
              </a:solidFill>
            </a:endParaRPr>
          </a:p>
        </p:txBody>
      </p:sp>
      <p:sp>
        <p:nvSpPr>
          <p:cNvPr id="306" name="Google Shape;306;p24"/>
          <p:cNvSpPr txBox="1"/>
          <p:nvPr/>
        </p:nvSpPr>
        <p:spPr>
          <a:xfrm>
            <a:off x="4455700" y="1936300"/>
            <a:ext cx="33120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2"/>
                </a:solidFill>
              </a:rPr>
              <a:t>n =    8          r = 4</a:t>
            </a:r>
            <a:endParaRPr sz="2100">
              <a:solidFill>
                <a:schemeClr val="dk2"/>
              </a:solidFill>
            </a:endParaRPr>
          </a:p>
        </p:txBody>
      </p:sp>
      <p:sp>
        <p:nvSpPr>
          <p:cNvPr id="307" name="Google Shape;307;p24"/>
          <p:cNvSpPr txBox="1"/>
          <p:nvPr/>
        </p:nvSpPr>
        <p:spPr>
          <a:xfrm>
            <a:off x="3513750" y="3072650"/>
            <a:ext cx="1405500" cy="9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dk2"/>
                </a:solidFill>
              </a:rPr>
              <a:t>8</a:t>
            </a:r>
            <a:r>
              <a:rPr lang="es" sz="4800">
                <a:solidFill>
                  <a:schemeClr val="dk2"/>
                </a:solidFill>
              </a:rPr>
              <a:t>C</a:t>
            </a:r>
            <a:r>
              <a:rPr lang="es" sz="3200">
                <a:solidFill>
                  <a:schemeClr val="dk2"/>
                </a:solidFill>
              </a:rPr>
              <a:t>4</a:t>
            </a:r>
            <a:endParaRPr sz="3200">
              <a:solidFill>
                <a:schemeClr val="dk2"/>
              </a:solidFill>
            </a:endParaRPr>
          </a:p>
        </p:txBody>
      </p:sp>
      <p:cxnSp>
        <p:nvCxnSpPr>
          <p:cNvPr id="308" name="Google Shape;308;p24"/>
          <p:cNvCxnSpPr/>
          <p:nvPr/>
        </p:nvCxnSpPr>
        <p:spPr>
          <a:xfrm>
            <a:off x="5105027" y="3573513"/>
            <a:ext cx="867300" cy="7500"/>
          </a:xfrm>
          <a:prstGeom prst="straightConnector1">
            <a:avLst/>
          </a:prstGeom>
          <a:noFill/>
          <a:ln cap="flat" cmpd="sng" w="9525">
            <a:solidFill>
              <a:schemeClr val="dk2"/>
            </a:solidFill>
            <a:prstDash val="solid"/>
            <a:round/>
            <a:headEnd len="med" w="med" type="none"/>
            <a:tailEnd len="med" w="med" type="none"/>
          </a:ln>
        </p:spPr>
      </p:cxnSp>
      <p:sp>
        <p:nvSpPr>
          <p:cNvPr id="309" name="Google Shape;309;p24"/>
          <p:cNvSpPr txBox="1"/>
          <p:nvPr/>
        </p:nvSpPr>
        <p:spPr>
          <a:xfrm>
            <a:off x="4919250" y="3643700"/>
            <a:ext cx="1196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(4.3.2).4!</a:t>
            </a:r>
            <a:endParaRPr/>
          </a:p>
        </p:txBody>
      </p:sp>
      <p:sp>
        <p:nvSpPr>
          <p:cNvPr id="310" name="Google Shape;310;p24"/>
          <p:cNvSpPr txBox="1"/>
          <p:nvPr/>
        </p:nvSpPr>
        <p:spPr>
          <a:xfrm>
            <a:off x="4689925" y="3323325"/>
            <a:ext cx="542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2"/>
                </a:solidFill>
              </a:rPr>
              <a:t>=</a:t>
            </a:r>
            <a:endParaRPr/>
          </a:p>
        </p:txBody>
      </p:sp>
      <p:sp>
        <p:nvSpPr>
          <p:cNvPr id="311" name="Google Shape;311;p24"/>
          <p:cNvSpPr txBox="1"/>
          <p:nvPr/>
        </p:nvSpPr>
        <p:spPr>
          <a:xfrm>
            <a:off x="4814550" y="3098900"/>
            <a:ext cx="14700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8. 7. 6. 5. 4!</a:t>
            </a:r>
            <a:endParaRPr sz="1800">
              <a:solidFill>
                <a:schemeClr val="dk2"/>
              </a:solidFill>
            </a:endParaRPr>
          </a:p>
        </p:txBody>
      </p:sp>
      <p:sp>
        <p:nvSpPr>
          <p:cNvPr id="312" name="Google Shape;312;p24"/>
          <p:cNvSpPr txBox="1"/>
          <p:nvPr/>
        </p:nvSpPr>
        <p:spPr>
          <a:xfrm>
            <a:off x="6115650" y="3297200"/>
            <a:ext cx="542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2"/>
                </a:solidFill>
              </a:rPr>
              <a:t>=</a:t>
            </a:r>
            <a:endParaRPr/>
          </a:p>
        </p:txBody>
      </p:sp>
      <p:cxnSp>
        <p:nvCxnSpPr>
          <p:cNvPr id="313" name="Google Shape;313;p24"/>
          <p:cNvCxnSpPr/>
          <p:nvPr/>
        </p:nvCxnSpPr>
        <p:spPr>
          <a:xfrm flipH="1" rot="10800000">
            <a:off x="5917950" y="3160250"/>
            <a:ext cx="197700" cy="277500"/>
          </a:xfrm>
          <a:prstGeom prst="straightConnector1">
            <a:avLst/>
          </a:prstGeom>
          <a:noFill/>
          <a:ln cap="flat" cmpd="sng" w="28575">
            <a:solidFill>
              <a:srgbClr val="FF0000"/>
            </a:solidFill>
            <a:prstDash val="solid"/>
            <a:round/>
            <a:headEnd len="med" w="med" type="none"/>
            <a:tailEnd len="med" w="med" type="none"/>
          </a:ln>
        </p:spPr>
      </p:cxnSp>
      <p:cxnSp>
        <p:nvCxnSpPr>
          <p:cNvPr id="314" name="Google Shape;314;p24"/>
          <p:cNvCxnSpPr/>
          <p:nvPr/>
        </p:nvCxnSpPr>
        <p:spPr>
          <a:xfrm flipH="1" rot="10800000">
            <a:off x="5720250" y="3735800"/>
            <a:ext cx="197700" cy="277500"/>
          </a:xfrm>
          <a:prstGeom prst="straightConnector1">
            <a:avLst/>
          </a:prstGeom>
          <a:noFill/>
          <a:ln cap="flat" cmpd="sng" w="28575">
            <a:solidFill>
              <a:srgbClr val="FF0000"/>
            </a:solidFill>
            <a:prstDash val="solid"/>
            <a:round/>
            <a:headEnd len="med" w="med" type="none"/>
            <a:tailEnd len="med" w="med" type="none"/>
          </a:ln>
        </p:spPr>
      </p:cxnSp>
      <p:cxnSp>
        <p:nvCxnSpPr>
          <p:cNvPr id="315" name="Google Shape;315;p24"/>
          <p:cNvCxnSpPr/>
          <p:nvPr/>
        </p:nvCxnSpPr>
        <p:spPr>
          <a:xfrm flipH="1" rot="10800000">
            <a:off x="5061800" y="3735800"/>
            <a:ext cx="197700" cy="277500"/>
          </a:xfrm>
          <a:prstGeom prst="straightConnector1">
            <a:avLst/>
          </a:prstGeom>
          <a:noFill/>
          <a:ln cap="flat" cmpd="sng" w="28575">
            <a:solidFill>
              <a:srgbClr val="FF0000"/>
            </a:solidFill>
            <a:prstDash val="solid"/>
            <a:round/>
            <a:headEnd len="med" w="med" type="none"/>
            <a:tailEnd len="med" w="med" type="none"/>
          </a:ln>
        </p:spPr>
      </p:cxnSp>
      <p:cxnSp>
        <p:nvCxnSpPr>
          <p:cNvPr id="316" name="Google Shape;316;p24"/>
          <p:cNvCxnSpPr/>
          <p:nvPr/>
        </p:nvCxnSpPr>
        <p:spPr>
          <a:xfrm flipH="1" rot="10800000">
            <a:off x="4862125" y="3160250"/>
            <a:ext cx="197700" cy="277500"/>
          </a:xfrm>
          <a:prstGeom prst="straightConnector1">
            <a:avLst/>
          </a:prstGeom>
          <a:noFill/>
          <a:ln cap="flat" cmpd="sng" w="28575">
            <a:solidFill>
              <a:srgbClr val="FF0000"/>
            </a:solidFill>
            <a:prstDash val="solid"/>
            <a:round/>
            <a:headEnd len="med" w="med" type="none"/>
            <a:tailEnd len="med" w="med" type="none"/>
          </a:ln>
        </p:spPr>
      </p:cxnSp>
      <p:sp>
        <p:nvSpPr>
          <p:cNvPr id="317" name="Google Shape;317;p24"/>
          <p:cNvSpPr txBox="1"/>
          <p:nvPr/>
        </p:nvSpPr>
        <p:spPr>
          <a:xfrm>
            <a:off x="4862125" y="2866524"/>
            <a:ext cx="306600" cy="27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rgbClr val="FF0000"/>
                </a:solidFill>
              </a:rPr>
              <a:t>2</a:t>
            </a:r>
            <a:endParaRPr sz="1200">
              <a:solidFill>
                <a:srgbClr val="FF0000"/>
              </a:solidFill>
            </a:endParaRPr>
          </a:p>
        </p:txBody>
      </p:sp>
      <p:cxnSp>
        <p:nvCxnSpPr>
          <p:cNvPr id="318" name="Google Shape;318;p24"/>
          <p:cNvCxnSpPr/>
          <p:nvPr/>
        </p:nvCxnSpPr>
        <p:spPr>
          <a:xfrm flipH="1" rot="10800000">
            <a:off x="5255625" y="3752150"/>
            <a:ext cx="197700" cy="277500"/>
          </a:xfrm>
          <a:prstGeom prst="straightConnector1">
            <a:avLst/>
          </a:prstGeom>
          <a:noFill/>
          <a:ln cap="flat" cmpd="sng" w="28575">
            <a:solidFill>
              <a:srgbClr val="FF0000"/>
            </a:solidFill>
            <a:prstDash val="solid"/>
            <a:round/>
            <a:headEnd len="med" w="med" type="none"/>
            <a:tailEnd len="med" w="med" type="none"/>
          </a:ln>
        </p:spPr>
      </p:cxnSp>
      <p:cxnSp>
        <p:nvCxnSpPr>
          <p:cNvPr id="319" name="Google Shape;319;p24"/>
          <p:cNvCxnSpPr/>
          <p:nvPr/>
        </p:nvCxnSpPr>
        <p:spPr>
          <a:xfrm flipH="1" rot="10800000">
            <a:off x="5390038" y="3210275"/>
            <a:ext cx="197700" cy="277500"/>
          </a:xfrm>
          <a:prstGeom prst="straightConnector1">
            <a:avLst/>
          </a:prstGeom>
          <a:noFill/>
          <a:ln cap="flat" cmpd="sng" w="28575">
            <a:solidFill>
              <a:srgbClr val="FF0000"/>
            </a:solidFill>
            <a:prstDash val="solid"/>
            <a:round/>
            <a:headEnd len="med" w="med" type="none"/>
            <a:tailEnd len="med" w="med" type="none"/>
          </a:ln>
        </p:spPr>
      </p:cxnSp>
      <p:sp>
        <p:nvSpPr>
          <p:cNvPr id="320" name="Google Shape;320;p24"/>
          <p:cNvSpPr txBox="1"/>
          <p:nvPr/>
        </p:nvSpPr>
        <p:spPr>
          <a:xfrm>
            <a:off x="5335588" y="2901599"/>
            <a:ext cx="306600" cy="27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rgbClr val="FF0000"/>
                </a:solidFill>
              </a:rPr>
              <a:t>2</a:t>
            </a:r>
            <a:endParaRPr sz="1200">
              <a:solidFill>
                <a:srgbClr val="FF0000"/>
              </a:solidFill>
            </a:endParaRPr>
          </a:p>
        </p:txBody>
      </p:sp>
      <p:cxnSp>
        <p:nvCxnSpPr>
          <p:cNvPr id="321" name="Google Shape;321;p24"/>
          <p:cNvCxnSpPr/>
          <p:nvPr/>
        </p:nvCxnSpPr>
        <p:spPr>
          <a:xfrm flipH="1" rot="10800000">
            <a:off x="4916575" y="2901150"/>
            <a:ext cx="197700" cy="277500"/>
          </a:xfrm>
          <a:prstGeom prst="straightConnector1">
            <a:avLst/>
          </a:prstGeom>
          <a:noFill/>
          <a:ln cap="flat" cmpd="sng" w="28575">
            <a:solidFill>
              <a:schemeClr val="accent1"/>
            </a:solidFill>
            <a:prstDash val="solid"/>
            <a:round/>
            <a:headEnd len="med" w="med" type="none"/>
            <a:tailEnd len="med" w="med" type="none"/>
          </a:ln>
        </p:spPr>
      </p:cxnSp>
      <p:sp>
        <p:nvSpPr>
          <p:cNvPr id="322" name="Google Shape;322;p24"/>
          <p:cNvSpPr txBox="1"/>
          <p:nvPr/>
        </p:nvSpPr>
        <p:spPr>
          <a:xfrm>
            <a:off x="4862113" y="2659874"/>
            <a:ext cx="306600" cy="27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rgbClr val="FF0000"/>
                </a:solidFill>
              </a:rPr>
              <a:t>1</a:t>
            </a:r>
            <a:endParaRPr sz="1200">
              <a:solidFill>
                <a:srgbClr val="FF0000"/>
              </a:solidFill>
            </a:endParaRPr>
          </a:p>
        </p:txBody>
      </p:sp>
      <p:sp>
        <p:nvSpPr>
          <p:cNvPr id="323" name="Google Shape;323;p24"/>
          <p:cNvSpPr txBox="1"/>
          <p:nvPr/>
        </p:nvSpPr>
        <p:spPr>
          <a:xfrm>
            <a:off x="6471197" y="3072100"/>
            <a:ext cx="1405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7. 2. 5</a:t>
            </a:r>
            <a:endParaRPr sz="1800">
              <a:solidFill>
                <a:schemeClr val="dk2"/>
              </a:solidFill>
            </a:endParaRPr>
          </a:p>
        </p:txBody>
      </p:sp>
      <p:cxnSp>
        <p:nvCxnSpPr>
          <p:cNvPr id="324" name="Google Shape;324;p24"/>
          <p:cNvCxnSpPr/>
          <p:nvPr/>
        </p:nvCxnSpPr>
        <p:spPr>
          <a:xfrm>
            <a:off x="6478672" y="3572975"/>
            <a:ext cx="867300" cy="7500"/>
          </a:xfrm>
          <a:prstGeom prst="straightConnector1">
            <a:avLst/>
          </a:prstGeom>
          <a:noFill/>
          <a:ln cap="flat" cmpd="sng" w="9525">
            <a:solidFill>
              <a:schemeClr val="dk2"/>
            </a:solidFill>
            <a:prstDash val="solid"/>
            <a:round/>
            <a:headEnd len="med" w="med" type="none"/>
            <a:tailEnd len="med" w="med" type="none"/>
          </a:ln>
        </p:spPr>
      </p:cxnSp>
      <p:sp>
        <p:nvSpPr>
          <p:cNvPr id="325" name="Google Shape;325;p24"/>
          <p:cNvSpPr txBox="1"/>
          <p:nvPr/>
        </p:nvSpPr>
        <p:spPr>
          <a:xfrm>
            <a:off x="5364150" y="3914175"/>
            <a:ext cx="306600" cy="3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rgbClr val="FF0000"/>
                </a:solidFill>
              </a:rPr>
              <a:t>1</a:t>
            </a:r>
            <a:endParaRPr sz="1200">
              <a:solidFill>
                <a:srgbClr val="FF0000"/>
              </a:solidFill>
            </a:endParaRPr>
          </a:p>
        </p:txBody>
      </p:sp>
      <p:sp>
        <p:nvSpPr>
          <p:cNvPr id="326" name="Google Shape;326;p24"/>
          <p:cNvSpPr txBox="1"/>
          <p:nvPr/>
        </p:nvSpPr>
        <p:spPr>
          <a:xfrm>
            <a:off x="7536200" y="3244250"/>
            <a:ext cx="300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2"/>
                </a:solidFill>
              </a:rPr>
              <a:t>=</a:t>
            </a:r>
            <a:endParaRPr/>
          </a:p>
        </p:txBody>
      </p:sp>
      <p:sp>
        <p:nvSpPr>
          <p:cNvPr id="327" name="Google Shape;327;p24"/>
          <p:cNvSpPr txBox="1"/>
          <p:nvPr/>
        </p:nvSpPr>
        <p:spPr>
          <a:xfrm>
            <a:off x="6670224" y="3643700"/>
            <a:ext cx="48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1</a:t>
            </a:r>
            <a:endParaRPr/>
          </a:p>
        </p:txBody>
      </p:sp>
      <p:sp>
        <p:nvSpPr>
          <p:cNvPr id="328" name="Google Shape;328;p24"/>
          <p:cNvSpPr txBox="1"/>
          <p:nvPr/>
        </p:nvSpPr>
        <p:spPr>
          <a:xfrm>
            <a:off x="7906700" y="3301250"/>
            <a:ext cx="484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100">
                <a:solidFill>
                  <a:schemeClr val="dk2"/>
                </a:solidFill>
              </a:rPr>
              <a:t>70</a:t>
            </a:r>
            <a:endParaRPr b="1" sz="2100">
              <a:solidFill>
                <a:schemeClr val="dk2"/>
              </a:solidFill>
            </a:endParaRPr>
          </a:p>
        </p:txBody>
      </p:sp>
      <p:sp>
        <p:nvSpPr>
          <p:cNvPr id="329" name="Google Shape;329;p24"/>
          <p:cNvSpPr txBox="1"/>
          <p:nvPr/>
        </p:nvSpPr>
        <p:spPr>
          <a:xfrm>
            <a:off x="7592700" y="7475"/>
            <a:ext cx="1551300" cy="4710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t>Combinación</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33" name="Shape 333"/>
        <p:cNvGrpSpPr/>
        <p:nvPr/>
      </p:nvGrpSpPr>
      <p:grpSpPr>
        <a:xfrm>
          <a:off x="0" y="0"/>
          <a:ext cx="0" cy="0"/>
          <a:chOff x="0" y="0"/>
          <a:chExt cx="0" cy="0"/>
        </a:xfrm>
      </p:grpSpPr>
      <p:pic>
        <p:nvPicPr>
          <p:cNvPr id="334" name="Google Shape;334;p25"/>
          <p:cNvPicPr preferRelativeResize="0"/>
          <p:nvPr/>
        </p:nvPicPr>
        <p:blipFill>
          <a:blip r:embed="rId3">
            <a:alphaModFix/>
          </a:blip>
          <a:stretch>
            <a:fillRect/>
          </a:stretch>
        </p:blipFill>
        <p:spPr>
          <a:xfrm>
            <a:off x="51449" y="3354384"/>
            <a:ext cx="2983825" cy="1564840"/>
          </a:xfrm>
          <a:prstGeom prst="rect">
            <a:avLst/>
          </a:prstGeom>
          <a:noFill/>
          <a:ln>
            <a:noFill/>
          </a:ln>
        </p:spPr>
      </p:pic>
      <p:sp>
        <p:nvSpPr>
          <p:cNvPr id="335" name="Google Shape;335;p25"/>
          <p:cNvSpPr txBox="1"/>
          <p:nvPr/>
        </p:nvSpPr>
        <p:spPr>
          <a:xfrm>
            <a:off x="351474" y="675800"/>
            <a:ext cx="144900" cy="4158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336" name="Google Shape;336;p25"/>
          <p:cNvSpPr txBox="1"/>
          <p:nvPr/>
        </p:nvSpPr>
        <p:spPr>
          <a:xfrm>
            <a:off x="158658" y="2089337"/>
            <a:ext cx="1843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3600">
                <a:solidFill>
                  <a:srgbClr val="995914"/>
                </a:solidFill>
              </a:rPr>
              <a:t>Pn = n!</a:t>
            </a:r>
            <a:endParaRPr b="1" sz="3600">
              <a:solidFill>
                <a:srgbClr val="995914"/>
              </a:solidFill>
            </a:endParaRPr>
          </a:p>
        </p:txBody>
      </p:sp>
      <p:sp>
        <p:nvSpPr>
          <p:cNvPr id="337" name="Google Shape;337;p25"/>
          <p:cNvSpPr txBox="1"/>
          <p:nvPr/>
        </p:nvSpPr>
        <p:spPr>
          <a:xfrm>
            <a:off x="93766" y="0"/>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Importa el orden</a:t>
            </a:r>
            <a:endParaRPr b="1" sz="1800">
              <a:solidFill>
                <a:schemeClr val="dk2"/>
              </a:solidFill>
              <a:latin typeface="Poppins"/>
              <a:ea typeface="Poppins"/>
              <a:cs typeface="Poppins"/>
              <a:sym typeface="Poppins"/>
            </a:endParaRPr>
          </a:p>
        </p:txBody>
      </p:sp>
      <p:sp>
        <p:nvSpPr>
          <p:cNvPr id="338" name="Google Shape;338;p25"/>
          <p:cNvSpPr txBox="1"/>
          <p:nvPr/>
        </p:nvSpPr>
        <p:spPr>
          <a:xfrm>
            <a:off x="99835" y="3150579"/>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NO Importa el orden</a:t>
            </a:r>
            <a:endParaRPr b="1" sz="1800">
              <a:solidFill>
                <a:schemeClr val="dk2"/>
              </a:solidFill>
              <a:latin typeface="Poppins"/>
              <a:ea typeface="Poppins"/>
              <a:cs typeface="Poppins"/>
              <a:sym typeface="Poppins"/>
            </a:endParaRPr>
          </a:p>
        </p:txBody>
      </p:sp>
      <p:sp>
        <p:nvSpPr>
          <p:cNvPr id="339" name="Google Shape;339;p25"/>
          <p:cNvSpPr txBox="1"/>
          <p:nvPr/>
        </p:nvSpPr>
        <p:spPr>
          <a:xfrm>
            <a:off x="3909950" y="306525"/>
            <a:ext cx="43062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AutoNum type="arabicPeriod"/>
            </a:pPr>
            <a:r>
              <a:rPr lang="es" sz="1600">
                <a:solidFill>
                  <a:schemeClr val="dk1"/>
                </a:solidFill>
              </a:rPr>
              <a:t>En un debate presidencial participan 4 candidatos. ¿De cuántas formas distintas pueden </a:t>
            </a:r>
            <a:r>
              <a:rPr b="1" lang="es" sz="1600">
                <a:solidFill>
                  <a:schemeClr val="dk1"/>
                </a:solidFill>
              </a:rPr>
              <a:t>ordenarse</a:t>
            </a:r>
            <a:r>
              <a:rPr lang="es" sz="1600">
                <a:solidFill>
                  <a:schemeClr val="dk1"/>
                </a:solidFill>
              </a:rPr>
              <a:t> en el escenario?</a:t>
            </a:r>
            <a:endParaRPr sz="1600">
              <a:solidFill>
                <a:schemeClr val="dk2"/>
              </a:solidFill>
            </a:endParaRPr>
          </a:p>
        </p:txBody>
      </p:sp>
      <p:cxnSp>
        <p:nvCxnSpPr>
          <p:cNvPr id="340" name="Google Shape;340;p25"/>
          <p:cNvCxnSpPr/>
          <p:nvPr/>
        </p:nvCxnSpPr>
        <p:spPr>
          <a:xfrm>
            <a:off x="3154875" y="7475"/>
            <a:ext cx="22500" cy="5173500"/>
          </a:xfrm>
          <a:prstGeom prst="straightConnector1">
            <a:avLst/>
          </a:prstGeom>
          <a:noFill/>
          <a:ln cap="flat" cmpd="sng" w="9525">
            <a:solidFill>
              <a:schemeClr val="dk2"/>
            </a:solidFill>
            <a:prstDash val="solid"/>
            <a:round/>
            <a:headEnd len="med" w="med" type="none"/>
            <a:tailEnd len="med" w="med" type="none"/>
          </a:ln>
        </p:spPr>
      </p:cxnSp>
      <p:grpSp>
        <p:nvGrpSpPr>
          <p:cNvPr id="341" name="Google Shape;341;p25"/>
          <p:cNvGrpSpPr/>
          <p:nvPr/>
        </p:nvGrpSpPr>
        <p:grpSpPr>
          <a:xfrm>
            <a:off x="158651" y="646780"/>
            <a:ext cx="2769314" cy="1088466"/>
            <a:chOff x="144925" y="1537900"/>
            <a:chExt cx="4146300" cy="1683108"/>
          </a:xfrm>
        </p:grpSpPr>
        <p:pic>
          <p:nvPicPr>
            <p:cNvPr id="342" name="Google Shape;342;p25"/>
            <p:cNvPicPr preferRelativeResize="0"/>
            <p:nvPr/>
          </p:nvPicPr>
          <p:blipFill>
            <a:blip r:embed="rId4">
              <a:alphaModFix/>
            </a:blip>
            <a:stretch>
              <a:fillRect/>
            </a:stretch>
          </p:blipFill>
          <p:spPr>
            <a:xfrm>
              <a:off x="144925" y="1977108"/>
              <a:ext cx="4146300" cy="1243900"/>
            </a:xfrm>
            <a:prstGeom prst="rect">
              <a:avLst/>
            </a:prstGeom>
            <a:noFill/>
            <a:ln>
              <a:noFill/>
            </a:ln>
          </p:spPr>
        </p:pic>
        <p:sp>
          <p:nvSpPr>
            <p:cNvPr id="343" name="Google Shape;343;p25"/>
            <p:cNvSpPr txBox="1"/>
            <p:nvPr/>
          </p:nvSpPr>
          <p:spPr>
            <a:xfrm>
              <a:off x="433625" y="1582775"/>
              <a:ext cx="216900" cy="642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344" name="Google Shape;344;p25"/>
            <p:cNvSpPr txBox="1"/>
            <p:nvPr/>
          </p:nvSpPr>
          <p:spPr>
            <a:xfrm>
              <a:off x="321575" y="1537900"/>
              <a:ext cx="4410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500">
                <a:solidFill>
                  <a:srgbClr val="995914"/>
                </a:solidFill>
              </a:endParaRPr>
            </a:p>
          </p:txBody>
        </p:sp>
      </p:grpSp>
      <p:sp>
        <p:nvSpPr>
          <p:cNvPr id="345" name="Google Shape;345;p25"/>
          <p:cNvSpPr txBox="1"/>
          <p:nvPr/>
        </p:nvSpPr>
        <p:spPr>
          <a:xfrm>
            <a:off x="99825" y="1027138"/>
            <a:ext cx="621600" cy="5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995914"/>
                </a:solidFill>
                <a:highlight>
                  <a:srgbClr val="EEEEEE"/>
                </a:highlight>
              </a:rPr>
              <a:t>n</a:t>
            </a:r>
            <a:r>
              <a:rPr b="1" lang="es" sz="2300">
                <a:solidFill>
                  <a:srgbClr val="995914"/>
                </a:solidFill>
                <a:highlight>
                  <a:srgbClr val="EEEEEE"/>
                </a:highlight>
              </a:rPr>
              <a:t>V</a:t>
            </a:r>
            <a:r>
              <a:rPr b="1" lang="es" sz="1800">
                <a:solidFill>
                  <a:srgbClr val="995914"/>
                </a:solidFill>
                <a:highlight>
                  <a:srgbClr val="EEEEEE"/>
                </a:highlight>
              </a:rPr>
              <a:t>r</a:t>
            </a:r>
            <a:endParaRPr b="1" sz="1800">
              <a:solidFill>
                <a:srgbClr val="995914"/>
              </a:solidFill>
              <a:highlight>
                <a:srgbClr val="EEEEEE"/>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49" name="Shape 349"/>
        <p:cNvGrpSpPr/>
        <p:nvPr/>
      </p:nvGrpSpPr>
      <p:grpSpPr>
        <a:xfrm>
          <a:off x="0" y="0"/>
          <a:ext cx="0" cy="0"/>
          <a:chOff x="0" y="0"/>
          <a:chExt cx="0" cy="0"/>
        </a:xfrm>
      </p:grpSpPr>
      <p:pic>
        <p:nvPicPr>
          <p:cNvPr id="350" name="Google Shape;350;p26"/>
          <p:cNvPicPr preferRelativeResize="0"/>
          <p:nvPr/>
        </p:nvPicPr>
        <p:blipFill>
          <a:blip r:embed="rId3">
            <a:alphaModFix/>
          </a:blip>
          <a:stretch>
            <a:fillRect/>
          </a:stretch>
        </p:blipFill>
        <p:spPr>
          <a:xfrm>
            <a:off x="51449" y="3354384"/>
            <a:ext cx="2983825" cy="1564840"/>
          </a:xfrm>
          <a:prstGeom prst="rect">
            <a:avLst/>
          </a:prstGeom>
          <a:noFill/>
          <a:ln>
            <a:noFill/>
          </a:ln>
        </p:spPr>
      </p:pic>
      <p:sp>
        <p:nvSpPr>
          <p:cNvPr id="351" name="Google Shape;351;p26"/>
          <p:cNvSpPr txBox="1"/>
          <p:nvPr/>
        </p:nvSpPr>
        <p:spPr>
          <a:xfrm>
            <a:off x="351474" y="675800"/>
            <a:ext cx="144900" cy="4158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352" name="Google Shape;352;p26"/>
          <p:cNvSpPr txBox="1"/>
          <p:nvPr/>
        </p:nvSpPr>
        <p:spPr>
          <a:xfrm>
            <a:off x="158658" y="2089337"/>
            <a:ext cx="1843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3600">
                <a:solidFill>
                  <a:srgbClr val="995914"/>
                </a:solidFill>
              </a:rPr>
              <a:t>Pn = n!</a:t>
            </a:r>
            <a:endParaRPr b="1" sz="3600">
              <a:solidFill>
                <a:srgbClr val="995914"/>
              </a:solidFill>
            </a:endParaRPr>
          </a:p>
        </p:txBody>
      </p:sp>
      <p:sp>
        <p:nvSpPr>
          <p:cNvPr id="353" name="Google Shape;353;p26"/>
          <p:cNvSpPr txBox="1"/>
          <p:nvPr/>
        </p:nvSpPr>
        <p:spPr>
          <a:xfrm>
            <a:off x="93766" y="0"/>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Importa el orden</a:t>
            </a:r>
            <a:endParaRPr b="1" sz="1800">
              <a:solidFill>
                <a:schemeClr val="dk2"/>
              </a:solidFill>
              <a:latin typeface="Poppins"/>
              <a:ea typeface="Poppins"/>
              <a:cs typeface="Poppins"/>
              <a:sym typeface="Poppins"/>
            </a:endParaRPr>
          </a:p>
        </p:txBody>
      </p:sp>
      <p:sp>
        <p:nvSpPr>
          <p:cNvPr id="354" name="Google Shape;354;p26"/>
          <p:cNvSpPr txBox="1"/>
          <p:nvPr/>
        </p:nvSpPr>
        <p:spPr>
          <a:xfrm>
            <a:off x="99835" y="3150579"/>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NO Importa el orden</a:t>
            </a:r>
            <a:endParaRPr b="1" sz="1800">
              <a:solidFill>
                <a:schemeClr val="dk2"/>
              </a:solidFill>
              <a:latin typeface="Poppins"/>
              <a:ea typeface="Poppins"/>
              <a:cs typeface="Poppins"/>
              <a:sym typeface="Poppins"/>
            </a:endParaRPr>
          </a:p>
        </p:txBody>
      </p:sp>
      <p:sp>
        <p:nvSpPr>
          <p:cNvPr id="355" name="Google Shape;355;p26"/>
          <p:cNvSpPr txBox="1"/>
          <p:nvPr/>
        </p:nvSpPr>
        <p:spPr>
          <a:xfrm>
            <a:off x="3909950" y="306525"/>
            <a:ext cx="43062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AutoNum type="arabicPeriod"/>
            </a:pPr>
            <a:r>
              <a:rPr lang="es" sz="1600">
                <a:solidFill>
                  <a:schemeClr val="dk1"/>
                </a:solidFill>
              </a:rPr>
              <a:t>En un debate presidencial participan 4 candidatos. ¿De cuántas formas distintas pueden </a:t>
            </a:r>
            <a:r>
              <a:rPr b="1" lang="es" sz="1600">
                <a:solidFill>
                  <a:schemeClr val="dk1"/>
                </a:solidFill>
              </a:rPr>
              <a:t>ordenarse</a:t>
            </a:r>
            <a:r>
              <a:rPr lang="es" sz="1600">
                <a:solidFill>
                  <a:schemeClr val="dk1"/>
                </a:solidFill>
              </a:rPr>
              <a:t> en el escenario?</a:t>
            </a:r>
            <a:endParaRPr sz="1600">
              <a:solidFill>
                <a:schemeClr val="dk2"/>
              </a:solidFill>
            </a:endParaRPr>
          </a:p>
        </p:txBody>
      </p:sp>
      <p:cxnSp>
        <p:nvCxnSpPr>
          <p:cNvPr id="356" name="Google Shape;356;p26"/>
          <p:cNvCxnSpPr/>
          <p:nvPr/>
        </p:nvCxnSpPr>
        <p:spPr>
          <a:xfrm>
            <a:off x="3154875" y="7475"/>
            <a:ext cx="22500" cy="5173500"/>
          </a:xfrm>
          <a:prstGeom prst="straightConnector1">
            <a:avLst/>
          </a:prstGeom>
          <a:noFill/>
          <a:ln cap="flat" cmpd="sng" w="9525">
            <a:solidFill>
              <a:schemeClr val="dk2"/>
            </a:solidFill>
            <a:prstDash val="solid"/>
            <a:round/>
            <a:headEnd len="med" w="med" type="none"/>
            <a:tailEnd len="med" w="med" type="none"/>
          </a:ln>
        </p:spPr>
      </p:cxnSp>
      <p:grpSp>
        <p:nvGrpSpPr>
          <p:cNvPr id="357" name="Google Shape;357;p26"/>
          <p:cNvGrpSpPr/>
          <p:nvPr/>
        </p:nvGrpSpPr>
        <p:grpSpPr>
          <a:xfrm>
            <a:off x="158651" y="646780"/>
            <a:ext cx="2769314" cy="1088466"/>
            <a:chOff x="144925" y="1537900"/>
            <a:chExt cx="4146300" cy="1683108"/>
          </a:xfrm>
        </p:grpSpPr>
        <p:pic>
          <p:nvPicPr>
            <p:cNvPr id="358" name="Google Shape;358;p26"/>
            <p:cNvPicPr preferRelativeResize="0"/>
            <p:nvPr/>
          </p:nvPicPr>
          <p:blipFill>
            <a:blip r:embed="rId4">
              <a:alphaModFix/>
            </a:blip>
            <a:stretch>
              <a:fillRect/>
            </a:stretch>
          </p:blipFill>
          <p:spPr>
            <a:xfrm>
              <a:off x="144925" y="1977108"/>
              <a:ext cx="4146300" cy="1243900"/>
            </a:xfrm>
            <a:prstGeom prst="rect">
              <a:avLst/>
            </a:prstGeom>
            <a:noFill/>
            <a:ln>
              <a:noFill/>
            </a:ln>
          </p:spPr>
        </p:pic>
        <p:sp>
          <p:nvSpPr>
            <p:cNvPr id="359" name="Google Shape;359;p26"/>
            <p:cNvSpPr txBox="1"/>
            <p:nvPr/>
          </p:nvSpPr>
          <p:spPr>
            <a:xfrm>
              <a:off x="433625" y="1582775"/>
              <a:ext cx="216900" cy="642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360" name="Google Shape;360;p26"/>
            <p:cNvSpPr txBox="1"/>
            <p:nvPr/>
          </p:nvSpPr>
          <p:spPr>
            <a:xfrm>
              <a:off x="321575" y="1537900"/>
              <a:ext cx="4410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500">
                <a:solidFill>
                  <a:srgbClr val="995914"/>
                </a:solidFill>
              </a:endParaRPr>
            </a:p>
          </p:txBody>
        </p:sp>
      </p:grpSp>
      <p:sp>
        <p:nvSpPr>
          <p:cNvPr id="361" name="Google Shape;361;p26"/>
          <p:cNvSpPr txBox="1"/>
          <p:nvPr/>
        </p:nvSpPr>
        <p:spPr>
          <a:xfrm>
            <a:off x="99825" y="1027138"/>
            <a:ext cx="621600" cy="5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995914"/>
                </a:solidFill>
                <a:highlight>
                  <a:srgbClr val="EEEEEE"/>
                </a:highlight>
              </a:rPr>
              <a:t>n</a:t>
            </a:r>
            <a:r>
              <a:rPr b="1" lang="es" sz="2300">
                <a:solidFill>
                  <a:srgbClr val="995914"/>
                </a:solidFill>
                <a:highlight>
                  <a:srgbClr val="EEEEEE"/>
                </a:highlight>
              </a:rPr>
              <a:t>V</a:t>
            </a:r>
            <a:r>
              <a:rPr b="1" lang="es" sz="1800">
                <a:solidFill>
                  <a:srgbClr val="995914"/>
                </a:solidFill>
                <a:highlight>
                  <a:srgbClr val="EEEEEE"/>
                </a:highlight>
              </a:rPr>
              <a:t>r</a:t>
            </a:r>
            <a:endParaRPr b="1" sz="1800">
              <a:solidFill>
                <a:srgbClr val="995914"/>
              </a:solidFill>
              <a:highlight>
                <a:srgbClr val="EEEEEE"/>
              </a:highlight>
            </a:endParaRPr>
          </a:p>
        </p:txBody>
      </p:sp>
      <p:sp>
        <p:nvSpPr>
          <p:cNvPr id="362" name="Google Shape;362;p26"/>
          <p:cNvSpPr txBox="1"/>
          <p:nvPr/>
        </p:nvSpPr>
        <p:spPr>
          <a:xfrm>
            <a:off x="7548600" y="0"/>
            <a:ext cx="1595400" cy="415800"/>
          </a:xfrm>
          <a:prstGeom prst="rect">
            <a:avLst/>
          </a:prstGeom>
          <a:solidFill>
            <a:schemeClr val="accen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Permutación</a:t>
            </a:r>
            <a:endParaRPr sz="1800">
              <a:solidFill>
                <a:schemeClr val="dk1"/>
              </a:solidFill>
            </a:endParaRPr>
          </a:p>
        </p:txBody>
      </p:sp>
      <p:sp>
        <p:nvSpPr>
          <p:cNvPr id="363" name="Google Shape;363;p26"/>
          <p:cNvSpPr txBox="1"/>
          <p:nvPr/>
        </p:nvSpPr>
        <p:spPr>
          <a:xfrm>
            <a:off x="3983513" y="3150575"/>
            <a:ext cx="1405500" cy="9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chemeClr val="dk2"/>
                </a:solidFill>
              </a:rPr>
              <a:t>P</a:t>
            </a:r>
            <a:r>
              <a:rPr lang="es" sz="3200">
                <a:solidFill>
                  <a:schemeClr val="dk2"/>
                </a:solidFill>
              </a:rPr>
              <a:t>4</a:t>
            </a:r>
            <a:endParaRPr sz="3200">
              <a:solidFill>
                <a:schemeClr val="dk2"/>
              </a:solidFill>
            </a:endParaRPr>
          </a:p>
        </p:txBody>
      </p:sp>
      <p:sp>
        <p:nvSpPr>
          <p:cNvPr id="364" name="Google Shape;364;p26"/>
          <p:cNvSpPr txBox="1"/>
          <p:nvPr/>
        </p:nvSpPr>
        <p:spPr>
          <a:xfrm>
            <a:off x="5138647" y="3222175"/>
            <a:ext cx="1618200" cy="7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365" name="Google Shape;365;p26"/>
          <p:cNvSpPr txBox="1"/>
          <p:nvPr/>
        </p:nvSpPr>
        <p:spPr>
          <a:xfrm>
            <a:off x="5218250" y="3536150"/>
            <a:ext cx="4263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a:t>
            </a:r>
            <a:endParaRPr sz="1800">
              <a:solidFill>
                <a:schemeClr val="dk2"/>
              </a:solidFill>
            </a:endParaRPr>
          </a:p>
        </p:txBody>
      </p:sp>
      <p:sp>
        <p:nvSpPr>
          <p:cNvPr id="366" name="Google Shape;366;p26"/>
          <p:cNvSpPr txBox="1"/>
          <p:nvPr/>
        </p:nvSpPr>
        <p:spPr>
          <a:xfrm>
            <a:off x="5694673" y="3491075"/>
            <a:ext cx="403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4</a:t>
            </a:r>
            <a:r>
              <a:rPr lang="es" sz="1800">
                <a:solidFill>
                  <a:schemeClr val="dk2"/>
                </a:solidFill>
              </a:rPr>
              <a:t>!</a:t>
            </a:r>
            <a:endParaRPr sz="1800">
              <a:solidFill>
                <a:schemeClr val="dk2"/>
              </a:solidFill>
            </a:endParaRPr>
          </a:p>
        </p:txBody>
      </p:sp>
      <p:sp>
        <p:nvSpPr>
          <p:cNvPr id="367" name="Google Shape;367;p26"/>
          <p:cNvSpPr txBox="1"/>
          <p:nvPr/>
        </p:nvSpPr>
        <p:spPr>
          <a:xfrm>
            <a:off x="4455700" y="1936300"/>
            <a:ext cx="33120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2"/>
                </a:solidFill>
              </a:rPr>
              <a:t>n =    4        </a:t>
            </a:r>
            <a:endParaRPr sz="2100">
              <a:solidFill>
                <a:schemeClr val="dk2"/>
              </a:solidFill>
            </a:endParaRPr>
          </a:p>
        </p:txBody>
      </p:sp>
      <p:sp>
        <p:nvSpPr>
          <p:cNvPr id="368" name="Google Shape;368;p26"/>
          <p:cNvSpPr txBox="1"/>
          <p:nvPr/>
        </p:nvSpPr>
        <p:spPr>
          <a:xfrm>
            <a:off x="6873897" y="3221638"/>
            <a:ext cx="1618200" cy="7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72" name="Shape 372"/>
        <p:cNvGrpSpPr/>
        <p:nvPr/>
      </p:nvGrpSpPr>
      <p:grpSpPr>
        <a:xfrm>
          <a:off x="0" y="0"/>
          <a:ext cx="0" cy="0"/>
          <a:chOff x="0" y="0"/>
          <a:chExt cx="0" cy="0"/>
        </a:xfrm>
      </p:grpSpPr>
      <p:pic>
        <p:nvPicPr>
          <p:cNvPr id="373" name="Google Shape;373;p27"/>
          <p:cNvPicPr preferRelativeResize="0"/>
          <p:nvPr/>
        </p:nvPicPr>
        <p:blipFill>
          <a:blip r:embed="rId3">
            <a:alphaModFix/>
          </a:blip>
          <a:stretch>
            <a:fillRect/>
          </a:stretch>
        </p:blipFill>
        <p:spPr>
          <a:xfrm>
            <a:off x="51449" y="3354384"/>
            <a:ext cx="2983825" cy="1564840"/>
          </a:xfrm>
          <a:prstGeom prst="rect">
            <a:avLst/>
          </a:prstGeom>
          <a:noFill/>
          <a:ln>
            <a:noFill/>
          </a:ln>
        </p:spPr>
      </p:pic>
      <p:sp>
        <p:nvSpPr>
          <p:cNvPr id="374" name="Google Shape;374;p27"/>
          <p:cNvSpPr txBox="1"/>
          <p:nvPr/>
        </p:nvSpPr>
        <p:spPr>
          <a:xfrm>
            <a:off x="351474" y="675800"/>
            <a:ext cx="144900" cy="4158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375" name="Google Shape;375;p27"/>
          <p:cNvSpPr txBox="1"/>
          <p:nvPr/>
        </p:nvSpPr>
        <p:spPr>
          <a:xfrm>
            <a:off x="158658" y="2089337"/>
            <a:ext cx="1843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3600">
                <a:solidFill>
                  <a:srgbClr val="995914"/>
                </a:solidFill>
              </a:rPr>
              <a:t>Pn = n!</a:t>
            </a:r>
            <a:endParaRPr b="1" sz="3600">
              <a:solidFill>
                <a:srgbClr val="995914"/>
              </a:solidFill>
            </a:endParaRPr>
          </a:p>
        </p:txBody>
      </p:sp>
      <p:sp>
        <p:nvSpPr>
          <p:cNvPr id="376" name="Google Shape;376;p27"/>
          <p:cNvSpPr txBox="1"/>
          <p:nvPr/>
        </p:nvSpPr>
        <p:spPr>
          <a:xfrm>
            <a:off x="93766" y="0"/>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Importa el orden</a:t>
            </a:r>
            <a:endParaRPr b="1" sz="1800">
              <a:solidFill>
                <a:schemeClr val="dk2"/>
              </a:solidFill>
              <a:latin typeface="Poppins"/>
              <a:ea typeface="Poppins"/>
              <a:cs typeface="Poppins"/>
              <a:sym typeface="Poppins"/>
            </a:endParaRPr>
          </a:p>
        </p:txBody>
      </p:sp>
      <p:sp>
        <p:nvSpPr>
          <p:cNvPr id="377" name="Google Shape;377;p27"/>
          <p:cNvSpPr txBox="1"/>
          <p:nvPr/>
        </p:nvSpPr>
        <p:spPr>
          <a:xfrm>
            <a:off x="99835" y="3150579"/>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NO Importa el orden</a:t>
            </a:r>
            <a:endParaRPr b="1" sz="1800">
              <a:solidFill>
                <a:schemeClr val="dk2"/>
              </a:solidFill>
              <a:latin typeface="Poppins"/>
              <a:ea typeface="Poppins"/>
              <a:cs typeface="Poppins"/>
              <a:sym typeface="Poppins"/>
            </a:endParaRPr>
          </a:p>
        </p:txBody>
      </p:sp>
      <p:sp>
        <p:nvSpPr>
          <p:cNvPr id="378" name="Google Shape;378;p27"/>
          <p:cNvSpPr txBox="1"/>
          <p:nvPr/>
        </p:nvSpPr>
        <p:spPr>
          <a:xfrm>
            <a:off x="3909950" y="306525"/>
            <a:ext cx="43062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Char char="●"/>
            </a:pPr>
            <a:r>
              <a:rPr lang="es" sz="1600">
                <a:solidFill>
                  <a:schemeClr val="dk1"/>
                </a:solidFill>
              </a:rPr>
              <a:t>En un debate presidencial participan 4 candidatos. ¿De cuántas formas distintas pueden </a:t>
            </a:r>
            <a:r>
              <a:rPr b="1" lang="es" sz="1600">
                <a:solidFill>
                  <a:schemeClr val="dk1"/>
                </a:solidFill>
              </a:rPr>
              <a:t>ordenarse</a:t>
            </a:r>
            <a:r>
              <a:rPr lang="es" sz="1600">
                <a:solidFill>
                  <a:schemeClr val="dk1"/>
                </a:solidFill>
              </a:rPr>
              <a:t> en el escenario?</a:t>
            </a:r>
            <a:endParaRPr sz="1600">
              <a:solidFill>
                <a:schemeClr val="dk2"/>
              </a:solidFill>
            </a:endParaRPr>
          </a:p>
        </p:txBody>
      </p:sp>
      <p:cxnSp>
        <p:nvCxnSpPr>
          <p:cNvPr id="379" name="Google Shape;379;p27"/>
          <p:cNvCxnSpPr/>
          <p:nvPr/>
        </p:nvCxnSpPr>
        <p:spPr>
          <a:xfrm>
            <a:off x="3154875" y="7475"/>
            <a:ext cx="22500" cy="5173500"/>
          </a:xfrm>
          <a:prstGeom prst="straightConnector1">
            <a:avLst/>
          </a:prstGeom>
          <a:noFill/>
          <a:ln cap="flat" cmpd="sng" w="9525">
            <a:solidFill>
              <a:schemeClr val="dk2"/>
            </a:solidFill>
            <a:prstDash val="solid"/>
            <a:round/>
            <a:headEnd len="med" w="med" type="none"/>
            <a:tailEnd len="med" w="med" type="none"/>
          </a:ln>
        </p:spPr>
      </p:cxnSp>
      <p:grpSp>
        <p:nvGrpSpPr>
          <p:cNvPr id="380" name="Google Shape;380;p27"/>
          <p:cNvGrpSpPr/>
          <p:nvPr/>
        </p:nvGrpSpPr>
        <p:grpSpPr>
          <a:xfrm>
            <a:off x="158651" y="646780"/>
            <a:ext cx="2769314" cy="1088466"/>
            <a:chOff x="144925" y="1537900"/>
            <a:chExt cx="4146300" cy="1683108"/>
          </a:xfrm>
        </p:grpSpPr>
        <p:pic>
          <p:nvPicPr>
            <p:cNvPr id="381" name="Google Shape;381;p27"/>
            <p:cNvPicPr preferRelativeResize="0"/>
            <p:nvPr/>
          </p:nvPicPr>
          <p:blipFill>
            <a:blip r:embed="rId4">
              <a:alphaModFix/>
            </a:blip>
            <a:stretch>
              <a:fillRect/>
            </a:stretch>
          </p:blipFill>
          <p:spPr>
            <a:xfrm>
              <a:off x="144925" y="1977108"/>
              <a:ext cx="4146300" cy="1243900"/>
            </a:xfrm>
            <a:prstGeom prst="rect">
              <a:avLst/>
            </a:prstGeom>
            <a:noFill/>
            <a:ln>
              <a:noFill/>
            </a:ln>
          </p:spPr>
        </p:pic>
        <p:sp>
          <p:nvSpPr>
            <p:cNvPr id="382" name="Google Shape;382;p27"/>
            <p:cNvSpPr txBox="1"/>
            <p:nvPr/>
          </p:nvSpPr>
          <p:spPr>
            <a:xfrm>
              <a:off x="433625" y="1582775"/>
              <a:ext cx="216900" cy="642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383" name="Google Shape;383;p27"/>
            <p:cNvSpPr txBox="1"/>
            <p:nvPr/>
          </p:nvSpPr>
          <p:spPr>
            <a:xfrm>
              <a:off x="321575" y="1537900"/>
              <a:ext cx="4410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500">
                <a:solidFill>
                  <a:srgbClr val="995914"/>
                </a:solidFill>
              </a:endParaRPr>
            </a:p>
          </p:txBody>
        </p:sp>
      </p:grpSp>
      <p:sp>
        <p:nvSpPr>
          <p:cNvPr id="384" name="Google Shape;384;p27"/>
          <p:cNvSpPr txBox="1"/>
          <p:nvPr/>
        </p:nvSpPr>
        <p:spPr>
          <a:xfrm>
            <a:off x="99825" y="1027138"/>
            <a:ext cx="621600" cy="5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995914"/>
                </a:solidFill>
                <a:highlight>
                  <a:srgbClr val="EEEEEE"/>
                </a:highlight>
              </a:rPr>
              <a:t>n</a:t>
            </a:r>
            <a:r>
              <a:rPr b="1" lang="es" sz="2300">
                <a:solidFill>
                  <a:srgbClr val="995914"/>
                </a:solidFill>
                <a:highlight>
                  <a:srgbClr val="EEEEEE"/>
                </a:highlight>
              </a:rPr>
              <a:t>V</a:t>
            </a:r>
            <a:r>
              <a:rPr b="1" lang="es" sz="1800">
                <a:solidFill>
                  <a:srgbClr val="995914"/>
                </a:solidFill>
                <a:highlight>
                  <a:srgbClr val="EEEEEE"/>
                </a:highlight>
              </a:rPr>
              <a:t>r</a:t>
            </a:r>
            <a:endParaRPr b="1" sz="1800">
              <a:solidFill>
                <a:srgbClr val="995914"/>
              </a:solidFill>
              <a:highlight>
                <a:srgbClr val="EEEEEE"/>
              </a:highlight>
            </a:endParaRPr>
          </a:p>
        </p:txBody>
      </p:sp>
      <p:sp>
        <p:nvSpPr>
          <p:cNvPr id="385" name="Google Shape;385;p27"/>
          <p:cNvSpPr txBox="1"/>
          <p:nvPr/>
        </p:nvSpPr>
        <p:spPr>
          <a:xfrm>
            <a:off x="7548600" y="0"/>
            <a:ext cx="1595400" cy="415800"/>
          </a:xfrm>
          <a:prstGeom prst="rect">
            <a:avLst/>
          </a:prstGeom>
          <a:solidFill>
            <a:schemeClr val="accen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Permutación</a:t>
            </a:r>
            <a:endParaRPr sz="1800">
              <a:solidFill>
                <a:schemeClr val="dk1"/>
              </a:solidFill>
            </a:endParaRPr>
          </a:p>
        </p:txBody>
      </p:sp>
      <p:sp>
        <p:nvSpPr>
          <p:cNvPr id="386" name="Google Shape;386;p27"/>
          <p:cNvSpPr txBox="1"/>
          <p:nvPr/>
        </p:nvSpPr>
        <p:spPr>
          <a:xfrm>
            <a:off x="3983513" y="3150575"/>
            <a:ext cx="1405500" cy="9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chemeClr val="dk2"/>
                </a:solidFill>
              </a:rPr>
              <a:t>P</a:t>
            </a:r>
            <a:r>
              <a:rPr lang="es" sz="3200">
                <a:solidFill>
                  <a:schemeClr val="dk2"/>
                </a:solidFill>
              </a:rPr>
              <a:t>4</a:t>
            </a:r>
            <a:endParaRPr sz="3200">
              <a:solidFill>
                <a:schemeClr val="dk2"/>
              </a:solidFill>
            </a:endParaRPr>
          </a:p>
        </p:txBody>
      </p:sp>
      <p:sp>
        <p:nvSpPr>
          <p:cNvPr id="387" name="Google Shape;387;p27"/>
          <p:cNvSpPr txBox="1"/>
          <p:nvPr/>
        </p:nvSpPr>
        <p:spPr>
          <a:xfrm>
            <a:off x="5138647" y="3222175"/>
            <a:ext cx="1618200" cy="7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388" name="Google Shape;388;p27"/>
          <p:cNvSpPr txBox="1"/>
          <p:nvPr/>
        </p:nvSpPr>
        <p:spPr>
          <a:xfrm>
            <a:off x="5218250" y="3536150"/>
            <a:ext cx="4263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a:t>
            </a:r>
            <a:endParaRPr sz="1800">
              <a:solidFill>
                <a:schemeClr val="dk2"/>
              </a:solidFill>
            </a:endParaRPr>
          </a:p>
        </p:txBody>
      </p:sp>
      <p:sp>
        <p:nvSpPr>
          <p:cNvPr id="389" name="Google Shape;389;p27"/>
          <p:cNvSpPr txBox="1"/>
          <p:nvPr/>
        </p:nvSpPr>
        <p:spPr>
          <a:xfrm>
            <a:off x="5694676" y="3491075"/>
            <a:ext cx="8793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4. 3. 2</a:t>
            </a:r>
            <a:endParaRPr sz="1800">
              <a:solidFill>
                <a:schemeClr val="dk2"/>
              </a:solidFill>
            </a:endParaRPr>
          </a:p>
        </p:txBody>
      </p:sp>
      <p:sp>
        <p:nvSpPr>
          <p:cNvPr id="390" name="Google Shape;390;p27"/>
          <p:cNvSpPr txBox="1"/>
          <p:nvPr/>
        </p:nvSpPr>
        <p:spPr>
          <a:xfrm>
            <a:off x="4455700" y="1936300"/>
            <a:ext cx="33120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2"/>
                </a:solidFill>
              </a:rPr>
              <a:t>n =    4        </a:t>
            </a:r>
            <a:endParaRPr sz="2100">
              <a:solidFill>
                <a:schemeClr val="dk2"/>
              </a:solidFill>
            </a:endParaRPr>
          </a:p>
        </p:txBody>
      </p:sp>
      <p:sp>
        <p:nvSpPr>
          <p:cNvPr id="391" name="Google Shape;391;p27"/>
          <p:cNvSpPr txBox="1"/>
          <p:nvPr/>
        </p:nvSpPr>
        <p:spPr>
          <a:xfrm>
            <a:off x="6873897" y="3221638"/>
            <a:ext cx="1618200" cy="7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392" name="Google Shape;392;p27"/>
          <p:cNvSpPr txBox="1"/>
          <p:nvPr/>
        </p:nvSpPr>
        <p:spPr>
          <a:xfrm>
            <a:off x="6573875" y="3536150"/>
            <a:ext cx="4263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a:t>
            </a:r>
            <a:endParaRPr sz="1800">
              <a:solidFill>
                <a:schemeClr val="dk2"/>
              </a:solidFill>
            </a:endParaRPr>
          </a:p>
        </p:txBody>
      </p:sp>
      <p:sp>
        <p:nvSpPr>
          <p:cNvPr id="393" name="Google Shape;393;p27"/>
          <p:cNvSpPr txBox="1"/>
          <p:nvPr/>
        </p:nvSpPr>
        <p:spPr>
          <a:xfrm>
            <a:off x="6879626" y="3491075"/>
            <a:ext cx="8793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24</a:t>
            </a:r>
            <a:endParaRPr sz="1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97" name="Shape 397"/>
        <p:cNvGrpSpPr/>
        <p:nvPr/>
      </p:nvGrpSpPr>
      <p:grpSpPr>
        <a:xfrm>
          <a:off x="0" y="0"/>
          <a:ext cx="0" cy="0"/>
          <a:chOff x="0" y="0"/>
          <a:chExt cx="0" cy="0"/>
        </a:xfrm>
      </p:grpSpPr>
      <p:pic>
        <p:nvPicPr>
          <p:cNvPr id="398" name="Google Shape;398;p28"/>
          <p:cNvPicPr preferRelativeResize="0"/>
          <p:nvPr/>
        </p:nvPicPr>
        <p:blipFill>
          <a:blip r:embed="rId3">
            <a:alphaModFix/>
          </a:blip>
          <a:stretch>
            <a:fillRect/>
          </a:stretch>
        </p:blipFill>
        <p:spPr>
          <a:xfrm>
            <a:off x="51449" y="3354384"/>
            <a:ext cx="2983825" cy="1564840"/>
          </a:xfrm>
          <a:prstGeom prst="rect">
            <a:avLst/>
          </a:prstGeom>
          <a:noFill/>
          <a:ln>
            <a:noFill/>
          </a:ln>
        </p:spPr>
      </p:pic>
      <p:sp>
        <p:nvSpPr>
          <p:cNvPr id="399" name="Google Shape;399;p28"/>
          <p:cNvSpPr txBox="1"/>
          <p:nvPr/>
        </p:nvSpPr>
        <p:spPr>
          <a:xfrm>
            <a:off x="351474" y="675800"/>
            <a:ext cx="144900" cy="4158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400" name="Google Shape;400;p28"/>
          <p:cNvSpPr txBox="1"/>
          <p:nvPr/>
        </p:nvSpPr>
        <p:spPr>
          <a:xfrm>
            <a:off x="158658" y="2089337"/>
            <a:ext cx="1843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3600">
                <a:solidFill>
                  <a:srgbClr val="995914"/>
                </a:solidFill>
              </a:rPr>
              <a:t>Pn = n!</a:t>
            </a:r>
            <a:endParaRPr b="1" sz="3600">
              <a:solidFill>
                <a:srgbClr val="995914"/>
              </a:solidFill>
            </a:endParaRPr>
          </a:p>
        </p:txBody>
      </p:sp>
      <p:sp>
        <p:nvSpPr>
          <p:cNvPr id="401" name="Google Shape;401;p28"/>
          <p:cNvSpPr txBox="1"/>
          <p:nvPr/>
        </p:nvSpPr>
        <p:spPr>
          <a:xfrm>
            <a:off x="93766" y="0"/>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Importa el orden</a:t>
            </a:r>
            <a:endParaRPr b="1" sz="1800">
              <a:solidFill>
                <a:schemeClr val="dk2"/>
              </a:solidFill>
              <a:latin typeface="Poppins"/>
              <a:ea typeface="Poppins"/>
              <a:cs typeface="Poppins"/>
              <a:sym typeface="Poppins"/>
            </a:endParaRPr>
          </a:p>
        </p:txBody>
      </p:sp>
      <p:sp>
        <p:nvSpPr>
          <p:cNvPr id="402" name="Google Shape;402;p28"/>
          <p:cNvSpPr txBox="1"/>
          <p:nvPr/>
        </p:nvSpPr>
        <p:spPr>
          <a:xfrm>
            <a:off x="99835" y="3150579"/>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NO Importa el orden</a:t>
            </a:r>
            <a:endParaRPr b="1" sz="1800">
              <a:solidFill>
                <a:schemeClr val="dk2"/>
              </a:solidFill>
              <a:latin typeface="Poppins"/>
              <a:ea typeface="Poppins"/>
              <a:cs typeface="Poppins"/>
              <a:sym typeface="Poppins"/>
            </a:endParaRPr>
          </a:p>
        </p:txBody>
      </p:sp>
      <p:sp>
        <p:nvSpPr>
          <p:cNvPr id="403" name="Google Shape;403;p28"/>
          <p:cNvSpPr txBox="1"/>
          <p:nvPr/>
        </p:nvSpPr>
        <p:spPr>
          <a:xfrm>
            <a:off x="3909950" y="306525"/>
            <a:ext cx="4696500" cy="14160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Char char="●"/>
            </a:pPr>
            <a:r>
              <a:rPr lang="es" sz="1600">
                <a:solidFill>
                  <a:schemeClr val="dk1"/>
                </a:solidFill>
              </a:rPr>
              <a:t>Un equipo de campaña tiene 10 miembros. Se necesitan elegir 3 para recorrer </a:t>
            </a:r>
            <a:r>
              <a:rPr b="1" lang="es" sz="1600">
                <a:solidFill>
                  <a:schemeClr val="dk1"/>
                </a:solidFill>
              </a:rPr>
              <a:t>barrios de distinto tamaño</a:t>
            </a:r>
            <a:r>
              <a:rPr lang="es" sz="1600">
                <a:solidFill>
                  <a:schemeClr val="dk1"/>
                </a:solidFill>
              </a:rPr>
              <a:t> (grande, mediano y pequeño). ¿De cuántas formas se pueden </a:t>
            </a:r>
            <a:r>
              <a:rPr b="1" lang="es" sz="1600">
                <a:solidFill>
                  <a:schemeClr val="dk1"/>
                </a:solidFill>
              </a:rPr>
              <a:t>seleccionar y asignar</a:t>
            </a:r>
            <a:r>
              <a:rPr lang="es" sz="1600">
                <a:solidFill>
                  <a:schemeClr val="dk1"/>
                </a:solidFill>
              </a:rPr>
              <a:t> esos miembros?</a:t>
            </a:r>
            <a:endParaRPr sz="1600">
              <a:solidFill>
                <a:schemeClr val="dk2"/>
              </a:solidFill>
            </a:endParaRPr>
          </a:p>
        </p:txBody>
      </p:sp>
      <p:cxnSp>
        <p:nvCxnSpPr>
          <p:cNvPr id="404" name="Google Shape;404;p28"/>
          <p:cNvCxnSpPr/>
          <p:nvPr/>
        </p:nvCxnSpPr>
        <p:spPr>
          <a:xfrm>
            <a:off x="3154875" y="7475"/>
            <a:ext cx="22500" cy="5173500"/>
          </a:xfrm>
          <a:prstGeom prst="straightConnector1">
            <a:avLst/>
          </a:prstGeom>
          <a:noFill/>
          <a:ln cap="flat" cmpd="sng" w="9525">
            <a:solidFill>
              <a:schemeClr val="dk2"/>
            </a:solidFill>
            <a:prstDash val="solid"/>
            <a:round/>
            <a:headEnd len="med" w="med" type="none"/>
            <a:tailEnd len="med" w="med" type="none"/>
          </a:ln>
        </p:spPr>
      </p:cxnSp>
      <p:grpSp>
        <p:nvGrpSpPr>
          <p:cNvPr id="405" name="Google Shape;405;p28"/>
          <p:cNvGrpSpPr/>
          <p:nvPr/>
        </p:nvGrpSpPr>
        <p:grpSpPr>
          <a:xfrm>
            <a:off x="158651" y="646780"/>
            <a:ext cx="2769314" cy="1088466"/>
            <a:chOff x="144925" y="1537900"/>
            <a:chExt cx="4146300" cy="1683108"/>
          </a:xfrm>
        </p:grpSpPr>
        <p:pic>
          <p:nvPicPr>
            <p:cNvPr id="406" name="Google Shape;406;p28"/>
            <p:cNvPicPr preferRelativeResize="0"/>
            <p:nvPr/>
          </p:nvPicPr>
          <p:blipFill>
            <a:blip r:embed="rId4">
              <a:alphaModFix/>
            </a:blip>
            <a:stretch>
              <a:fillRect/>
            </a:stretch>
          </p:blipFill>
          <p:spPr>
            <a:xfrm>
              <a:off x="144925" y="1977108"/>
              <a:ext cx="4146300" cy="1243900"/>
            </a:xfrm>
            <a:prstGeom prst="rect">
              <a:avLst/>
            </a:prstGeom>
            <a:noFill/>
            <a:ln>
              <a:noFill/>
            </a:ln>
          </p:spPr>
        </p:pic>
        <p:sp>
          <p:nvSpPr>
            <p:cNvPr id="407" name="Google Shape;407;p28"/>
            <p:cNvSpPr txBox="1"/>
            <p:nvPr/>
          </p:nvSpPr>
          <p:spPr>
            <a:xfrm>
              <a:off x="433625" y="1582775"/>
              <a:ext cx="216900" cy="642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408" name="Google Shape;408;p28"/>
            <p:cNvSpPr txBox="1"/>
            <p:nvPr/>
          </p:nvSpPr>
          <p:spPr>
            <a:xfrm>
              <a:off x="321575" y="1537900"/>
              <a:ext cx="4410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500">
                <a:solidFill>
                  <a:srgbClr val="995914"/>
                </a:solidFill>
              </a:endParaRPr>
            </a:p>
          </p:txBody>
        </p:sp>
      </p:grpSp>
      <p:sp>
        <p:nvSpPr>
          <p:cNvPr id="409" name="Google Shape;409;p28"/>
          <p:cNvSpPr txBox="1"/>
          <p:nvPr/>
        </p:nvSpPr>
        <p:spPr>
          <a:xfrm>
            <a:off x="99825" y="1027138"/>
            <a:ext cx="621600" cy="5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995914"/>
                </a:solidFill>
                <a:highlight>
                  <a:srgbClr val="EEEEEE"/>
                </a:highlight>
              </a:rPr>
              <a:t>n</a:t>
            </a:r>
            <a:r>
              <a:rPr b="1" lang="es" sz="2300">
                <a:solidFill>
                  <a:srgbClr val="995914"/>
                </a:solidFill>
                <a:highlight>
                  <a:srgbClr val="EEEEEE"/>
                </a:highlight>
              </a:rPr>
              <a:t>V</a:t>
            </a:r>
            <a:r>
              <a:rPr b="1" lang="es" sz="1800">
                <a:solidFill>
                  <a:srgbClr val="995914"/>
                </a:solidFill>
                <a:highlight>
                  <a:srgbClr val="EEEEEE"/>
                </a:highlight>
              </a:rPr>
              <a:t>r</a:t>
            </a:r>
            <a:endParaRPr b="1" sz="1800">
              <a:solidFill>
                <a:srgbClr val="995914"/>
              </a:solidFill>
              <a:highlight>
                <a:srgbClr val="EEEEEE"/>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13" name="Shape 413"/>
        <p:cNvGrpSpPr/>
        <p:nvPr/>
      </p:nvGrpSpPr>
      <p:grpSpPr>
        <a:xfrm>
          <a:off x="0" y="0"/>
          <a:ext cx="0" cy="0"/>
          <a:chOff x="0" y="0"/>
          <a:chExt cx="0" cy="0"/>
        </a:xfrm>
      </p:grpSpPr>
      <p:pic>
        <p:nvPicPr>
          <p:cNvPr id="414" name="Google Shape;414;p29"/>
          <p:cNvPicPr preferRelativeResize="0"/>
          <p:nvPr/>
        </p:nvPicPr>
        <p:blipFill>
          <a:blip r:embed="rId3">
            <a:alphaModFix/>
          </a:blip>
          <a:stretch>
            <a:fillRect/>
          </a:stretch>
        </p:blipFill>
        <p:spPr>
          <a:xfrm>
            <a:off x="51449" y="3354384"/>
            <a:ext cx="2983825" cy="1564840"/>
          </a:xfrm>
          <a:prstGeom prst="rect">
            <a:avLst/>
          </a:prstGeom>
          <a:noFill/>
          <a:ln>
            <a:noFill/>
          </a:ln>
        </p:spPr>
      </p:pic>
      <p:sp>
        <p:nvSpPr>
          <p:cNvPr id="415" name="Google Shape;415;p29"/>
          <p:cNvSpPr txBox="1"/>
          <p:nvPr/>
        </p:nvSpPr>
        <p:spPr>
          <a:xfrm>
            <a:off x="351474" y="675800"/>
            <a:ext cx="144900" cy="4158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416" name="Google Shape;416;p29"/>
          <p:cNvSpPr txBox="1"/>
          <p:nvPr/>
        </p:nvSpPr>
        <p:spPr>
          <a:xfrm>
            <a:off x="158658" y="2089337"/>
            <a:ext cx="1843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3600">
                <a:solidFill>
                  <a:srgbClr val="995914"/>
                </a:solidFill>
              </a:rPr>
              <a:t>Pn = n!</a:t>
            </a:r>
            <a:endParaRPr b="1" sz="3600">
              <a:solidFill>
                <a:srgbClr val="995914"/>
              </a:solidFill>
            </a:endParaRPr>
          </a:p>
        </p:txBody>
      </p:sp>
      <p:sp>
        <p:nvSpPr>
          <p:cNvPr id="417" name="Google Shape;417;p29"/>
          <p:cNvSpPr txBox="1"/>
          <p:nvPr/>
        </p:nvSpPr>
        <p:spPr>
          <a:xfrm>
            <a:off x="93766" y="0"/>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Importa el orden</a:t>
            </a:r>
            <a:endParaRPr b="1" sz="1800">
              <a:solidFill>
                <a:schemeClr val="dk2"/>
              </a:solidFill>
              <a:latin typeface="Poppins"/>
              <a:ea typeface="Poppins"/>
              <a:cs typeface="Poppins"/>
              <a:sym typeface="Poppins"/>
            </a:endParaRPr>
          </a:p>
        </p:txBody>
      </p:sp>
      <p:sp>
        <p:nvSpPr>
          <p:cNvPr id="418" name="Google Shape;418;p29"/>
          <p:cNvSpPr txBox="1"/>
          <p:nvPr/>
        </p:nvSpPr>
        <p:spPr>
          <a:xfrm>
            <a:off x="99835" y="3150579"/>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NO Importa el orden</a:t>
            </a:r>
            <a:endParaRPr b="1" sz="1800">
              <a:solidFill>
                <a:schemeClr val="dk2"/>
              </a:solidFill>
              <a:latin typeface="Poppins"/>
              <a:ea typeface="Poppins"/>
              <a:cs typeface="Poppins"/>
              <a:sym typeface="Poppins"/>
            </a:endParaRPr>
          </a:p>
        </p:txBody>
      </p:sp>
      <p:sp>
        <p:nvSpPr>
          <p:cNvPr id="419" name="Google Shape;419;p29"/>
          <p:cNvSpPr txBox="1"/>
          <p:nvPr/>
        </p:nvSpPr>
        <p:spPr>
          <a:xfrm>
            <a:off x="3909950" y="306525"/>
            <a:ext cx="4696500" cy="14160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Char char="●"/>
            </a:pPr>
            <a:r>
              <a:rPr lang="es" sz="1600">
                <a:solidFill>
                  <a:schemeClr val="dk1"/>
                </a:solidFill>
              </a:rPr>
              <a:t>Un equipo de campaña tiene 10 miembros. Se necesitan elegir 3 para recorrer </a:t>
            </a:r>
            <a:r>
              <a:rPr b="1" lang="es" sz="1600">
                <a:solidFill>
                  <a:schemeClr val="dk1"/>
                </a:solidFill>
              </a:rPr>
              <a:t>barrios de distinto tamaño</a:t>
            </a:r>
            <a:r>
              <a:rPr lang="es" sz="1600">
                <a:solidFill>
                  <a:schemeClr val="dk1"/>
                </a:solidFill>
              </a:rPr>
              <a:t> (grande, mediano y pequeño). ¿De cuántas formas se pueden </a:t>
            </a:r>
            <a:r>
              <a:rPr b="1" lang="es" sz="1600">
                <a:solidFill>
                  <a:schemeClr val="dk1"/>
                </a:solidFill>
              </a:rPr>
              <a:t>seleccionar y asignar</a:t>
            </a:r>
            <a:r>
              <a:rPr lang="es" sz="1600">
                <a:solidFill>
                  <a:schemeClr val="dk1"/>
                </a:solidFill>
              </a:rPr>
              <a:t> esos miembros?</a:t>
            </a:r>
            <a:endParaRPr sz="1600">
              <a:solidFill>
                <a:schemeClr val="dk2"/>
              </a:solidFill>
            </a:endParaRPr>
          </a:p>
        </p:txBody>
      </p:sp>
      <p:cxnSp>
        <p:nvCxnSpPr>
          <p:cNvPr id="420" name="Google Shape;420;p29"/>
          <p:cNvCxnSpPr/>
          <p:nvPr/>
        </p:nvCxnSpPr>
        <p:spPr>
          <a:xfrm>
            <a:off x="3154875" y="7475"/>
            <a:ext cx="22500" cy="5173500"/>
          </a:xfrm>
          <a:prstGeom prst="straightConnector1">
            <a:avLst/>
          </a:prstGeom>
          <a:noFill/>
          <a:ln cap="flat" cmpd="sng" w="9525">
            <a:solidFill>
              <a:schemeClr val="dk2"/>
            </a:solidFill>
            <a:prstDash val="solid"/>
            <a:round/>
            <a:headEnd len="med" w="med" type="none"/>
            <a:tailEnd len="med" w="med" type="none"/>
          </a:ln>
        </p:spPr>
      </p:cxnSp>
      <p:grpSp>
        <p:nvGrpSpPr>
          <p:cNvPr id="421" name="Google Shape;421;p29"/>
          <p:cNvGrpSpPr/>
          <p:nvPr/>
        </p:nvGrpSpPr>
        <p:grpSpPr>
          <a:xfrm>
            <a:off x="158651" y="646780"/>
            <a:ext cx="2769314" cy="1088466"/>
            <a:chOff x="144925" y="1537900"/>
            <a:chExt cx="4146300" cy="1683108"/>
          </a:xfrm>
        </p:grpSpPr>
        <p:pic>
          <p:nvPicPr>
            <p:cNvPr id="422" name="Google Shape;422;p29"/>
            <p:cNvPicPr preferRelativeResize="0"/>
            <p:nvPr/>
          </p:nvPicPr>
          <p:blipFill>
            <a:blip r:embed="rId4">
              <a:alphaModFix/>
            </a:blip>
            <a:stretch>
              <a:fillRect/>
            </a:stretch>
          </p:blipFill>
          <p:spPr>
            <a:xfrm>
              <a:off x="144925" y="1977108"/>
              <a:ext cx="4146300" cy="1243900"/>
            </a:xfrm>
            <a:prstGeom prst="rect">
              <a:avLst/>
            </a:prstGeom>
            <a:noFill/>
            <a:ln>
              <a:noFill/>
            </a:ln>
          </p:spPr>
        </p:pic>
        <p:sp>
          <p:nvSpPr>
            <p:cNvPr id="423" name="Google Shape;423;p29"/>
            <p:cNvSpPr txBox="1"/>
            <p:nvPr/>
          </p:nvSpPr>
          <p:spPr>
            <a:xfrm>
              <a:off x="433625" y="1582775"/>
              <a:ext cx="216900" cy="642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424" name="Google Shape;424;p29"/>
            <p:cNvSpPr txBox="1"/>
            <p:nvPr/>
          </p:nvSpPr>
          <p:spPr>
            <a:xfrm>
              <a:off x="321575" y="1537900"/>
              <a:ext cx="4410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500">
                <a:solidFill>
                  <a:srgbClr val="995914"/>
                </a:solidFill>
              </a:endParaRPr>
            </a:p>
          </p:txBody>
        </p:sp>
      </p:grpSp>
      <p:sp>
        <p:nvSpPr>
          <p:cNvPr id="425" name="Google Shape;425;p29"/>
          <p:cNvSpPr txBox="1"/>
          <p:nvPr/>
        </p:nvSpPr>
        <p:spPr>
          <a:xfrm>
            <a:off x="99825" y="1027138"/>
            <a:ext cx="621600" cy="5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995914"/>
                </a:solidFill>
                <a:highlight>
                  <a:srgbClr val="EEEEEE"/>
                </a:highlight>
              </a:rPr>
              <a:t>n</a:t>
            </a:r>
            <a:r>
              <a:rPr b="1" lang="es" sz="2300">
                <a:solidFill>
                  <a:srgbClr val="995914"/>
                </a:solidFill>
                <a:highlight>
                  <a:srgbClr val="EEEEEE"/>
                </a:highlight>
              </a:rPr>
              <a:t>V</a:t>
            </a:r>
            <a:r>
              <a:rPr b="1" lang="es" sz="1800">
                <a:solidFill>
                  <a:srgbClr val="995914"/>
                </a:solidFill>
                <a:highlight>
                  <a:srgbClr val="EEEEEE"/>
                </a:highlight>
              </a:rPr>
              <a:t>r</a:t>
            </a:r>
            <a:endParaRPr b="1" sz="1800">
              <a:solidFill>
                <a:srgbClr val="995914"/>
              </a:solidFill>
              <a:highlight>
                <a:srgbClr val="EEEEEE"/>
              </a:highlight>
            </a:endParaRPr>
          </a:p>
        </p:txBody>
      </p:sp>
      <p:sp>
        <p:nvSpPr>
          <p:cNvPr id="426" name="Google Shape;426;p29"/>
          <p:cNvSpPr txBox="1"/>
          <p:nvPr/>
        </p:nvSpPr>
        <p:spPr>
          <a:xfrm>
            <a:off x="7948800" y="0"/>
            <a:ext cx="1195200" cy="415800"/>
          </a:xfrm>
          <a:prstGeom prst="rect">
            <a:avLst/>
          </a:prstGeom>
          <a:solidFill>
            <a:srgbClr val="E0666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Variación</a:t>
            </a:r>
            <a:endParaRPr sz="1800">
              <a:solidFill>
                <a:schemeClr val="dk1"/>
              </a:solidFill>
            </a:endParaRPr>
          </a:p>
        </p:txBody>
      </p:sp>
      <p:sp>
        <p:nvSpPr>
          <p:cNvPr id="427" name="Google Shape;427;p29"/>
          <p:cNvSpPr txBox="1"/>
          <p:nvPr/>
        </p:nvSpPr>
        <p:spPr>
          <a:xfrm>
            <a:off x="3513750" y="3072650"/>
            <a:ext cx="1405500" cy="9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dk2"/>
                </a:solidFill>
              </a:rPr>
              <a:t>10</a:t>
            </a:r>
            <a:r>
              <a:rPr lang="es" sz="4800">
                <a:solidFill>
                  <a:schemeClr val="dk2"/>
                </a:solidFill>
              </a:rPr>
              <a:t>V</a:t>
            </a:r>
            <a:r>
              <a:rPr lang="es" sz="3200">
                <a:solidFill>
                  <a:schemeClr val="dk2"/>
                </a:solidFill>
              </a:rPr>
              <a:t>3</a:t>
            </a:r>
            <a:endParaRPr sz="3200">
              <a:solidFill>
                <a:schemeClr val="dk2"/>
              </a:solidFill>
            </a:endParaRPr>
          </a:p>
        </p:txBody>
      </p:sp>
      <p:sp>
        <p:nvSpPr>
          <p:cNvPr id="428" name="Google Shape;428;p29"/>
          <p:cNvSpPr txBox="1"/>
          <p:nvPr/>
        </p:nvSpPr>
        <p:spPr>
          <a:xfrm>
            <a:off x="5138647" y="3222175"/>
            <a:ext cx="1618200" cy="7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429" name="Google Shape;429;p29"/>
          <p:cNvSpPr txBox="1"/>
          <p:nvPr/>
        </p:nvSpPr>
        <p:spPr>
          <a:xfrm>
            <a:off x="5218250" y="3536150"/>
            <a:ext cx="4263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a:t>
            </a:r>
            <a:endParaRPr sz="1800">
              <a:solidFill>
                <a:schemeClr val="dk2"/>
              </a:solidFill>
            </a:endParaRPr>
          </a:p>
        </p:txBody>
      </p:sp>
      <p:sp>
        <p:nvSpPr>
          <p:cNvPr id="430" name="Google Shape;430;p29"/>
          <p:cNvSpPr txBox="1"/>
          <p:nvPr/>
        </p:nvSpPr>
        <p:spPr>
          <a:xfrm>
            <a:off x="5691872" y="3244600"/>
            <a:ext cx="1405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10</a:t>
            </a:r>
            <a:r>
              <a:rPr lang="es" sz="1800">
                <a:solidFill>
                  <a:schemeClr val="dk2"/>
                </a:solidFill>
              </a:rPr>
              <a:t>!</a:t>
            </a:r>
            <a:endParaRPr sz="1800">
              <a:solidFill>
                <a:schemeClr val="dk2"/>
              </a:solidFill>
            </a:endParaRPr>
          </a:p>
        </p:txBody>
      </p:sp>
      <p:cxnSp>
        <p:nvCxnSpPr>
          <p:cNvPr id="431" name="Google Shape;431;p29"/>
          <p:cNvCxnSpPr/>
          <p:nvPr/>
        </p:nvCxnSpPr>
        <p:spPr>
          <a:xfrm>
            <a:off x="5699347" y="3745475"/>
            <a:ext cx="867300" cy="7500"/>
          </a:xfrm>
          <a:prstGeom prst="straightConnector1">
            <a:avLst/>
          </a:prstGeom>
          <a:noFill/>
          <a:ln cap="flat" cmpd="sng" w="9525">
            <a:solidFill>
              <a:schemeClr val="dk2"/>
            </a:solidFill>
            <a:prstDash val="solid"/>
            <a:round/>
            <a:headEnd len="med" w="med" type="none"/>
            <a:tailEnd len="med" w="med" type="none"/>
          </a:ln>
        </p:spPr>
      </p:cxnSp>
      <p:sp>
        <p:nvSpPr>
          <p:cNvPr id="432" name="Google Shape;432;p29"/>
          <p:cNvSpPr txBox="1"/>
          <p:nvPr/>
        </p:nvSpPr>
        <p:spPr>
          <a:xfrm>
            <a:off x="5649897" y="3815650"/>
            <a:ext cx="144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(10-3)!</a:t>
            </a:r>
            <a:endParaRPr/>
          </a:p>
        </p:txBody>
      </p:sp>
      <p:sp>
        <p:nvSpPr>
          <p:cNvPr id="433" name="Google Shape;433;p29"/>
          <p:cNvSpPr txBox="1"/>
          <p:nvPr/>
        </p:nvSpPr>
        <p:spPr>
          <a:xfrm>
            <a:off x="4455700" y="1936300"/>
            <a:ext cx="33120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2"/>
                </a:solidFill>
              </a:rPr>
              <a:t>n =    10          r = 3</a:t>
            </a:r>
            <a:endParaRPr sz="2100">
              <a:solidFill>
                <a:schemeClr val="dk2"/>
              </a:solidFill>
            </a:endParaRPr>
          </a:p>
        </p:txBody>
      </p:sp>
      <p:sp>
        <p:nvSpPr>
          <p:cNvPr id="434" name="Google Shape;434;p29"/>
          <p:cNvSpPr txBox="1"/>
          <p:nvPr/>
        </p:nvSpPr>
        <p:spPr>
          <a:xfrm>
            <a:off x="6873897" y="3221638"/>
            <a:ext cx="1618200" cy="7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435" name="Google Shape;435;p29"/>
          <p:cNvSpPr txBox="1"/>
          <p:nvPr/>
        </p:nvSpPr>
        <p:spPr>
          <a:xfrm>
            <a:off x="6642122" y="3535613"/>
            <a:ext cx="4263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a:t>
            </a:r>
            <a:endParaRPr sz="1800">
              <a:solidFill>
                <a:schemeClr val="dk2"/>
              </a:solidFill>
            </a:endParaRPr>
          </a:p>
        </p:txBody>
      </p:sp>
      <p:sp>
        <p:nvSpPr>
          <p:cNvPr id="436" name="Google Shape;436;p29"/>
          <p:cNvSpPr txBox="1"/>
          <p:nvPr/>
        </p:nvSpPr>
        <p:spPr>
          <a:xfrm>
            <a:off x="7427124" y="3244075"/>
            <a:ext cx="6540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10</a:t>
            </a:r>
            <a:r>
              <a:rPr lang="es" sz="1800">
                <a:solidFill>
                  <a:schemeClr val="dk2"/>
                </a:solidFill>
              </a:rPr>
              <a:t>!</a:t>
            </a:r>
            <a:endParaRPr sz="1800">
              <a:solidFill>
                <a:schemeClr val="dk2"/>
              </a:solidFill>
            </a:endParaRPr>
          </a:p>
        </p:txBody>
      </p:sp>
      <p:cxnSp>
        <p:nvCxnSpPr>
          <p:cNvPr id="437" name="Google Shape;437;p29"/>
          <p:cNvCxnSpPr/>
          <p:nvPr/>
        </p:nvCxnSpPr>
        <p:spPr>
          <a:xfrm>
            <a:off x="7434597" y="3744938"/>
            <a:ext cx="867300" cy="7500"/>
          </a:xfrm>
          <a:prstGeom prst="straightConnector1">
            <a:avLst/>
          </a:prstGeom>
          <a:noFill/>
          <a:ln cap="flat" cmpd="sng" w="9525">
            <a:solidFill>
              <a:schemeClr val="dk2"/>
            </a:solidFill>
            <a:prstDash val="solid"/>
            <a:round/>
            <a:headEnd len="med" w="med" type="none"/>
            <a:tailEnd len="med" w="med" type="none"/>
          </a:ln>
        </p:spPr>
      </p:cxnSp>
      <p:sp>
        <p:nvSpPr>
          <p:cNvPr id="438" name="Google Shape;438;p29"/>
          <p:cNvSpPr txBox="1"/>
          <p:nvPr/>
        </p:nvSpPr>
        <p:spPr>
          <a:xfrm>
            <a:off x="7508372" y="3752963"/>
            <a:ext cx="867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7</a:t>
            </a:r>
            <a:r>
              <a:rPr lang="es" sz="1800">
                <a:solidFill>
                  <a:schemeClr val="dk2"/>
                </a:solidFill>
              </a:rPr>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42" name="Shape 442"/>
        <p:cNvGrpSpPr/>
        <p:nvPr/>
      </p:nvGrpSpPr>
      <p:grpSpPr>
        <a:xfrm>
          <a:off x="0" y="0"/>
          <a:ext cx="0" cy="0"/>
          <a:chOff x="0" y="0"/>
          <a:chExt cx="0" cy="0"/>
        </a:xfrm>
      </p:grpSpPr>
      <p:pic>
        <p:nvPicPr>
          <p:cNvPr id="443" name="Google Shape;443;p30"/>
          <p:cNvPicPr preferRelativeResize="0"/>
          <p:nvPr/>
        </p:nvPicPr>
        <p:blipFill>
          <a:blip r:embed="rId3">
            <a:alphaModFix/>
          </a:blip>
          <a:stretch>
            <a:fillRect/>
          </a:stretch>
        </p:blipFill>
        <p:spPr>
          <a:xfrm>
            <a:off x="51449" y="3354384"/>
            <a:ext cx="2983825" cy="1564840"/>
          </a:xfrm>
          <a:prstGeom prst="rect">
            <a:avLst/>
          </a:prstGeom>
          <a:noFill/>
          <a:ln>
            <a:noFill/>
          </a:ln>
        </p:spPr>
      </p:pic>
      <p:sp>
        <p:nvSpPr>
          <p:cNvPr id="444" name="Google Shape;444;p30"/>
          <p:cNvSpPr txBox="1"/>
          <p:nvPr/>
        </p:nvSpPr>
        <p:spPr>
          <a:xfrm>
            <a:off x="351474" y="675800"/>
            <a:ext cx="144900" cy="4158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445" name="Google Shape;445;p30"/>
          <p:cNvSpPr txBox="1"/>
          <p:nvPr/>
        </p:nvSpPr>
        <p:spPr>
          <a:xfrm>
            <a:off x="158658" y="2089337"/>
            <a:ext cx="1843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3600">
                <a:solidFill>
                  <a:srgbClr val="995914"/>
                </a:solidFill>
              </a:rPr>
              <a:t>Pn = n!</a:t>
            </a:r>
            <a:endParaRPr b="1" sz="3600">
              <a:solidFill>
                <a:srgbClr val="995914"/>
              </a:solidFill>
            </a:endParaRPr>
          </a:p>
        </p:txBody>
      </p:sp>
      <p:sp>
        <p:nvSpPr>
          <p:cNvPr id="446" name="Google Shape;446;p30"/>
          <p:cNvSpPr txBox="1"/>
          <p:nvPr/>
        </p:nvSpPr>
        <p:spPr>
          <a:xfrm>
            <a:off x="93766" y="0"/>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Importa el orden</a:t>
            </a:r>
            <a:endParaRPr b="1" sz="1800">
              <a:solidFill>
                <a:schemeClr val="dk2"/>
              </a:solidFill>
              <a:latin typeface="Poppins"/>
              <a:ea typeface="Poppins"/>
              <a:cs typeface="Poppins"/>
              <a:sym typeface="Poppins"/>
            </a:endParaRPr>
          </a:p>
        </p:txBody>
      </p:sp>
      <p:sp>
        <p:nvSpPr>
          <p:cNvPr id="447" name="Google Shape;447;p30"/>
          <p:cNvSpPr txBox="1"/>
          <p:nvPr/>
        </p:nvSpPr>
        <p:spPr>
          <a:xfrm>
            <a:off x="99835" y="3150579"/>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NO Importa el orden</a:t>
            </a:r>
            <a:endParaRPr b="1" sz="1800">
              <a:solidFill>
                <a:schemeClr val="dk2"/>
              </a:solidFill>
              <a:latin typeface="Poppins"/>
              <a:ea typeface="Poppins"/>
              <a:cs typeface="Poppins"/>
              <a:sym typeface="Poppins"/>
            </a:endParaRPr>
          </a:p>
        </p:txBody>
      </p:sp>
      <p:sp>
        <p:nvSpPr>
          <p:cNvPr id="448" name="Google Shape;448;p30"/>
          <p:cNvSpPr txBox="1"/>
          <p:nvPr/>
        </p:nvSpPr>
        <p:spPr>
          <a:xfrm>
            <a:off x="3909950" y="306525"/>
            <a:ext cx="4696500" cy="14160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Char char="●"/>
            </a:pPr>
            <a:r>
              <a:rPr lang="es" sz="1600">
                <a:solidFill>
                  <a:schemeClr val="dk1"/>
                </a:solidFill>
              </a:rPr>
              <a:t>Un equipo de campaña tiene 10 miembros. Se necesitan elegir 3 para recorrer </a:t>
            </a:r>
            <a:r>
              <a:rPr b="1" lang="es" sz="1600">
                <a:solidFill>
                  <a:schemeClr val="dk1"/>
                </a:solidFill>
              </a:rPr>
              <a:t>barrios de distinto tamaño</a:t>
            </a:r>
            <a:r>
              <a:rPr lang="es" sz="1600">
                <a:solidFill>
                  <a:schemeClr val="dk1"/>
                </a:solidFill>
              </a:rPr>
              <a:t> (grande, mediano y pequeño). ¿De cuántas formas se pueden </a:t>
            </a:r>
            <a:r>
              <a:rPr b="1" lang="es" sz="1600">
                <a:solidFill>
                  <a:schemeClr val="dk1"/>
                </a:solidFill>
              </a:rPr>
              <a:t>seleccionar y asignar</a:t>
            </a:r>
            <a:r>
              <a:rPr lang="es" sz="1600">
                <a:solidFill>
                  <a:schemeClr val="dk1"/>
                </a:solidFill>
              </a:rPr>
              <a:t> esos miembros?</a:t>
            </a:r>
            <a:endParaRPr sz="1600">
              <a:solidFill>
                <a:schemeClr val="dk2"/>
              </a:solidFill>
            </a:endParaRPr>
          </a:p>
        </p:txBody>
      </p:sp>
      <p:cxnSp>
        <p:nvCxnSpPr>
          <p:cNvPr id="449" name="Google Shape;449;p30"/>
          <p:cNvCxnSpPr/>
          <p:nvPr/>
        </p:nvCxnSpPr>
        <p:spPr>
          <a:xfrm>
            <a:off x="3154875" y="7475"/>
            <a:ext cx="22500" cy="5173500"/>
          </a:xfrm>
          <a:prstGeom prst="straightConnector1">
            <a:avLst/>
          </a:prstGeom>
          <a:noFill/>
          <a:ln cap="flat" cmpd="sng" w="9525">
            <a:solidFill>
              <a:schemeClr val="dk2"/>
            </a:solidFill>
            <a:prstDash val="solid"/>
            <a:round/>
            <a:headEnd len="med" w="med" type="none"/>
            <a:tailEnd len="med" w="med" type="none"/>
          </a:ln>
        </p:spPr>
      </p:cxnSp>
      <p:grpSp>
        <p:nvGrpSpPr>
          <p:cNvPr id="450" name="Google Shape;450;p30"/>
          <p:cNvGrpSpPr/>
          <p:nvPr/>
        </p:nvGrpSpPr>
        <p:grpSpPr>
          <a:xfrm>
            <a:off x="158651" y="646780"/>
            <a:ext cx="2769314" cy="1088466"/>
            <a:chOff x="144925" y="1537900"/>
            <a:chExt cx="4146300" cy="1683108"/>
          </a:xfrm>
        </p:grpSpPr>
        <p:pic>
          <p:nvPicPr>
            <p:cNvPr id="451" name="Google Shape;451;p30"/>
            <p:cNvPicPr preferRelativeResize="0"/>
            <p:nvPr/>
          </p:nvPicPr>
          <p:blipFill>
            <a:blip r:embed="rId4">
              <a:alphaModFix/>
            </a:blip>
            <a:stretch>
              <a:fillRect/>
            </a:stretch>
          </p:blipFill>
          <p:spPr>
            <a:xfrm>
              <a:off x="144925" y="1977108"/>
              <a:ext cx="4146300" cy="1243900"/>
            </a:xfrm>
            <a:prstGeom prst="rect">
              <a:avLst/>
            </a:prstGeom>
            <a:noFill/>
            <a:ln>
              <a:noFill/>
            </a:ln>
          </p:spPr>
        </p:pic>
        <p:sp>
          <p:nvSpPr>
            <p:cNvPr id="452" name="Google Shape;452;p30"/>
            <p:cNvSpPr txBox="1"/>
            <p:nvPr/>
          </p:nvSpPr>
          <p:spPr>
            <a:xfrm>
              <a:off x="433625" y="1582775"/>
              <a:ext cx="216900" cy="642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453" name="Google Shape;453;p30"/>
            <p:cNvSpPr txBox="1"/>
            <p:nvPr/>
          </p:nvSpPr>
          <p:spPr>
            <a:xfrm>
              <a:off x="321575" y="1537900"/>
              <a:ext cx="4410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500">
                <a:solidFill>
                  <a:srgbClr val="995914"/>
                </a:solidFill>
              </a:endParaRPr>
            </a:p>
          </p:txBody>
        </p:sp>
      </p:grpSp>
      <p:sp>
        <p:nvSpPr>
          <p:cNvPr id="454" name="Google Shape;454;p30"/>
          <p:cNvSpPr txBox="1"/>
          <p:nvPr/>
        </p:nvSpPr>
        <p:spPr>
          <a:xfrm>
            <a:off x="99825" y="1027138"/>
            <a:ext cx="621600" cy="5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995914"/>
                </a:solidFill>
                <a:highlight>
                  <a:srgbClr val="EEEEEE"/>
                </a:highlight>
              </a:rPr>
              <a:t>n</a:t>
            </a:r>
            <a:r>
              <a:rPr b="1" lang="es" sz="2300">
                <a:solidFill>
                  <a:srgbClr val="995914"/>
                </a:solidFill>
                <a:highlight>
                  <a:srgbClr val="EEEEEE"/>
                </a:highlight>
              </a:rPr>
              <a:t>V</a:t>
            </a:r>
            <a:r>
              <a:rPr b="1" lang="es" sz="1800">
                <a:solidFill>
                  <a:srgbClr val="995914"/>
                </a:solidFill>
                <a:highlight>
                  <a:srgbClr val="EEEEEE"/>
                </a:highlight>
              </a:rPr>
              <a:t>r</a:t>
            </a:r>
            <a:endParaRPr b="1" sz="1800">
              <a:solidFill>
                <a:srgbClr val="995914"/>
              </a:solidFill>
              <a:highlight>
                <a:srgbClr val="EEEEEE"/>
              </a:highlight>
            </a:endParaRPr>
          </a:p>
        </p:txBody>
      </p:sp>
      <p:sp>
        <p:nvSpPr>
          <p:cNvPr id="455" name="Google Shape;455;p30"/>
          <p:cNvSpPr txBox="1"/>
          <p:nvPr/>
        </p:nvSpPr>
        <p:spPr>
          <a:xfrm>
            <a:off x="7948800" y="0"/>
            <a:ext cx="1195200" cy="415800"/>
          </a:xfrm>
          <a:prstGeom prst="rect">
            <a:avLst/>
          </a:prstGeom>
          <a:solidFill>
            <a:srgbClr val="E0666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Variación</a:t>
            </a:r>
            <a:endParaRPr sz="1800">
              <a:solidFill>
                <a:schemeClr val="dk1"/>
              </a:solidFill>
            </a:endParaRPr>
          </a:p>
        </p:txBody>
      </p:sp>
      <p:sp>
        <p:nvSpPr>
          <p:cNvPr id="456" name="Google Shape;456;p30"/>
          <p:cNvSpPr txBox="1"/>
          <p:nvPr/>
        </p:nvSpPr>
        <p:spPr>
          <a:xfrm>
            <a:off x="3513750" y="3072650"/>
            <a:ext cx="1405500" cy="9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dk2"/>
                </a:solidFill>
              </a:rPr>
              <a:t>10</a:t>
            </a:r>
            <a:r>
              <a:rPr lang="es" sz="4800">
                <a:solidFill>
                  <a:schemeClr val="dk2"/>
                </a:solidFill>
              </a:rPr>
              <a:t>V</a:t>
            </a:r>
            <a:r>
              <a:rPr lang="es" sz="3200">
                <a:solidFill>
                  <a:schemeClr val="dk2"/>
                </a:solidFill>
              </a:rPr>
              <a:t>3</a:t>
            </a:r>
            <a:endParaRPr sz="3200">
              <a:solidFill>
                <a:schemeClr val="dk2"/>
              </a:solidFill>
            </a:endParaRPr>
          </a:p>
        </p:txBody>
      </p:sp>
      <p:sp>
        <p:nvSpPr>
          <p:cNvPr id="457" name="Google Shape;457;p30"/>
          <p:cNvSpPr txBox="1"/>
          <p:nvPr/>
        </p:nvSpPr>
        <p:spPr>
          <a:xfrm>
            <a:off x="5138647" y="3222175"/>
            <a:ext cx="1618200" cy="7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458" name="Google Shape;458;p30"/>
          <p:cNvSpPr txBox="1"/>
          <p:nvPr/>
        </p:nvSpPr>
        <p:spPr>
          <a:xfrm>
            <a:off x="5218250" y="3536150"/>
            <a:ext cx="4263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a:t>
            </a:r>
            <a:endParaRPr sz="1800">
              <a:solidFill>
                <a:schemeClr val="dk2"/>
              </a:solidFill>
            </a:endParaRPr>
          </a:p>
        </p:txBody>
      </p:sp>
      <p:sp>
        <p:nvSpPr>
          <p:cNvPr id="459" name="Google Shape;459;p30"/>
          <p:cNvSpPr txBox="1"/>
          <p:nvPr/>
        </p:nvSpPr>
        <p:spPr>
          <a:xfrm>
            <a:off x="5555447" y="3244075"/>
            <a:ext cx="1405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10. 9. 8. 7!</a:t>
            </a:r>
            <a:endParaRPr sz="1800">
              <a:solidFill>
                <a:schemeClr val="dk2"/>
              </a:solidFill>
            </a:endParaRPr>
          </a:p>
        </p:txBody>
      </p:sp>
      <p:cxnSp>
        <p:nvCxnSpPr>
          <p:cNvPr id="460" name="Google Shape;460;p30"/>
          <p:cNvCxnSpPr>
            <a:endCxn id="461" idx="1"/>
          </p:cNvCxnSpPr>
          <p:nvPr/>
        </p:nvCxnSpPr>
        <p:spPr>
          <a:xfrm>
            <a:off x="5699347" y="3745388"/>
            <a:ext cx="1057500" cy="3300"/>
          </a:xfrm>
          <a:prstGeom prst="straightConnector1">
            <a:avLst/>
          </a:prstGeom>
          <a:noFill/>
          <a:ln cap="flat" cmpd="sng" w="9525">
            <a:solidFill>
              <a:schemeClr val="dk2"/>
            </a:solidFill>
            <a:prstDash val="solid"/>
            <a:round/>
            <a:headEnd len="med" w="med" type="none"/>
            <a:tailEnd len="med" w="med" type="none"/>
          </a:ln>
        </p:spPr>
      </p:cxnSp>
      <p:sp>
        <p:nvSpPr>
          <p:cNvPr id="462" name="Google Shape;462;p30"/>
          <p:cNvSpPr txBox="1"/>
          <p:nvPr/>
        </p:nvSpPr>
        <p:spPr>
          <a:xfrm>
            <a:off x="5649897" y="3815650"/>
            <a:ext cx="144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7</a:t>
            </a:r>
            <a:r>
              <a:rPr lang="es" sz="1800">
                <a:solidFill>
                  <a:schemeClr val="dk2"/>
                </a:solidFill>
              </a:rPr>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66" name="Shape 466"/>
        <p:cNvGrpSpPr/>
        <p:nvPr/>
      </p:nvGrpSpPr>
      <p:grpSpPr>
        <a:xfrm>
          <a:off x="0" y="0"/>
          <a:ext cx="0" cy="0"/>
          <a:chOff x="0" y="0"/>
          <a:chExt cx="0" cy="0"/>
        </a:xfrm>
      </p:grpSpPr>
      <p:pic>
        <p:nvPicPr>
          <p:cNvPr id="467" name="Google Shape;467;p31"/>
          <p:cNvPicPr preferRelativeResize="0"/>
          <p:nvPr/>
        </p:nvPicPr>
        <p:blipFill>
          <a:blip r:embed="rId3">
            <a:alphaModFix/>
          </a:blip>
          <a:stretch>
            <a:fillRect/>
          </a:stretch>
        </p:blipFill>
        <p:spPr>
          <a:xfrm>
            <a:off x="51449" y="3354384"/>
            <a:ext cx="2983825" cy="1564840"/>
          </a:xfrm>
          <a:prstGeom prst="rect">
            <a:avLst/>
          </a:prstGeom>
          <a:noFill/>
          <a:ln>
            <a:noFill/>
          </a:ln>
        </p:spPr>
      </p:pic>
      <p:sp>
        <p:nvSpPr>
          <p:cNvPr id="468" name="Google Shape;468;p31"/>
          <p:cNvSpPr txBox="1"/>
          <p:nvPr/>
        </p:nvSpPr>
        <p:spPr>
          <a:xfrm>
            <a:off x="351474" y="675800"/>
            <a:ext cx="144900" cy="4158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469" name="Google Shape;469;p31"/>
          <p:cNvSpPr txBox="1"/>
          <p:nvPr/>
        </p:nvSpPr>
        <p:spPr>
          <a:xfrm>
            <a:off x="158658" y="2089337"/>
            <a:ext cx="1843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3600">
                <a:solidFill>
                  <a:srgbClr val="995914"/>
                </a:solidFill>
              </a:rPr>
              <a:t>Pn = n!</a:t>
            </a:r>
            <a:endParaRPr b="1" sz="3600">
              <a:solidFill>
                <a:srgbClr val="995914"/>
              </a:solidFill>
            </a:endParaRPr>
          </a:p>
        </p:txBody>
      </p:sp>
      <p:sp>
        <p:nvSpPr>
          <p:cNvPr id="470" name="Google Shape;470;p31"/>
          <p:cNvSpPr txBox="1"/>
          <p:nvPr/>
        </p:nvSpPr>
        <p:spPr>
          <a:xfrm>
            <a:off x="93766" y="0"/>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Importa el orden</a:t>
            </a:r>
            <a:endParaRPr b="1" sz="1800">
              <a:solidFill>
                <a:schemeClr val="dk2"/>
              </a:solidFill>
              <a:latin typeface="Poppins"/>
              <a:ea typeface="Poppins"/>
              <a:cs typeface="Poppins"/>
              <a:sym typeface="Poppins"/>
            </a:endParaRPr>
          </a:p>
        </p:txBody>
      </p:sp>
      <p:sp>
        <p:nvSpPr>
          <p:cNvPr id="471" name="Google Shape;471;p31"/>
          <p:cNvSpPr txBox="1"/>
          <p:nvPr/>
        </p:nvSpPr>
        <p:spPr>
          <a:xfrm>
            <a:off x="99835" y="3150579"/>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NO Importa el orden</a:t>
            </a:r>
            <a:endParaRPr b="1" sz="1800">
              <a:solidFill>
                <a:schemeClr val="dk2"/>
              </a:solidFill>
              <a:latin typeface="Poppins"/>
              <a:ea typeface="Poppins"/>
              <a:cs typeface="Poppins"/>
              <a:sym typeface="Poppins"/>
            </a:endParaRPr>
          </a:p>
        </p:txBody>
      </p:sp>
      <p:sp>
        <p:nvSpPr>
          <p:cNvPr id="472" name="Google Shape;472;p31"/>
          <p:cNvSpPr txBox="1"/>
          <p:nvPr/>
        </p:nvSpPr>
        <p:spPr>
          <a:xfrm>
            <a:off x="3909950" y="306525"/>
            <a:ext cx="4696500" cy="14160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Char char="●"/>
            </a:pPr>
            <a:r>
              <a:rPr lang="es" sz="1600">
                <a:solidFill>
                  <a:schemeClr val="dk1"/>
                </a:solidFill>
              </a:rPr>
              <a:t>Un equipo de campaña tiene 10 miembros. Se necesitan elegir 3 para recorrer </a:t>
            </a:r>
            <a:r>
              <a:rPr b="1" lang="es" sz="1600">
                <a:solidFill>
                  <a:schemeClr val="dk1"/>
                </a:solidFill>
              </a:rPr>
              <a:t>barrios de distinto tamaño</a:t>
            </a:r>
            <a:r>
              <a:rPr lang="es" sz="1600">
                <a:solidFill>
                  <a:schemeClr val="dk1"/>
                </a:solidFill>
              </a:rPr>
              <a:t> (grande, mediano y pequeño). ¿De cuántas formas se pueden </a:t>
            </a:r>
            <a:r>
              <a:rPr b="1" lang="es" sz="1600">
                <a:solidFill>
                  <a:schemeClr val="dk1"/>
                </a:solidFill>
              </a:rPr>
              <a:t>seleccionar y asignar</a:t>
            </a:r>
            <a:r>
              <a:rPr lang="es" sz="1600">
                <a:solidFill>
                  <a:schemeClr val="dk1"/>
                </a:solidFill>
              </a:rPr>
              <a:t> esos miembros?</a:t>
            </a:r>
            <a:endParaRPr sz="1600">
              <a:solidFill>
                <a:schemeClr val="dk2"/>
              </a:solidFill>
            </a:endParaRPr>
          </a:p>
        </p:txBody>
      </p:sp>
      <p:cxnSp>
        <p:nvCxnSpPr>
          <p:cNvPr id="473" name="Google Shape;473;p31"/>
          <p:cNvCxnSpPr/>
          <p:nvPr/>
        </p:nvCxnSpPr>
        <p:spPr>
          <a:xfrm>
            <a:off x="3154875" y="7475"/>
            <a:ext cx="22500" cy="5173500"/>
          </a:xfrm>
          <a:prstGeom prst="straightConnector1">
            <a:avLst/>
          </a:prstGeom>
          <a:noFill/>
          <a:ln cap="flat" cmpd="sng" w="9525">
            <a:solidFill>
              <a:schemeClr val="dk2"/>
            </a:solidFill>
            <a:prstDash val="solid"/>
            <a:round/>
            <a:headEnd len="med" w="med" type="none"/>
            <a:tailEnd len="med" w="med" type="none"/>
          </a:ln>
        </p:spPr>
      </p:cxnSp>
      <p:grpSp>
        <p:nvGrpSpPr>
          <p:cNvPr id="474" name="Google Shape;474;p31"/>
          <p:cNvGrpSpPr/>
          <p:nvPr/>
        </p:nvGrpSpPr>
        <p:grpSpPr>
          <a:xfrm>
            <a:off x="158651" y="646780"/>
            <a:ext cx="2769314" cy="1088466"/>
            <a:chOff x="144925" y="1537900"/>
            <a:chExt cx="4146300" cy="1683108"/>
          </a:xfrm>
        </p:grpSpPr>
        <p:pic>
          <p:nvPicPr>
            <p:cNvPr id="475" name="Google Shape;475;p31"/>
            <p:cNvPicPr preferRelativeResize="0"/>
            <p:nvPr/>
          </p:nvPicPr>
          <p:blipFill>
            <a:blip r:embed="rId4">
              <a:alphaModFix/>
            </a:blip>
            <a:stretch>
              <a:fillRect/>
            </a:stretch>
          </p:blipFill>
          <p:spPr>
            <a:xfrm>
              <a:off x="144925" y="1977108"/>
              <a:ext cx="4146300" cy="1243900"/>
            </a:xfrm>
            <a:prstGeom prst="rect">
              <a:avLst/>
            </a:prstGeom>
            <a:noFill/>
            <a:ln>
              <a:noFill/>
            </a:ln>
          </p:spPr>
        </p:pic>
        <p:sp>
          <p:nvSpPr>
            <p:cNvPr id="476" name="Google Shape;476;p31"/>
            <p:cNvSpPr txBox="1"/>
            <p:nvPr/>
          </p:nvSpPr>
          <p:spPr>
            <a:xfrm>
              <a:off x="433625" y="1582775"/>
              <a:ext cx="216900" cy="642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477" name="Google Shape;477;p31"/>
            <p:cNvSpPr txBox="1"/>
            <p:nvPr/>
          </p:nvSpPr>
          <p:spPr>
            <a:xfrm>
              <a:off x="321575" y="1537900"/>
              <a:ext cx="4410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500">
                <a:solidFill>
                  <a:srgbClr val="995914"/>
                </a:solidFill>
              </a:endParaRPr>
            </a:p>
          </p:txBody>
        </p:sp>
      </p:grpSp>
      <p:sp>
        <p:nvSpPr>
          <p:cNvPr id="478" name="Google Shape;478;p31"/>
          <p:cNvSpPr txBox="1"/>
          <p:nvPr/>
        </p:nvSpPr>
        <p:spPr>
          <a:xfrm>
            <a:off x="99825" y="1027138"/>
            <a:ext cx="621600" cy="5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995914"/>
                </a:solidFill>
                <a:highlight>
                  <a:srgbClr val="EEEEEE"/>
                </a:highlight>
              </a:rPr>
              <a:t>n</a:t>
            </a:r>
            <a:r>
              <a:rPr b="1" lang="es" sz="2300">
                <a:solidFill>
                  <a:srgbClr val="995914"/>
                </a:solidFill>
                <a:highlight>
                  <a:srgbClr val="EEEEEE"/>
                </a:highlight>
              </a:rPr>
              <a:t>V</a:t>
            </a:r>
            <a:r>
              <a:rPr b="1" lang="es" sz="1800">
                <a:solidFill>
                  <a:srgbClr val="995914"/>
                </a:solidFill>
                <a:highlight>
                  <a:srgbClr val="EEEEEE"/>
                </a:highlight>
              </a:rPr>
              <a:t>r</a:t>
            </a:r>
            <a:endParaRPr b="1" sz="1800">
              <a:solidFill>
                <a:srgbClr val="995914"/>
              </a:solidFill>
              <a:highlight>
                <a:srgbClr val="EEEEEE"/>
              </a:highlight>
            </a:endParaRPr>
          </a:p>
        </p:txBody>
      </p:sp>
      <p:sp>
        <p:nvSpPr>
          <p:cNvPr id="479" name="Google Shape;479;p31"/>
          <p:cNvSpPr txBox="1"/>
          <p:nvPr/>
        </p:nvSpPr>
        <p:spPr>
          <a:xfrm>
            <a:off x="7948800" y="0"/>
            <a:ext cx="1195200" cy="415800"/>
          </a:xfrm>
          <a:prstGeom prst="rect">
            <a:avLst/>
          </a:prstGeom>
          <a:solidFill>
            <a:srgbClr val="E0666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Variación</a:t>
            </a:r>
            <a:endParaRPr sz="1800">
              <a:solidFill>
                <a:schemeClr val="dk1"/>
              </a:solidFill>
            </a:endParaRPr>
          </a:p>
        </p:txBody>
      </p:sp>
      <p:sp>
        <p:nvSpPr>
          <p:cNvPr id="480" name="Google Shape;480;p31"/>
          <p:cNvSpPr txBox="1"/>
          <p:nvPr/>
        </p:nvSpPr>
        <p:spPr>
          <a:xfrm>
            <a:off x="3513750" y="3072650"/>
            <a:ext cx="1405500" cy="9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dk2"/>
                </a:solidFill>
              </a:rPr>
              <a:t>10</a:t>
            </a:r>
            <a:r>
              <a:rPr lang="es" sz="4800">
                <a:solidFill>
                  <a:schemeClr val="dk2"/>
                </a:solidFill>
              </a:rPr>
              <a:t>V</a:t>
            </a:r>
            <a:r>
              <a:rPr lang="es" sz="3200">
                <a:solidFill>
                  <a:schemeClr val="dk2"/>
                </a:solidFill>
              </a:rPr>
              <a:t>3</a:t>
            </a:r>
            <a:endParaRPr sz="3200">
              <a:solidFill>
                <a:schemeClr val="dk2"/>
              </a:solidFill>
            </a:endParaRPr>
          </a:p>
        </p:txBody>
      </p:sp>
      <p:sp>
        <p:nvSpPr>
          <p:cNvPr id="481" name="Google Shape;481;p31"/>
          <p:cNvSpPr txBox="1"/>
          <p:nvPr/>
        </p:nvSpPr>
        <p:spPr>
          <a:xfrm>
            <a:off x="5138647" y="3222175"/>
            <a:ext cx="1618200" cy="7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482" name="Google Shape;482;p31"/>
          <p:cNvSpPr txBox="1"/>
          <p:nvPr/>
        </p:nvSpPr>
        <p:spPr>
          <a:xfrm>
            <a:off x="5218250" y="3536150"/>
            <a:ext cx="4263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a:t>
            </a:r>
            <a:endParaRPr sz="1800">
              <a:solidFill>
                <a:schemeClr val="dk2"/>
              </a:solidFill>
            </a:endParaRPr>
          </a:p>
        </p:txBody>
      </p:sp>
      <p:sp>
        <p:nvSpPr>
          <p:cNvPr id="483" name="Google Shape;483;p31"/>
          <p:cNvSpPr txBox="1"/>
          <p:nvPr/>
        </p:nvSpPr>
        <p:spPr>
          <a:xfrm>
            <a:off x="5555447" y="3244075"/>
            <a:ext cx="1405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10. 9. 8. 7!</a:t>
            </a:r>
            <a:endParaRPr sz="1800">
              <a:solidFill>
                <a:schemeClr val="dk2"/>
              </a:solidFill>
            </a:endParaRPr>
          </a:p>
        </p:txBody>
      </p:sp>
      <p:cxnSp>
        <p:nvCxnSpPr>
          <p:cNvPr id="484" name="Google Shape;484;p31"/>
          <p:cNvCxnSpPr>
            <a:endCxn id="485" idx="1"/>
          </p:cNvCxnSpPr>
          <p:nvPr/>
        </p:nvCxnSpPr>
        <p:spPr>
          <a:xfrm>
            <a:off x="5699347" y="3745388"/>
            <a:ext cx="1057500" cy="3300"/>
          </a:xfrm>
          <a:prstGeom prst="straightConnector1">
            <a:avLst/>
          </a:prstGeom>
          <a:noFill/>
          <a:ln cap="flat" cmpd="sng" w="9525">
            <a:solidFill>
              <a:schemeClr val="dk2"/>
            </a:solidFill>
            <a:prstDash val="solid"/>
            <a:round/>
            <a:headEnd len="med" w="med" type="none"/>
            <a:tailEnd len="med" w="med" type="none"/>
          </a:ln>
        </p:spPr>
      </p:cxnSp>
      <p:sp>
        <p:nvSpPr>
          <p:cNvPr id="486" name="Google Shape;486;p31"/>
          <p:cNvSpPr txBox="1"/>
          <p:nvPr/>
        </p:nvSpPr>
        <p:spPr>
          <a:xfrm>
            <a:off x="5649897" y="3815650"/>
            <a:ext cx="144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7!</a:t>
            </a:r>
            <a:endParaRPr/>
          </a:p>
        </p:txBody>
      </p:sp>
      <p:sp>
        <p:nvSpPr>
          <p:cNvPr id="487" name="Google Shape;487;p31"/>
          <p:cNvSpPr txBox="1"/>
          <p:nvPr/>
        </p:nvSpPr>
        <p:spPr>
          <a:xfrm>
            <a:off x="6873897" y="3221638"/>
            <a:ext cx="1618200" cy="7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485" name="Google Shape;485;p31"/>
          <p:cNvSpPr txBox="1"/>
          <p:nvPr/>
        </p:nvSpPr>
        <p:spPr>
          <a:xfrm>
            <a:off x="6756847" y="3528188"/>
            <a:ext cx="4263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a:t>
            </a:r>
            <a:endParaRPr sz="1800">
              <a:solidFill>
                <a:schemeClr val="dk2"/>
              </a:solidFill>
            </a:endParaRPr>
          </a:p>
        </p:txBody>
      </p:sp>
      <p:sp>
        <p:nvSpPr>
          <p:cNvPr id="488" name="Google Shape;488;p31"/>
          <p:cNvSpPr txBox="1"/>
          <p:nvPr/>
        </p:nvSpPr>
        <p:spPr>
          <a:xfrm>
            <a:off x="7102749" y="3528200"/>
            <a:ext cx="6540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720</a:t>
            </a:r>
            <a:endParaRPr sz="1800">
              <a:solidFill>
                <a:schemeClr val="dk2"/>
              </a:solidFill>
            </a:endParaRPr>
          </a:p>
        </p:txBody>
      </p:sp>
      <p:cxnSp>
        <p:nvCxnSpPr>
          <p:cNvPr id="489" name="Google Shape;489;p31"/>
          <p:cNvCxnSpPr/>
          <p:nvPr/>
        </p:nvCxnSpPr>
        <p:spPr>
          <a:xfrm flipH="1" rot="10800000">
            <a:off x="6527650" y="3303775"/>
            <a:ext cx="197700" cy="277500"/>
          </a:xfrm>
          <a:prstGeom prst="straightConnector1">
            <a:avLst/>
          </a:prstGeom>
          <a:noFill/>
          <a:ln cap="flat" cmpd="sng" w="28575">
            <a:solidFill>
              <a:srgbClr val="FF0000"/>
            </a:solidFill>
            <a:prstDash val="solid"/>
            <a:round/>
            <a:headEnd len="med" w="med" type="none"/>
            <a:tailEnd len="med" w="med" type="none"/>
          </a:ln>
        </p:spPr>
      </p:cxnSp>
      <p:cxnSp>
        <p:nvCxnSpPr>
          <p:cNvPr id="490" name="Google Shape;490;p31"/>
          <p:cNvCxnSpPr/>
          <p:nvPr/>
        </p:nvCxnSpPr>
        <p:spPr>
          <a:xfrm flipH="1" rot="10800000">
            <a:off x="5739200" y="3907750"/>
            <a:ext cx="197700" cy="2775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94" name="Shape 494"/>
        <p:cNvGrpSpPr/>
        <p:nvPr/>
      </p:nvGrpSpPr>
      <p:grpSpPr>
        <a:xfrm>
          <a:off x="0" y="0"/>
          <a:ext cx="0" cy="0"/>
          <a:chOff x="0" y="0"/>
          <a:chExt cx="0" cy="0"/>
        </a:xfrm>
      </p:grpSpPr>
      <p:pic>
        <p:nvPicPr>
          <p:cNvPr id="495" name="Google Shape;495;p32"/>
          <p:cNvPicPr preferRelativeResize="0"/>
          <p:nvPr/>
        </p:nvPicPr>
        <p:blipFill>
          <a:blip r:embed="rId3">
            <a:alphaModFix/>
          </a:blip>
          <a:stretch>
            <a:fillRect/>
          </a:stretch>
        </p:blipFill>
        <p:spPr>
          <a:xfrm>
            <a:off x="51449" y="3354384"/>
            <a:ext cx="2983825" cy="1564840"/>
          </a:xfrm>
          <a:prstGeom prst="rect">
            <a:avLst/>
          </a:prstGeom>
          <a:noFill/>
          <a:ln>
            <a:noFill/>
          </a:ln>
        </p:spPr>
      </p:pic>
      <p:sp>
        <p:nvSpPr>
          <p:cNvPr id="496" name="Google Shape;496;p32"/>
          <p:cNvSpPr txBox="1"/>
          <p:nvPr/>
        </p:nvSpPr>
        <p:spPr>
          <a:xfrm>
            <a:off x="351474" y="675800"/>
            <a:ext cx="144900" cy="4158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497" name="Google Shape;497;p32"/>
          <p:cNvSpPr txBox="1"/>
          <p:nvPr/>
        </p:nvSpPr>
        <p:spPr>
          <a:xfrm>
            <a:off x="158658" y="2089337"/>
            <a:ext cx="1843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3600">
                <a:solidFill>
                  <a:srgbClr val="995914"/>
                </a:solidFill>
              </a:rPr>
              <a:t>Pn = n!</a:t>
            </a:r>
            <a:endParaRPr b="1" sz="3600">
              <a:solidFill>
                <a:srgbClr val="995914"/>
              </a:solidFill>
            </a:endParaRPr>
          </a:p>
        </p:txBody>
      </p:sp>
      <p:sp>
        <p:nvSpPr>
          <p:cNvPr id="498" name="Google Shape;498;p32"/>
          <p:cNvSpPr txBox="1"/>
          <p:nvPr/>
        </p:nvSpPr>
        <p:spPr>
          <a:xfrm>
            <a:off x="93766" y="0"/>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Importa el orden</a:t>
            </a:r>
            <a:endParaRPr b="1" sz="1800">
              <a:solidFill>
                <a:schemeClr val="dk2"/>
              </a:solidFill>
              <a:latin typeface="Poppins"/>
              <a:ea typeface="Poppins"/>
              <a:cs typeface="Poppins"/>
              <a:sym typeface="Poppins"/>
            </a:endParaRPr>
          </a:p>
        </p:txBody>
      </p:sp>
      <p:sp>
        <p:nvSpPr>
          <p:cNvPr id="499" name="Google Shape;499;p32"/>
          <p:cNvSpPr txBox="1"/>
          <p:nvPr/>
        </p:nvSpPr>
        <p:spPr>
          <a:xfrm>
            <a:off x="99835" y="3150579"/>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NO Importa el orden</a:t>
            </a:r>
            <a:endParaRPr b="1" sz="1800">
              <a:solidFill>
                <a:schemeClr val="dk2"/>
              </a:solidFill>
              <a:latin typeface="Poppins"/>
              <a:ea typeface="Poppins"/>
              <a:cs typeface="Poppins"/>
              <a:sym typeface="Poppins"/>
            </a:endParaRPr>
          </a:p>
        </p:txBody>
      </p:sp>
      <p:sp>
        <p:nvSpPr>
          <p:cNvPr id="500" name="Google Shape;500;p32"/>
          <p:cNvSpPr txBox="1"/>
          <p:nvPr/>
        </p:nvSpPr>
        <p:spPr>
          <a:xfrm>
            <a:off x="3909950" y="306525"/>
            <a:ext cx="4306200" cy="1277400"/>
          </a:xfrm>
          <a:prstGeom prst="rect">
            <a:avLst/>
          </a:prstGeom>
          <a:noFill/>
          <a:ln>
            <a:noFill/>
          </a:ln>
        </p:spPr>
        <p:txBody>
          <a:bodyPr anchorCtr="0" anchor="t" bIns="91425" lIns="91425" spcFirstLastPara="1" rIns="91425" wrap="square" tIns="91425">
            <a:spAutoFit/>
          </a:bodyPr>
          <a:lstStyle/>
          <a:p>
            <a:pPr indent="-374650" lvl="0" marL="457200" rtl="0" algn="l">
              <a:spcBef>
                <a:spcPts val="0"/>
              </a:spcBef>
              <a:spcAft>
                <a:spcPts val="0"/>
              </a:spcAft>
              <a:buClr>
                <a:schemeClr val="dk2"/>
              </a:buClr>
              <a:buSzPts val="2300"/>
              <a:buChar char="●"/>
            </a:pPr>
            <a:r>
              <a:rPr lang="es" sz="1600">
                <a:solidFill>
                  <a:schemeClr val="dk1"/>
                </a:solidFill>
              </a:rPr>
              <a:t>En una comisión parlamentaria hay 8 legisladores. ¿De cuántas formas se pueden formar </a:t>
            </a:r>
            <a:r>
              <a:rPr b="1" lang="es" sz="1600">
                <a:solidFill>
                  <a:schemeClr val="dk1"/>
                </a:solidFill>
              </a:rPr>
              <a:t>subcomisiones de 4</a:t>
            </a:r>
            <a:r>
              <a:rPr lang="es" sz="1600">
                <a:solidFill>
                  <a:schemeClr val="dk1"/>
                </a:solidFill>
              </a:rPr>
              <a:t> miembros</a:t>
            </a:r>
            <a:endParaRPr sz="2300">
              <a:solidFill>
                <a:schemeClr val="dk2"/>
              </a:solidFill>
            </a:endParaRPr>
          </a:p>
        </p:txBody>
      </p:sp>
      <p:cxnSp>
        <p:nvCxnSpPr>
          <p:cNvPr id="501" name="Google Shape;501;p32"/>
          <p:cNvCxnSpPr/>
          <p:nvPr/>
        </p:nvCxnSpPr>
        <p:spPr>
          <a:xfrm>
            <a:off x="3154875" y="7475"/>
            <a:ext cx="22500" cy="5173500"/>
          </a:xfrm>
          <a:prstGeom prst="straightConnector1">
            <a:avLst/>
          </a:prstGeom>
          <a:noFill/>
          <a:ln cap="flat" cmpd="sng" w="9525">
            <a:solidFill>
              <a:schemeClr val="dk2"/>
            </a:solidFill>
            <a:prstDash val="solid"/>
            <a:round/>
            <a:headEnd len="med" w="med" type="none"/>
            <a:tailEnd len="med" w="med" type="none"/>
          </a:ln>
        </p:spPr>
      </p:cxnSp>
      <p:grpSp>
        <p:nvGrpSpPr>
          <p:cNvPr id="502" name="Google Shape;502;p32"/>
          <p:cNvGrpSpPr/>
          <p:nvPr/>
        </p:nvGrpSpPr>
        <p:grpSpPr>
          <a:xfrm>
            <a:off x="158651" y="646780"/>
            <a:ext cx="2769314" cy="1088466"/>
            <a:chOff x="144925" y="1537900"/>
            <a:chExt cx="4146300" cy="1683108"/>
          </a:xfrm>
        </p:grpSpPr>
        <p:pic>
          <p:nvPicPr>
            <p:cNvPr id="503" name="Google Shape;503;p32"/>
            <p:cNvPicPr preferRelativeResize="0"/>
            <p:nvPr/>
          </p:nvPicPr>
          <p:blipFill>
            <a:blip r:embed="rId4">
              <a:alphaModFix/>
            </a:blip>
            <a:stretch>
              <a:fillRect/>
            </a:stretch>
          </p:blipFill>
          <p:spPr>
            <a:xfrm>
              <a:off x="144925" y="1977108"/>
              <a:ext cx="4146300" cy="1243900"/>
            </a:xfrm>
            <a:prstGeom prst="rect">
              <a:avLst/>
            </a:prstGeom>
            <a:noFill/>
            <a:ln>
              <a:noFill/>
            </a:ln>
          </p:spPr>
        </p:pic>
        <p:sp>
          <p:nvSpPr>
            <p:cNvPr id="504" name="Google Shape;504;p32"/>
            <p:cNvSpPr txBox="1"/>
            <p:nvPr/>
          </p:nvSpPr>
          <p:spPr>
            <a:xfrm>
              <a:off x="433625" y="1582775"/>
              <a:ext cx="216900" cy="642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505" name="Google Shape;505;p32"/>
            <p:cNvSpPr txBox="1"/>
            <p:nvPr/>
          </p:nvSpPr>
          <p:spPr>
            <a:xfrm>
              <a:off x="321575" y="1537900"/>
              <a:ext cx="4410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500">
                <a:solidFill>
                  <a:srgbClr val="995914"/>
                </a:solidFill>
              </a:endParaRPr>
            </a:p>
          </p:txBody>
        </p:sp>
      </p:grpSp>
      <p:sp>
        <p:nvSpPr>
          <p:cNvPr id="506" name="Google Shape;506;p32"/>
          <p:cNvSpPr txBox="1"/>
          <p:nvPr/>
        </p:nvSpPr>
        <p:spPr>
          <a:xfrm>
            <a:off x="99825" y="1027138"/>
            <a:ext cx="621600" cy="5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995914"/>
                </a:solidFill>
                <a:highlight>
                  <a:srgbClr val="EEEEEE"/>
                </a:highlight>
              </a:rPr>
              <a:t>n</a:t>
            </a:r>
            <a:r>
              <a:rPr b="1" lang="es" sz="2300">
                <a:solidFill>
                  <a:srgbClr val="995914"/>
                </a:solidFill>
                <a:highlight>
                  <a:srgbClr val="EEEEEE"/>
                </a:highlight>
              </a:rPr>
              <a:t>V</a:t>
            </a:r>
            <a:r>
              <a:rPr b="1" lang="es" sz="1800">
                <a:solidFill>
                  <a:srgbClr val="995914"/>
                </a:solidFill>
                <a:highlight>
                  <a:srgbClr val="EEEEEE"/>
                </a:highlight>
              </a:rPr>
              <a:t>r</a:t>
            </a:r>
            <a:endParaRPr b="1" sz="1800">
              <a:solidFill>
                <a:srgbClr val="995914"/>
              </a:solidFill>
              <a:highlight>
                <a:srgbClr val="EEEEEE"/>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10" name="Shape 510"/>
        <p:cNvGrpSpPr/>
        <p:nvPr/>
      </p:nvGrpSpPr>
      <p:grpSpPr>
        <a:xfrm>
          <a:off x="0" y="0"/>
          <a:ext cx="0" cy="0"/>
          <a:chOff x="0" y="0"/>
          <a:chExt cx="0" cy="0"/>
        </a:xfrm>
      </p:grpSpPr>
      <p:pic>
        <p:nvPicPr>
          <p:cNvPr id="511" name="Google Shape;511;p33"/>
          <p:cNvPicPr preferRelativeResize="0"/>
          <p:nvPr/>
        </p:nvPicPr>
        <p:blipFill>
          <a:blip r:embed="rId3">
            <a:alphaModFix/>
          </a:blip>
          <a:stretch>
            <a:fillRect/>
          </a:stretch>
        </p:blipFill>
        <p:spPr>
          <a:xfrm>
            <a:off x="51449" y="3354384"/>
            <a:ext cx="2983825" cy="1564840"/>
          </a:xfrm>
          <a:prstGeom prst="rect">
            <a:avLst/>
          </a:prstGeom>
          <a:noFill/>
          <a:ln>
            <a:noFill/>
          </a:ln>
        </p:spPr>
      </p:pic>
      <p:grpSp>
        <p:nvGrpSpPr>
          <p:cNvPr id="512" name="Google Shape;512;p33"/>
          <p:cNvGrpSpPr/>
          <p:nvPr/>
        </p:nvGrpSpPr>
        <p:grpSpPr>
          <a:xfrm>
            <a:off x="158651" y="646780"/>
            <a:ext cx="2769314" cy="1088466"/>
            <a:chOff x="144925" y="1537900"/>
            <a:chExt cx="4146300" cy="1683108"/>
          </a:xfrm>
        </p:grpSpPr>
        <p:pic>
          <p:nvPicPr>
            <p:cNvPr id="513" name="Google Shape;513;p33"/>
            <p:cNvPicPr preferRelativeResize="0"/>
            <p:nvPr/>
          </p:nvPicPr>
          <p:blipFill>
            <a:blip r:embed="rId4">
              <a:alphaModFix/>
            </a:blip>
            <a:stretch>
              <a:fillRect/>
            </a:stretch>
          </p:blipFill>
          <p:spPr>
            <a:xfrm>
              <a:off x="144925" y="1977108"/>
              <a:ext cx="4146300" cy="1243900"/>
            </a:xfrm>
            <a:prstGeom prst="rect">
              <a:avLst/>
            </a:prstGeom>
            <a:noFill/>
            <a:ln>
              <a:noFill/>
            </a:ln>
          </p:spPr>
        </p:pic>
        <p:sp>
          <p:nvSpPr>
            <p:cNvPr id="514" name="Google Shape;514;p33"/>
            <p:cNvSpPr txBox="1"/>
            <p:nvPr/>
          </p:nvSpPr>
          <p:spPr>
            <a:xfrm>
              <a:off x="433625" y="1582775"/>
              <a:ext cx="216900" cy="642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515" name="Google Shape;515;p33"/>
            <p:cNvSpPr txBox="1"/>
            <p:nvPr/>
          </p:nvSpPr>
          <p:spPr>
            <a:xfrm>
              <a:off x="321575" y="1537900"/>
              <a:ext cx="4410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500">
                <a:solidFill>
                  <a:srgbClr val="995914"/>
                </a:solidFill>
              </a:endParaRPr>
            </a:p>
          </p:txBody>
        </p:sp>
      </p:grpSp>
      <p:sp>
        <p:nvSpPr>
          <p:cNvPr id="516" name="Google Shape;516;p33"/>
          <p:cNvSpPr txBox="1"/>
          <p:nvPr/>
        </p:nvSpPr>
        <p:spPr>
          <a:xfrm>
            <a:off x="158658" y="2089337"/>
            <a:ext cx="1843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3600">
                <a:solidFill>
                  <a:srgbClr val="995914"/>
                </a:solidFill>
              </a:rPr>
              <a:t>Pn = n!</a:t>
            </a:r>
            <a:endParaRPr b="1" sz="3600">
              <a:solidFill>
                <a:srgbClr val="995914"/>
              </a:solidFill>
            </a:endParaRPr>
          </a:p>
        </p:txBody>
      </p:sp>
      <p:sp>
        <p:nvSpPr>
          <p:cNvPr id="517" name="Google Shape;517;p33"/>
          <p:cNvSpPr txBox="1"/>
          <p:nvPr/>
        </p:nvSpPr>
        <p:spPr>
          <a:xfrm>
            <a:off x="93766" y="0"/>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Importa el orden</a:t>
            </a:r>
            <a:endParaRPr b="1" sz="1800">
              <a:solidFill>
                <a:schemeClr val="dk2"/>
              </a:solidFill>
              <a:latin typeface="Poppins"/>
              <a:ea typeface="Poppins"/>
              <a:cs typeface="Poppins"/>
              <a:sym typeface="Poppins"/>
            </a:endParaRPr>
          </a:p>
        </p:txBody>
      </p:sp>
      <p:sp>
        <p:nvSpPr>
          <p:cNvPr id="518" name="Google Shape;518;p33"/>
          <p:cNvSpPr txBox="1"/>
          <p:nvPr/>
        </p:nvSpPr>
        <p:spPr>
          <a:xfrm>
            <a:off x="99835" y="3150579"/>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NO Importa el orden</a:t>
            </a:r>
            <a:endParaRPr b="1" sz="1800">
              <a:solidFill>
                <a:schemeClr val="dk2"/>
              </a:solidFill>
              <a:latin typeface="Poppins"/>
              <a:ea typeface="Poppins"/>
              <a:cs typeface="Poppins"/>
              <a:sym typeface="Poppins"/>
            </a:endParaRPr>
          </a:p>
        </p:txBody>
      </p:sp>
      <p:cxnSp>
        <p:nvCxnSpPr>
          <p:cNvPr id="519" name="Google Shape;519;p33"/>
          <p:cNvCxnSpPr/>
          <p:nvPr/>
        </p:nvCxnSpPr>
        <p:spPr>
          <a:xfrm>
            <a:off x="3154875" y="7475"/>
            <a:ext cx="22500" cy="5173500"/>
          </a:xfrm>
          <a:prstGeom prst="straightConnector1">
            <a:avLst/>
          </a:prstGeom>
          <a:noFill/>
          <a:ln cap="flat" cmpd="sng" w="9525">
            <a:solidFill>
              <a:schemeClr val="dk2"/>
            </a:solidFill>
            <a:prstDash val="solid"/>
            <a:round/>
            <a:headEnd len="med" w="med" type="none"/>
            <a:tailEnd len="med" w="med" type="none"/>
          </a:ln>
        </p:spPr>
      </p:cxnSp>
      <p:sp>
        <p:nvSpPr>
          <p:cNvPr id="520" name="Google Shape;520;p33"/>
          <p:cNvSpPr txBox="1"/>
          <p:nvPr/>
        </p:nvSpPr>
        <p:spPr>
          <a:xfrm>
            <a:off x="3513750" y="3072650"/>
            <a:ext cx="1405500" cy="9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dk2"/>
                </a:solidFill>
              </a:rPr>
              <a:t>8</a:t>
            </a:r>
            <a:r>
              <a:rPr lang="es" sz="4800">
                <a:solidFill>
                  <a:schemeClr val="dk2"/>
                </a:solidFill>
              </a:rPr>
              <a:t>C</a:t>
            </a:r>
            <a:r>
              <a:rPr lang="es" sz="3200">
                <a:solidFill>
                  <a:schemeClr val="dk2"/>
                </a:solidFill>
              </a:rPr>
              <a:t>4</a:t>
            </a:r>
            <a:endParaRPr sz="3200">
              <a:solidFill>
                <a:schemeClr val="dk2"/>
              </a:solidFill>
            </a:endParaRPr>
          </a:p>
        </p:txBody>
      </p:sp>
      <p:sp>
        <p:nvSpPr>
          <p:cNvPr id="521" name="Google Shape;521;p33"/>
          <p:cNvSpPr txBox="1"/>
          <p:nvPr/>
        </p:nvSpPr>
        <p:spPr>
          <a:xfrm>
            <a:off x="5138647" y="3222175"/>
            <a:ext cx="1618200" cy="7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522" name="Google Shape;522;p33"/>
          <p:cNvSpPr txBox="1"/>
          <p:nvPr/>
        </p:nvSpPr>
        <p:spPr>
          <a:xfrm>
            <a:off x="5218250" y="3536150"/>
            <a:ext cx="4263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a:t>
            </a:r>
            <a:endParaRPr sz="1800">
              <a:solidFill>
                <a:schemeClr val="dk2"/>
              </a:solidFill>
            </a:endParaRPr>
          </a:p>
        </p:txBody>
      </p:sp>
      <p:sp>
        <p:nvSpPr>
          <p:cNvPr id="523" name="Google Shape;523;p33"/>
          <p:cNvSpPr txBox="1"/>
          <p:nvPr/>
        </p:nvSpPr>
        <p:spPr>
          <a:xfrm>
            <a:off x="5691872" y="3244600"/>
            <a:ext cx="1405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8!</a:t>
            </a:r>
            <a:endParaRPr sz="1800">
              <a:solidFill>
                <a:schemeClr val="dk2"/>
              </a:solidFill>
            </a:endParaRPr>
          </a:p>
        </p:txBody>
      </p:sp>
      <p:cxnSp>
        <p:nvCxnSpPr>
          <p:cNvPr id="524" name="Google Shape;524;p33"/>
          <p:cNvCxnSpPr/>
          <p:nvPr/>
        </p:nvCxnSpPr>
        <p:spPr>
          <a:xfrm>
            <a:off x="5699347" y="3745475"/>
            <a:ext cx="867300" cy="7500"/>
          </a:xfrm>
          <a:prstGeom prst="straightConnector1">
            <a:avLst/>
          </a:prstGeom>
          <a:noFill/>
          <a:ln cap="flat" cmpd="sng" w="9525">
            <a:solidFill>
              <a:schemeClr val="dk2"/>
            </a:solidFill>
            <a:prstDash val="solid"/>
            <a:round/>
            <a:headEnd len="med" w="med" type="none"/>
            <a:tailEnd len="med" w="med" type="none"/>
          </a:ln>
        </p:spPr>
      </p:cxnSp>
      <p:sp>
        <p:nvSpPr>
          <p:cNvPr id="525" name="Google Shape;525;p33"/>
          <p:cNvSpPr txBox="1"/>
          <p:nvPr/>
        </p:nvSpPr>
        <p:spPr>
          <a:xfrm>
            <a:off x="5649897" y="3815650"/>
            <a:ext cx="144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4! . (8-4)!</a:t>
            </a:r>
            <a:endParaRPr/>
          </a:p>
        </p:txBody>
      </p:sp>
      <p:sp>
        <p:nvSpPr>
          <p:cNvPr id="526" name="Google Shape;526;p33"/>
          <p:cNvSpPr txBox="1"/>
          <p:nvPr/>
        </p:nvSpPr>
        <p:spPr>
          <a:xfrm>
            <a:off x="99825" y="1027138"/>
            <a:ext cx="621600" cy="5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995914"/>
                </a:solidFill>
                <a:highlight>
                  <a:srgbClr val="EEEEEE"/>
                </a:highlight>
              </a:rPr>
              <a:t>n</a:t>
            </a:r>
            <a:r>
              <a:rPr b="1" lang="es" sz="2300">
                <a:solidFill>
                  <a:srgbClr val="995914"/>
                </a:solidFill>
                <a:highlight>
                  <a:srgbClr val="EEEEEE"/>
                </a:highlight>
              </a:rPr>
              <a:t>V</a:t>
            </a:r>
            <a:r>
              <a:rPr b="1" lang="es" sz="1800">
                <a:solidFill>
                  <a:srgbClr val="995914"/>
                </a:solidFill>
                <a:highlight>
                  <a:srgbClr val="EEEEEE"/>
                </a:highlight>
              </a:rPr>
              <a:t>r</a:t>
            </a:r>
            <a:endParaRPr b="1" sz="1800">
              <a:solidFill>
                <a:srgbClr val="995914"/>
              </a:solidFill>
              <a:highlight>
                <a:srgbClr val="EEEEEE"/>
              </a:highlight>
            </a:endParaRPr>
          </a:p>
        </p:txBody>
      </p:sp>
      <p:sp>
        <p:nvSpPr>
          <p:cNvPr id="527" name="Google Shape;527;p33"/>
          <p:cNvSpPr txBox="1"/>
          <p:nvPr/>
        </p:nvSpPr>
        <p:spPr>
          <a:xfrm>
            <a:off x="3909950" y="306525"/>
            <a:ext cx="4306200" cy="1277400"/>
          </a:xfrm>
          <a:prstGeom prst="rect">
            <a:avLst/>
          </a:prstGeom>
          <a:noFill/>
          <a:ln>
            <a:noFill/>
          </a:ln>
        </p:spPr>
        <p:txBody>
          <a:bodyPr anchorCtr="0" anchor="t" bIns="91425" lIns="91425" spcFirstLastPara="1" rIns="91425" wrap="square" tIns="91425">
            <a:spAutoFit/>
          </a:bodyPr>
          <a:lstStyle/>
          <a:p>
            <a:pPr indent="-374650" lvl="0" marL="457200" rtl="0" algn="l">
              <a:spcBef>
                <a:spcPts val="0"/>
              </a:spcBef>
              <a:spcAft>
                <a:spcPts val="0"/>
              </a:spcAft>
              <a:buClr>
                <a:schemeClr val="dk2"/>
              </a:buClr>
              <a:buSzPts val="2300"/>
              <a:buChar char="●"/>
            </a:pPr>
            <a:r>
              <a:rPr lang="es" sz="1600">
                <a:solidFill>
                  <a:schemeClr val="dk1"/>
                </a:solidFill>
              </a:rPr>
              <a:t>En una comisión parlamentaria hay 8 legisladores. ¿De cuántas formas se pueden formar </a:t>
            </a:r>
            <a:r>
              <a:rPr b="1" lang="es" sz="1600">
                <a:solidFill>
                  <a:schemeClr val="dk1"/>
                </a:solidFill>
              </a:rPr>
              <a:t>subcomisiones de 4</a:t>
            </a:r>
            <a:r>
              <a:rPr lang="es" sz="1600">
                <a:solidFill>
                  <a:schemeClr val="dk1"/>
                </a:solidFill>
              </a:rPr>
              <a:t> miembros</a:t>
            </a:r>
            <a:endParaRPr sz="2300">
              <a:solidFill>
                <a:schemeClr val="dk2"/>
              </a:solidFill>
            </a:endParaRPr>
          </a:p>
        </p:txBody>
      </p:sp>
      <p:sp>
        <p:nvSpPr>
          <p:cNvPr id="528" name="Google Shape;528;p33"/>
          <p:cNvSpPr txBox="1"/>
          <p:nvPr/>
        </p:nvSpPr>
        <p:spPr>
          <a:xfrm>
            <a:off x="4455700" y="1936300"/>
            <a:ext cx="33120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2"/>
                </a:solidFill>
              </a:rPr>
              <a:t>n =    8          r = 4</a:t>
            </a:r>
            <a:endParaRPr sz="2100">
              <a:solidFill>
                <a:schemeClr val="dk2"/>
              </a:solidFill>
            </a:endParaRPr>
          </a:p>
        </p:txBody>
      </p:sp>
      <p:sp>
        <p:nvSpPr>
          <p:cNvPr id="529" name="Google Shape;529;p33"/>
          <p:cNvSpPr txBox="1"/>
          <p:nvPr/>
        </p:nvSpPr>
        <p:spPr>
          <a:xfrm>
            <a:off x="6873897" y="3221638"/>
            <a:ext cx="1618200" cy="7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530" name="Google Shape;530;p33"/>
          <p:cNvSpPr txBox="1"/>
          <p:nvPr/>
        </p:nvSpPr>
        <p:spPr>
          <a:xfrm>
            <a:off x="6642122" y="3535613"/>
            <a:ext cx="4263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a:t>
            </a:r>
            <a:endParaRPr sz="1800">
              <a:solidFill>
                <a:schemeClr val="dk2"/>
              </a:solidFill>
            </a:endParaRPr>
          </a:p>
        </p:txBody>
      </p:sp>
      <p:sp>
        <p:nvSpPr>
          <p:cNvPr id="531" name="Google Shape;531;p33"/>
          <p:cNvSpPr txBox="1"/>
          <p:nvPr/>
        </p:nvSpPr>
        <p:spPr>
          <a:xfrm>
            <a:off x="7427122" y="3244063"/>
            <a:ext cx="1405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8!</a:t>
            </a:r>
            <a:endParaRPr sz="1800">
              <a:solidFill>
                <a:schemeClr val="dk2"/>
              </a:solidFill>
            </a:endParaRPr>
          </a:p>
        </p:txBody>
      </p:sp>
      <p:cxnSp>
        <p:nvCxnSpPr>
          <p:cNvPr id="532" name="Google Shape;532;p33"/>
          <p:cNvCxnSpPr/>
          <p:nvPr/>
        </p:nvCxnSpPr>
        <p:spPr>
          <a:xfrm>
            <a:off x="7434597" y="3744938"/>
            <a:ext cx="867300" cy="7500"/>
          </a:xfrm>
          <a:prstGeom prst="straightConnector1">
            <a:avLst/>
          </a:prstGeom>
          <a:noFill/>
          <a:ln cap="flat" cmpd="sng" w="9525">
            <a:solidFill>
              <a:schemeClr val="dk2"/>
            </a:solidFill>
            <a:prstDash val="solid"/>
            <a:round/>
            <a:headEnd len="med" w="med" type="none"/>
            <a:tailEnd len="med" w="med" type="none"/>
          </a:ln>
        </p:spPr>
      </p:cxnSp>
      <p:sp>
        <p:nvSpPr>
          <p:cNvPr id="533" name="Google Shape;533;p33"/>
          <p:cNvSpPr txBox="1"/>
          <p:nvPr/>
        </p:nvSpPr>
        <p:spPr>
          <a:xfrm>
            <a:off x="7385147" y="3815113"/>
            <a:ext cx="867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4! . 4!</a:t>
            </a:r>
            <a:endParaRPr/>
          </a:p>
        </p:txBody>
      </p:sp>
      <p:sp>
        <p:nvSpPr>
          <p:cNvPr id="534" name="Google Shape;534;p33"/>
          <p:cNvSpPr txBox="1"/>
          <p:nvPr/>
        </p:nvSpPr>
        <p:spPr>
          <a:xfrm>
            <a:off x="7592700" y="7475"/>
            <a:ext cx="1551300" cy="4710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t>Combinación</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38" name="Shape 538"/>
        <p:cNvGrpSpPr/>
        <p:nvPr/>
      </p:nvGrpSpPr>
      <p:grpSpPr>
        <a:xfrm>
          <a:off x="0" y="0"/>
          <a:ext cx="0" cy="0"/>
          <a:chOff x="0" y="0"/>
          <a:chExt cx="0" cy="0"/>
        </a:xfrm>
      </p:grpSpPr>
      <p:pic>
        <p:nvPicPr>
          <p:cNvPr id="539" name="Google Shape;539;p34"/>
          <p:cNvPicPr preferRelativeResize="0"/>
          <p:nvPr/>
        </p:nvPicPr>
        <p:blipFill>
          <a:blip r:embed="rId3">
            <a:alphaModFix/>
          </a:blip>
          <a:stretch>
            <a:fillRect/>
          </a:stretch>
        </p:blipFill>
        <p:spPr>
          <a:xfrm>
            <a:off x="51449" y="3354384"/>
            <a:ext cx="2983825" cy="1564840"/>
          </a:xfrm>
          <a:prstGeom prst="rect">
            <a:avLst/>
          </a:prstGeom>
          <a:noFill/>
          <a:ln>
            <a:noFill/>
          </a:ln>
        </p:spPr>
      </p:pic>
      <p:sp>
        <p:nvSpPr>
          <p:cNvPr id="540" name="Google Shape;540;p34"/>
          <p:cNvSpPr txBox="1"/>
          <p:nvPr/>
        </p:nvSpPr>
        <p:spPr>
          <a:xfrm>
            <a:off x="158658" y="2089337"/>
            <a:ext cx="1843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3600">
                <a:solidFill>
                  <a:srgbClr val="995914"/>
                </a:solidFill>
              </a:rPr>
              <a:t>Pn = n!</a:t>
            </a:r>
            <a:endParaRPr b="1" sz="3600">
              <a:solidFill>
                <a:srgbClr val="995914"/>
              </a:solidFill>
            </a:endParaRPr>
          </a:p>
        </p:txBody>
      </p:sp>
      <p:sp>
        <p:nvSpPr>
          <p:cNvPr id="541" name="Google Shape;541;p34"/>
          <p:cNvSpPr txBox="1"/>
          <p:nvPr/>
        </p:nvSpPr>
        <p:spPr>
          <a:xfrm>
            <a:off x="93766" y="0"/>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Importa el orden</a:t>
            </a:r>
            <a:endParaRPr b="1" sz="1800">
              <a:solidFill>
                <a:schemeClr val="dk2"/>
              </a:solidFill>
              <a:latin typeface="Poppins"/>
              <a:ea typeface="Poppins"/>
              <a:cs typeface="Poppins"/>
              <a:sym typeface="Poppins"/>
            </a:endParaRPr>
          </a:p>
        </p:txBody>
      </p:sp>
      <p:sp>
        <p:nvSpPr>
          <p:cNvPr id="542" name="Google Shape;542;p34"/>
          <p:cNvSpPr txBox="1"/>
          <p:nvPr/>
        </p:nvSpPr>
        <p:spPr>
          <a:xfrm>
            <a:off x="99835" y="3150579"/>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NO Importa el orden</a:t>
            </a:r>
            <a:endParaRPr b="1" sz="1800">
              <a:solidFill>
                <a:schemeClr val="dk2"/>
              </a:solidFill>
              <a:latin typeface="Poppins"/>
              <a:ea typeface="Poppins"/>
              <a:cs typeface="Poppins"/>
              <a:sym typeface="Poppins"/>
            </a:endParaRPr>
          </a:p>
        </p:txBody>
      </p:sp>
      <p:cxnSp>
        <p:nvCxnSpPr>
          <p:cNvPr id="543" name="Google Shape;543;p34"/>
          <p:cNvCxnSpPr/>
          <p:nvPr/>
        </p:nvCxnSpPr>
        <p:spPr>
          <a:xfrm>
            <a:off x="3154875" y="699425"/>
            <a:ext cx="22500" cy="5173500"/>
          </a:xfrm>
          <a:prstGeom prst="straightConnector1">
            <a:avLst/>
          </a:prstGeom>
          <a:noFill/>
          <a:ln cap="flat" cmpd="sng" w="9525">
            <a:solidFill>
              <a:schemeClr val="dk2"/>
            </a:solidFill>
            <a:prstDash val="solid"/>
            <a:round/>
            <a:headEnd len="med" w="med" type="none"/>
            <a:tailEnd len="med" w="med" type="none"/>
          </a:ln>
        </p:spPr>
      </p:cxnSp>
      <p:grpSp>
        <p:nvGrpSpPr>
          <p:cNvPr id="544" name="Google Shape;544;p34"/>
          <p:cNvGrpSpPr/>
          <p:nvPr/>
        </p:nvGrpSpPr>
        <p:grpSpPr>
          <a:xfrm>
            <a:off x="158651" y="646780"/>
            <a:ext cx="2769314" cy="1088466"/>
            <a:chOff x="144925" y="1537900"/>
            <a:chExt cx="4146300" cy="1683108"/>
          </a:xfrm>
        </p:grpSpPr>
        <p:pic>
          <p:nvPicPr>
            <p:cNvPr id="545" name="Google Shape;545;p34"/>
            <p:cNvPicPr preferRelativeResize="0"/>
            <p:nvPr/>
          </p:nvPicPr>
          <p:blipFill>
            <a:blip r:embed="rId4">
              <a:alphaModFix/>
            </a:blip>
            <a:stretch>
              <a:fillRect/>
            </a:stretch>
          </p:blipFill>
          <p:spPr>
            <a:xfrm>
              <a:off x="144925" y="1977108"/>
              <a:ext cx="4146300" cy="1243900"/>
            </a:xfrm>
            <a:prstGeom prst="rect">
              <a:avLst/>
            </a:prstGeom>
            <a:noFill/>
            <a:ln>
              <a:noFill/>
            </a:ln>
          </p:spPr>
        </p:pic>
        <p:sp>
          <p:nvSpPr>
            <p:cNvPr id="546" name="Google Shape;546;p34"/>
            <p:cNvSpPr txBox="1"/>
            <p:nvPr/>
          </p:nvSpPr>
          <p:spPr>
            <a:xfrm>
              <a:off x="433625" y="1582775"/>
              <a:ext cx="216900" cy="642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547" name="Google Shape;547;p34"/>
            <p:cNvSpPr txBox="1"/>
            <p:nvPr/>
          </p:nvSpPr>
          <p:spPr>
            <a:xfrm>
              <a:off x="321575" y="1537900"/>
              <a:ext cx="4410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500">
                <a:solidFill>
                  <a:srgbClr val="995914"/>
                </a:solidFill>
              </a:endParaRPr>
            </a:p>
          </p:txBody>
        </p:sp>
      </p:grpSp>
      <p:sp>
        <p:nvSpPr>
          <p:cNvPr id="548" name="Google Shape;548;p34"/>
          <p:cNvSpPr txBox="1"/>
          <p:nvPr/>
        </p:nvSpPr>
        <p:spPr>
          <a:xfrm>
            <a:off x="99825" y="1027138"/>
            <a:ext cx="621600" cy="5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995914"/>
                </a:solidFill>
                <a:highlight>
                  <a:srgbClr val="EEEEEE"/>
                </a:highlight>
              </a:rPr>
              <a:t>n</a:t>
            </a:r>
            <a:r>
              <a:rPr b="1" lang="es" sz="2300">
                <a:solidFill>
                  <a:srgbClr val="995914"/>
                </a:solidFill>
                <a:highlight>
                  <a:srgbClr val="EEEEEE"/>
                </a:highlight>
              </a:rPr>
              <a:t>V</a:t>
            </a:r>
            <a:r>
              <a:rPr b="1" lang="es" sz="1800">
                <a:solidFill>
                  <a:srgbClr val="995914"/>
                </a:solidFill>
                <a:highlight>
                  <a:srgbClr val="EEEEEE"/>
                </a:highlight>
              </a:rPr>
              <a:t>r</a:t>
            </a:r>
            <a:endParaRPr b="1" sz="1800">
              <a:solidFill>
                <a:srgbClr val="995914"/>
              </a:solidFill>
              <a:highlight>
                <a:srgbClr val="EEEEEE"/>
              </a:highlight>
            </a:endParaRPr>
          </a:p>
        </p:txBody>
      </p:sp>
      <p:sp>
        <p:nvSpPr>
          <p:cNvPr id="549" name="Google Shape;549;p34"/>
          <p:cNvSpPr txBox="1"/>
          <p:nvPr/>
        </p:nvSpPr>
        <p:spPr>
          <a:xfrm>
            <a:off x="3513750" y="3072650"/>
            <a:ext cx="1405500" cy="9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dk2"/>
                </a:solidFill>
              </a:rPr>
              <a:t>8</a:t>
            </a:r>
            <a:r>
              <a:rPr lang="es" sz="4800">
                <a:solidFill>
                  <a:schemeClr val="dk2"/>
                </a:solidFill>
              </a:rPr>
              <a:t>C</a:t>
            </a:r>
            <a:r>
              <a:rPr lang="es" sz="3200">
                <a:solidFill>
                  <a:schemeClr val="dk2"/>
                </a:solidFill>
              </a:rPr>
              <a:t>4</a:t>
            </a:r>
            <a:endParaRPr sz="3200">
              <a:solidFill>
                <a:schemeClr val="dk2"/>
              </a:solidFill>
            </a:endParaRPr>
          </a:p>
        </p:txBody>
      </p:sp>
      <p:sp>
        <p:nvSpPr>
          <p:cNvPr id="550" name="Google Shape;550;p34"/>
          <p:cNvSpPr txBox="1"/>
          <p:nvPr/>
        </p:nvSpPr>
        <p:spPr>
          <a:xfrm>
            <a:off x="3909950" y="306525"/>
            <a:ext cx="4306200" cy="1277400"/>
          </a:xfrm>
          <a:prstGeom prst="rect">
            <a:avLst/>
          </a:prstGeom>
          <a:noFill/>
          <a:ln>
            <a:noFill/>
          </a:ln>
        </p:spPr>
        <p:txBody>
          <a:bodyPr anchorCtr="0" anchor="t" bIns="91425" lIns="91425" spcFirstLastPara="1" rIns="91425" wrap="square" tIns="91425">
            <a:spAutoFit/>
          </a:bodyPr>
          <a:lstStyle/>
          <a:p>
            <a:pPr indent="-374650" lvl="0" marL="457200" rtl="0" algn="l">
              <a:spcBef>
                <a:spcPts val="0"/>
              </a:spcBef>
              <a:spcAft>
                <a:spcPts val="0"/>
              </a:spcAft>
              <a:buClr>
                <a:schemeClr val="dk2"/>
              </a:buClr>
              <a:buSzPts val="2300"/>
              <a:buChar char="●"/>
            </a:pPr>
            <a:r>
              <a:rPr lang="es" sz="1600">
                <a:solidFill>
                  <a:schemeClr val="dk1"/>
                </a:solidFill>
              </a:rPr>
              <a:t>En una comisión parlamentaria hay 8 legisladores. ¿De cuántas formas se pueden formar </a:t>
            </a:r>
            <a:r>
              <a:rPr b="1" lang="es" sz="1600">
                <a:solidFill>
                  <a:schemeClr val="dk1"/>
                </a:solidFill>
              </a:rPr>
              <a:t>subcomisiones de 4</a:t>
            </a:r>
            <a:r>
              <a:rPr lang="es" sz="1600">
                <a:solidFill>
                  <a:schemeClr val="dk1"/>
                </a:solidFill>
              </a:rPr>
              <a:t> miembros</a:t>
            </a:r>
            <a:endParaRPr sz="2300">
              <a:solidFill>
                <a:schemeClr val="dk2"/>
              </a:solidFill>
            </a:endParaRPr>
          </a:p>
        </p:txBody>
      </p:sp>
      <p:sp>
        <p:nvSpPr>
          <p:cNvPr id="551" name="Google Shape;551;p34"/>
          <p:cNvSpPr txBox="1"/>
          <p:nvPr/>
        </p:nvSpPr>
        <p:spPr>
          <a:xfrm>
            <a:off x="4455700" y="1936300"/>
            <a:ext cx="33120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2"/>
                </a:solidFill>
              </a:rPr>
              <a:t>n =    8          r = 4</a:t>
            </a:r>
            <a:endParaRPr sz="2100">
              <a:solidFill>
                <a:schemeClr val="dk2"/>
              </a:solidFill>
            </a:endParaRPr>
          </a:p>
        </p:txBody>
      </p:sp>
      <p:cxnSp>
        <p:nvCxnSpPr>
          <p:cNvPr id="552" name="Google Shape;552;p34"/>
          <p:cNvCxnSpPr/>
          <p:nvPr/>
        </p:nvCxnSpPr>
        <p:spPr>
          <a:xfrm>
            <a:off x="5105027" y="3573513"/>
            <a:ext cx="867300" cy="7500"/>
          </a:xfrm>
          <a:prstGeom prst="straightConnector1">
            <a:avLst/>
          </a:prstGeom>
          <a:noFill/>
          <a:ln cap="flat" cmpd="sng" w="9525">
            <a:solidFill>
              <a:schemeClr val="dk2"/>
            </a:solidFill>
            <a:prstDash val="solid"/>
            <a:round/>
            <a:headEnd len="med" w="med" type="none"/>
            <a:tailEnd len="med" w="med" type="none"/>
          </a:ln>
        </p:spPr>
      </p:cxnSp>
      <p:sp>
        <p:nvSpPr>
          <p:cNvPr id="553" name="Google Shape;553;p34"/>
          <p:cNvSpPr txBox="1"/>
          <p:nvPr/>
        </p:nvSpPr>
        <p:spPr>
          <a:xfrm>
            <a:off x="4919250" y="3643700"/>
            <a:ext cx="1196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(4.3.2).4!</a:t>
            </a:r>
            <a:endParaRPr/>
          </a:p>
        </p:txBody>
      </p:sp>
      <p:sp>
        <p:nvSpPr>
          <p:cNvPr id="554" name="Google Shape;554;p34"/>
          <p:cNvSpPr txBox="1"/>
          <p:nvPr/>
        </p:nvSpPr>
        <p:spPr>
          <a:xfrm>
            <a:off x="4689925" y="3323325"/>
            <a:ext cx="542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2"/>
                </a:solidFill>
              </a:rPr>
              <a:t>=</a:t>
            </a:r>
            <a:endParaRPr/>
          </a:p>
        </p:txBody>
      </p:sp>
      <p:sp>
        <p:nvSpPr>
          <p:cNvPr id="555" name="Google Shape;555;p34"/>
          <p:cNvSpPr txBox="1"/>
          <p:nvPr/>
        </p:nvSpPr>
        <p:spPr>
          <a:xfrm>
            <a:off x="4814550" y="3098900"/>
            <a:ext cx="14700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8. 7. 6. 5. 4!</a:t>
            </a:r>
            <a:endParaRPr sz="1800">
              <a:solidFill>
                <a:schemeClr val="dk2"/>
              </a:solidFill>
            </a:endParaRPr>
          </a:p>
        </p:txBody>
      </p:sp>
      <p:sp>
        <p:nvSpPr>
          <p:cNvPr id="556" name="Google Shape;556;p34"/>
          <p:cNvSpPr txBox="1"/>
          <p:nvPr/>
        </p:nvSpPr>
        <p:spPr>
          <a:xfrm>
            <a:off x="6115650" y="3297200"/>
            <a:ext cx="542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2"/>
                </a:solidFill>
              </a:rPr>
              <a:t>=</a:t>
            </a:r>
            <a:endParaRPr/>
          </a:p>
        </p:txBody>
      </p:sp>
      <p:sp>
        <p:nvSpPr>
          <p:cNvPr id="557" name="Google Shape;557;p34"/>
          <p:cNvSpPr txBox="1"/>
          <p:nvPr/>
        </p:nvSpPr>
        <p:spPr>
          <a:xfrm>
            <a:off x="7592700" y="7475"/>
            <a:ext cx="1551300" cy="4710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t>Combinación</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61" name="Shape 561"/>
        <p:cNvGrpSpPr/>
        <p:nvPr/>
      </p:nvGrpSpPr>
      <p:grpSpPr>
        <a:xfrm>
          <a:off x="0" y="0"/>
          <a:ext cx="0" cy="0"/>
          <a:chOff x="0" y="0"/>
          <a:chExt cx="0" cy="0"/>
        </a:xfrm>
      </p:grpSpPr>
      <p:pic>
        <p:nvPicPr>
          <p:cNvPr id="562" name="Google Shape;562;p35"/>
          <p:cNvPicPr preferRelativeResize="0"/>
          <p:nvPr/>
        </p:nvPicPr>
        <p:blipFill>
          <a:blip r:embed="rId3">
            <a:alphaModFix/>
          </a:blip>
          <a:stretch>
            <a:fillRect/>
          </a:stretch>
        </p:blipFill>
        <p:spPr>
          <a:xfrm>
            <a:off x="51449" y="3354384"/>
            <a:ext cx="2983825" cy="1564840"/>
          </a:xfrm>
          <a:prstGeom prst="rect">
            <a:avLst/>
          </a:prstGeom>
          <a:noFill/>
          <a:ln>
            <a:noFill/>
          </a:ln>
        </p:spPr>
      </p:pic>
      <p:sp>
        <p:nvSpPr>
          <p:cNvPr id="563" name="Google Shape;563;p35"/>
          <p:cNvSpPr txBox="1"/>
          <p:nvPr/>
        </p:nvSpPr>
        <p:spPr>
          <a:xfrm>
            <a:off x="158658" y="2089337"/>
            <a:ext cx="1843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3600">
                <a:solidFill>
                  <a:srgbClr val="995914"/>
                </a:solidFill>
              </a:rPr>
              <a:t>Pn = n!</a:t>
            </a:r>
            <a:endParaRPr b="1" sz="3600">
              <a:solidFill>
                <a:srgbClr val="995914"/>
              </a:solidFill>
            </a:endParaRPr>
          </a:p>
        </p:txBody>
      </p:sp>
      <p:sp>
        <p:nvSpPr>
          <p:cNvPr id="564" name="Google Shape;564;p35"/>
          <p:cNvSpPr txBox="1"/>
          <p:nvPr/>
        </p:nvSpPr>
        <p:spPr>
          <a:xfrm>
            <a:off x="93766" y="0"/>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Importa el orden</a:t>
            </a:r>
            <a:endParaRPr b="1" sz="1800">
              <a:solidFill>
                <a:schemeClr val="dk2"/>
              </a:solidFill>
              <a:latin typeface="Poppins"/>
              <a:ea typeface="Poppins"/>
              <a:cs typeface="Poppins"/>
              <a:sym typeface="Poppins"/>
            </a:endParaRPr>
          </a:p>
        </p:txBody>
      </p:sp>
      <p:sp>
        <p:nvSpPr>
          <p:cNvPr id="565" name="Google Shape;565;p35"/>
          <p:cNvSpPr txBox="1"/>
          <p:nvPr/>
        </p:nvSpPr>
        <p:spPr>
          <a:xfrm>
            <a:off x="99835" y="3150579"/>
            <a:ext cx="2398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NO Importa el orden</a:t>
            </a:r>
            <a:endParaRPr b="1" sz="1800">
              <a:solidFill>
                <a:schemeClr val="dk2"/>
              </a:solidFill>
              <a:latin typeface="Poppins"/>
              <a:ea typeface="Poppins"/>
              <a:cs typeface="Poppins"/>
              <a:sym typeface="Poppins"/>
            </a:endParaRPr>
          </a:p>
        </p:txBody>
      </p:sp>
      <p:cxnSp>
        <p:nvCxnSpPr>
          <p:cNvPr id="566" name="Google Shape;566;p35"/>
          <p:cNvCxnSpPr/>
          <p:nvPr/>
        </p:nvCxnSpPr>
        <p:spPr>
          <a:xfrm>
            <a:off x="3154875" y="7475"/>
            <a:ext cx="22500" cy="5173500"/>
          </a:xfrm>
          <a:prstGeom prst="straightConnector1">
            <a:avLst/>
          </a:prstGeom>
          <a:noFill/>
          <a:ln cap="flat" cmpd="sng" w="9525">
            <a:solidFill>
              <a:schemeClr val="dk2"/>
            </a:solidFill>
            <a:prstDash val="solid"/>
            <a:round/>
            <a:headEnd len="med" w="med" type="none"/>
            <a:tailEnd len="med" w="med" type="none"/>
          </a:ln>
        </p:spPr>
      </p:cxnSp>
      <p:cxnSp>
        <p:nvCxnSpPr>
          <p:cNvPr id="567" name="Google Shape;567;p35"/>
          <p:cNvCxnSpPr/>
          <p:nvPr/>
        </p:nvCxnSpPr>
        <p:spPr>
          <a:xfrm flipH="1" rot="10800000">
            <a:off x="5418600" y="3752150"/>
            <a:ext cx="197700" cy="277500"/>
          </a:xfrm>
          <a:prstGeom prst="straightConnector1">
            <a:avLst/>
          </a:prstGeom>
          <a:noFill/>
          <a:ln cap="flat" cmpd="sng" w="28575">
            <a:solidFill>
              <a:schemeClr val="accent1"/>
            </a:solidFill>
            <a:prstDash val="solid"/>
            <a:round/>
            <a:headEnd len="med" w="med" type="none"/>
            <a:tailEnd len="med" w="med" type="none"/>
          </a:ln>
        </p:spPr>
      </p:cxnSp>
      <p:sp>
        <p:nvSpPr>
          <p:cNvPr id="568" name="Google Shape;568;p35"/>
          <p:cNvSpPr txBox="1"/>
          <p:nvPr/>
        </p:nvSpPr>
        <p:spPr>
          <a:xfrm>
            <a:off x="5008200" y="3914175"/>
            <a:ext cx="747600" cy="27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rgbClr val="FF0000"/>
                </a:solidFill>
              </a:rPr>
              <a:t>1  1</a:t>
            </a:r>
            <a:endParaRPr sz="1200">
              <a:solidFill>
                <a:srgbClr val="FF0000"/>
              </a:solidFill>
            </a:endParaRPr>
          </a:p>
        </p:txBody>
      </p:sp>
      <p:grpSp>
        <p:nvGrpSpPr>
          <p:cNvPr id="569" name="Google Shape;569;p35"/>
          <p:cNvGrpSpPr/>
          <p:nvPr/>
        </p:nvGrpSpPr>
        <p:grpSpPr>
          <a:xfrm>
            <a:off x="158651" y="646780"/>
            <a:ext cx="2769314" cy="1088466"/>
            <a:chOff x="144925" y="1537900"/>
            <a:chExt cx="4146300" cy="1683108"/>
          </a:xfrm>
        </p:grpSpPr>
        <p:pic>
          <p:nvPicPr>
            <p:cNvPr id="570" name="Google Shape;570;p35"/>
            <p:cNvPicPr preferRelativeResize="0"/>
            <p:nvPr/>
          </p:nvPicPr>
          <p:blipFill>
            <a:blip r:embed="rId4">
              <a:alphaModFix/>
            </a:blip>
            <a:stretch>
              <a:fillRect/>
            </a:stretch>
          </p:blipFill>
          <p:spPr>
            <a:xfrm>
              <a:off x="144925" y="1977108"/>
              <a:ext cx="4146300" cy="1243900"/>
            </a:xfrm>
            <a:prstGeom prst="rect">
              <a:avLst/>
            </a:prstGeom>
            <a:noFill/>
            <a:ln>
              <a:noFill/>
            </a:ln>
          </p:spPr>
        </p:pic>
        <p:sp>
          <p:nvSpPr>
            <p:cNvPr id="571" name="Google Shape;571;p35"/>
            <p:cNvSpPr txBox="1"/>
            <p:nvPr/>
          </p:nvSpPr>
          <p:spPr>
            <a:xfrm>
              <a:off x="433625" y="1582775"/>
              <a:ext cx="216900" cy="642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7F6000"/>
                </a:solidFill>
              </a:endParaRPr>
            </a:p>
          </p:txBody>
        </p:sp>
        <p:sp>
          <p:nvSpPr>
            <p:cNvPr id="572" name="Google Shape;572;p35"/>
            <p:cNvSpPr txBox="1"/>
            <p:nvPr/>
          </p:nvSpPr>
          <p:spPr>
            <a:xfrm>
              <a:off x="321575" y="1537900"/>
              <a:ext cx="4410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500">
                <a:solidFill>
                  <a:srgbClr val="995914"/>
                </a:solidFill>
              </a:endParaRPr>
            </a:p>
          </p:txBody>
        </p:sp>
      </p:grpSp>
      <p:sp>
        <p:nvSpPr>
          <p:cNvPr id="573" name="Google Shape;573;p35"/>
          <p:cNvSpPr txBox="1"/>
          <p:nvPr/>
        </p:nvSpPr>
        <p:spPr>
          <a:xfrm>
            <a:off x="99825" y="1027138"/>
            <a:ext cx="621600" cy="5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995914"/>
                </a:solidFill>
                <a:highlight>
                  <a:srgbClr val="EEEEEE"/>
                </a:highlight>
              </a:rPr>
              <a:t>n</a:t>
            </a:r>
            <a:r>
              <a:rPr b="1" lang="es" sz="2300">
                <a:solidFill>
                  <a:srgbClr val="995914"/>
                </a:solidFill>
                <a:highlight>
                  <a:srgbClr val="EEEEEE"/>
                </a:highlight>
              </a:rPr>
              <a:t>V</a:t>
            </a:r>
            <a:r>
              <a:rPr b="1" lang="es" sz="1800">
                <a:solidFill>
                  <a:srgbClr val="995914"/>
                </a:solidFill>
                <a:highlight>
                  <a:srgbClr val="EEEEEE"/>
                </a:highlight>
              </a:rPr>
              <a:t>r</a:t>
            </a:r>
            <a:endParaRPr b="1" sz="1800">
              <a:solidFill>
                <a:srgbClr val="995914"/>
              </a:solidFill>
              <a:highlight>
                <a:srgbClr val="EEEEEE"/>
              </a:highlight>
            </a:endParaRPr>
          </a:p>
        </p:txBody>
      </p:sp>
      <p:sp>
        <p:nvSpPr>
          <p:cNvPr id="574" name="Google Shape;574;p35"/>
          <p:cNvSpPr txBox="1"/>
          <p:nvPr/>
        </p:nvSpPr>
        <p:spPr>
          <a:xfrm>
            <a:off x="3909950" y="306525"/>
            <a:ext cx="4306200" cy="1277400"/>
          </a:xfrm>
          <a:prstGeom prst="rect">
            <a:avLst/>
          </a:prstGeom>
          <a:noFill/>
          <a:ln>
            <a:noFill/>
          </a:ln>
        </p:spPr>
        <p:txBody>
          <a:bodyPr anchorCtr="0" anchor="t" bIns="91425" lIns="91425" spcFirstLastPara="1" rIns="91425" wrap="square" tIns="91425">
            <a:spAutoFit/>
          </a:bodyPr>
          <a:lstStyle/>
          <a:p>
            <a:pPr indent="-374650" lvl="0" marL="457200" rtl="0" algn="l">
              <a:spcBef>
                <a:spcPts val="0"/>
              </a:spcBef>
              <a:spcAft>
                <a:spcPts val="0"/>
              </a:spcAft>
              <a:buClr>
                <a:schemeClr val="dk2"/>
              </a:buClr>
              <a:buSzPts val="2300"/>
              <a:buChar char="●"/>
            </a:pPr>
            <a:r>
              <a:rPr lang="es" sz="1600">
                <a:solidFill>
                  <a:schemeClr val="dk1"/>
                </a:solidFill>
              </a:rPr>
              <a:t>En una comisión parlamentaria hay 8 legisladores. ¿De cuántas formas se pueden formar </a:t>
            </a:r>
            <a:r>
              <a:rPr b="1" lang="es" sz="1600">
                <a:solidFill>
                  <a:schemeClr val="dk1"/>
                </a:solidFill>
              </a:rPr>
              <a:t>subcomisiones de 4</a:t>
            </a:r>
            <a:r>
              <a:rPr lang="es" sz="1600">
                <a:solidFill>
                  <a:schemeClr val="dk1"/>
                </a:solidFill>
              </a:rPr>
              <a:t> miembros</a:t>
            </a:r>
            <a:endParaRPr sz="2300">
              <a:solidFill>
                <a:schemeClr val="dk2"/>
              </a:solidFill>
            </a:endParaRPr>
          </a:p>
        </p:txBody>
      </p:sp>
      <p:sp>
        <p:nvSpPr>
          <p:cNvPr id="575" name="Google Shape;575;p35"/>
          <p:cNvSpPr txBox="1"/>
          <p:nvPr/>
        </p:nvSpPr>
        <p:spPr>
          <a:xfrm>
            <a:off x="4455700" y="1936300"/>
            <a:ext cx="33120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2"/>
                </a:solidFill>
              </a:rPr>
              <a:t>n =    8          r = 4</a:t>
            </a:r>
            <a:endParaRPr sz="2100">
              <a:solidFill>
                <a:schemeClr val="dk2"/>
              </a:solidFill>
            </a:endParaRPr>
          </a:p>
        </p:txBody>
      </p:sp>
      <p:sp>
        <p:nvSpPr>
          <p:cNvPr id="576" name="Google Shape;576;p35"/>
          <p:cNvSpPr txBox="1"/>
          <p:nvPr/>
        </p:nvSpPr>
        <p:spPr>
          <a:xfrm>
            <a:off x="3513750" y="3072650"/>
            <a:ext cx="1405500" cy="9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dk2"/>
                </a:solidFill>
              </a:rPr>
              <a:t>8</a:t>
            </a:r>
            <a:r>
              <a:rPr lang="es" sz="4800">
                <a:solidFill>
                  <a:schemeClr val="dk2"/>
                </a:solidFill>
              </a:rPr>
              <a:t>C</a:t>
            </a:r>
            <a:r>
              <a:rPr lang="es" sz="3200">
                <a:solidFill>
                  <a:schemeClr val="dk2"/>
                </a:solidFill>
              </a:rPr>
              <a:t>4</a:t>
            </a:r>
            <a:endParaRPr sz="3200">
              <a:solidFill>
                <a:schemeClr val="dk2"/>
              </a:solidFill>
            </a:endParaRPr>
          </a:p>
        </p:txBody>
      </p:sp>
      <p:cxnSp>
        <p:nvCxnSpPr>
          <p:cNvPr id="577" name="Google Shape;577;p35"/>
          <p:cNvCxnSpPr/>
          <p:nvPr/>
        </p:nvCxnSpPr>
        <p:spPr>
          <a:xfrm>
            <a:off x="5105027" y="3573513"/>
            <a:ext cx="867300" cy="7500"/>
          </a:xfrm>
          <a:prstGeom prst="straightConnector1">
            <a:avLst/>
          </a:prstGeom>
          <a:noFill/>
          <a:ln cap="flat" cmpd="sng" w="9525">
            <a:solidFill>
              <a:schemeClr val="dk2"/>
            </a:solidFill>
            <a:prstDash val="solid"/>
            <a:round/>
            <a:headEnd len="med" w="med" type="none"/>
            <a:tailEnd len="med" w="med" type="none"/>
          </a:ln>
        </p:spPr>
      </p:cxnSp>
      <p:sp>
        <p:nvSpPr>
          <p:cNvPr id="578" name="Google Shape;578;p35"/>
          <p:cNvSpPr txBox="1"/>
          <p:nvPr/>
        </p:nvSpPr>
        <p:spPr>
          <a:xfrm>
            <a:off x="4919250" y="3643700"/>
            <a:ext cx="1196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(4.3.2).4!</a:t>
            </a:r>
            <a:endParaRPr/>
          </a:p>
        </p:txBody>
      </p:sp>
      <p:sp>
        <p:nvSpPr>
          <p:cNvPr id="579" name="Google Shape;579;p35"/>
          <p:cNvSpPr txBox="1"/>
          <p:nvPr/>
        </p:nvSpPr>
        <p:spPr>
          <a:xfrm>
            <a:off x="4689925" y="3323325"/>
            <a:ext cx="542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2"/>
                </a:solidFill>
              </a:rPr>
              <a:t>=</a:t>
            </a:r>
            <a:endParaRPr/>
          </a:p>
        </p:txBody>
      </p:sp>
      <p:sp>
        <p:nvSpPr>
          <p:cNvPr id="580" name="Google Shape;580;p35"/>
          <p:cNvSpPr txBox="1"/>
          <p:nvPr/>
        </p:nvSpPr>
        <p:spPr>
          <a:xfrm>
            <a:off x="4814550" y="3098900"/>
            <a:ext cx="14700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8. 7. 6. 5. 4!</a:t>
            </a:r>
            <a:endParaRPr sz="1800">
              <a:solidFill>
                <a:schemeClr val="dk2"/>
              </a:solidFill>
            </a:endParaRPr>
          </a:p>
        </p:txBody>
      </p:sp>
      <p:sp>
        <p:nvSpPr>
          <p:cNvPr id="581" name="Google Shape;581;p35"/>
          <p:cNvSpPr txBox="1"/>
          <p:nvPr/>
        </p:nvSpPr>
        <p:spPr>
          <a:xfrm>
            <a:off x="6115650" y="3297200"/>
            <a:ext cx="542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2"/>
                </a:solidFill>
              </a:rPr>
              <a:t>=</a:t>
            </a:r>
            <a:endParaRPr/>
          </a:p>
        </p:txBody>
      </p:sp>
      <p:cxnSp>
        <p:nvCxnSpPr>
          <p:cNvPr id="582" name="Google Shape;582;p35"/>
          <p:cNvCxnSpPr/>
          <p:nvPr/>
        </p:nvCxnSpPr>
        <p:spPr>
          <a:xfrm flipH="1" rot="10800000">
            <a:off x="5917950" y="3160250"/>
            <a:ext cx="197700" cy="277500"/>
          </a:xfrm>
          <a:prstGeom prst="straightConnector1">
            <a:avLst/>
          </a:prstGeom>
          <a:noFill/>
          <a:ln cap="flat" cmpd="sng" w="28575">
            <a:solidFill>
              <a:srgbClr val="FF0000"/>
            </a:solidFill>
            <a:prstDash val="solid"/>
            <a:round/>
            <a:headEnd len="med" w="med" type="none"/>
            <a:tailEnd len="med" w="med" type="none"/>
          </a:ln>
        </p:spPr>
      </p:cxnSp>
      <p:cxnSp>
        <p:nvCxnSpPr>
          <p:cNvPr id="583" name="Google Shape;583;p35"/>
          <p:cNvCxnSpPr/>
          <p:nvPr/>
        </p:nvCxnSpPr>
        <p:spPr>
          <a:xfrm flipH="1" rot="10800000">
            <a:off x="5720250" y="3735800"/>
            <a:ext cx="197700" cy="277500"/>
          </a:xfrm>
          <a:prstGeom prst="straightConnector1">
            <a:avLst/>
          </a:prstGeom>
          <a:noFill/>
          <a:ln cap="flat" cmpd="sng" w="28575">
            <a:solidFill>
              <a:srgbClr val="FF0000"/>
            </a:solidFill>
            <a:prstDash val="solid"/>
            <a:round/>
            <a:headEnd len="med" w="med" type="none"/>
            <a:tailEnd len="med" w="med" type="none"/>
          </a:ln>
        </p:spPr>
      </p:cxnSp>
      <p:cxnSp>
        <p:nvCxnSpPr>
          <p:cNvPr id="584" name="Google Shape;584;p35"/>
          <p:cNvCxnSpPr/>
          <p:nvPr/>
        </p:nvCxnSpPr>
        <p:spPr>
          <a:xfrm flipH="1" rot="10800000">
            <a:off x="5061800" y="3735800"/>
            <a:ext cx="197700" cy="277500"/>
          </a:xfrm>
          <a:prstGeom prst="straightConnector1">
            <a:avLst/>
          </a:prstGeom>
          <a:noFill/>
          <a:ln cap="flat" cmpd="sng" w="28575">
            <a:solidFill>
              <a:srgbClr val="FF0000"/>
            </a:solidFill>
            <a:prstDash val="solid"/>
            <a:round/>
            <a:headEnd len="med" w="med" type="none"/>
            <a:tailEnd len="med" w="med" type="none"/>
          </a:ln>
        </p:spPr>
      </p:cxnSp>
      <p:cxnSp>
        <p:nvCxnSpPr>
          <p:cNvPr id="585" name="Google Shape;585;p35"/>
          <p:cNvCxnSpPr/>
          <p:nvPr/>
        </p:nvCxnSpPr>
        <p:spPr>
          <a:xfrm flipH="1" rot="10800000">
            <a:off x="4862125" y="3160250"/>
            <a:ext cx="197700" cy="277500"/>
          </a:xfrm>
          <a:prstGeom prst="straightConnector1">
            <a:avLst/>
          </a:prstGeom>
          <a:noFill/>
          <a:ln cap="flat" cmpd="sng" w="28575">
            <a:solidFill>
              <a:srgbClr val="FF0000"/>
            </a:solidFill>
            <a:prstDash val="solid"/>
            <a:round/>
            <a:headEnd len="med" w="med" type="none"/>
            <a:tailEnd len="med" w="med" type="none"/>
          </a:ln>
        </p:spPr>
      </p:cxnSp>
      <p:sp>
        <p:nvSpPr>
          <p:cNvPr id="586" name="Google Shape;586;p35"/>
          <p:cNvSpPr txBox="1"/>
          <p:nvPr/>
        </p:nvSpPr>
        <p:spPr>
          <a:xfrm>
            <a:off x="4862125" y="2866524"/>
            <a:ext cx="306600" cy="27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rgbClr val="FF0000"/>
                </a:solidFill>
              </a:rPr>
              <a:t>2</a:t>
            </a:r>
            <a:endParaRPr sz="1200">
              <a:solidFill>
                <a:srgbClr val="FF0000"/>
              </a:solidFill>
            </a:endParaRPr>
          </a:p>
        </p:txBody>
      </p:sp>
      <p:cxnSp>
        <p:nvCxnSpPr>
          <p:cNvPr id="587" name="Google Shape;587;p35"/>
          <p:cNvCxnSpPr/>
          <p:nvPr/>
        </p:nvCxnSpPr>
        <p:spPr>
          <a:xfrm flipH="1" rot="10800000">
            <a:off x="5255625" y="3752150"/>
            <a:ext cx="197700" cy="277500"/>
          </a:xfrm>
          <a:prstGeom prst="straightConnector1">
            <a:avLst/>
          </a:prstGeom>
          <a:noFill/>
          <a:ln cap="flat" cmpd="sng" w="28575">
            <a:solidFill>
              <a:srgbClr val="FF0000"/>
            </a:solidFill>
            <a:prstDash val="solid"/>
            <a:round/>
            <a:headEnd len="med" w="med" type="none"/>
            <a:tailEnd len="med" w="med" type="none"/>
          </a:ln>
        </p:spPr>
      </p:cxnSp>
      <p:cxnSp>
        <p:nvCxnSpPr>
          <p:cNvPr id="588" name="Google Shape;588;p35"/>
          <p:cNvCxnSpPr/>
          <p:nvPr/>
        </p:nvCxnSpPr>
        <p:spPr>
          <a:xfrm flipH="1" rot="10800000">
            <a:off x="5390038" y="3210275"/>
            <a:ext cx="197700" cy="277500"/>
          </a:xfrm>
          <a:prstGeom prst="straightConnector1">
            <a:avLst/>
          </a:prstGeom>
          <a:noFill/>
          <a:ln cap="flat" cmpd="sng" w="28575">
            <a:solidFill>
              <a:srgbClr val="FF0000"/>
            </a:solidFill>
            <a:prstDash val="solid"/>
            <a:round/>
            <a:headEnd len="med" w="med" type="none"/>
            <a:tailEnd len="med" w="med" type="none"/>
          </a:ln>
        </p:spPr>
      </p:cxnSp>
      <p:sp>
        <p:nvSpPr>
          <p:cNvPr id="589" name="Google Shape;589;p35"/>
          <p:cNvSpPr txBox="1"/>
          <p:nvPr/>
        </p:nvSpPr>
        <p:spPr>
          <a:xfrm>
            <a:off x="5335588" y="2901599"/>
            <a:ext cx="306600" cy="27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rgbClr val="FF0000"/>
                </a:solidFill>
              </a:rPr>
              <a:t>2</a:t>
            </a:r>
            <a:endParaRPr sz="1200">
              <a:solidFill>
                <a:srgbClr val="FF0000"/>
              </a:solidFill>
            </a:endParaRPr>
          </a:p>
        </p:txBody>
      </p:sp>
      <p:cxnSp>
        <p:nvCxnSpPr>
          <p:cNvPr id="590" name="Google Shape;590;p35"/>
          <p:cNvCxnSpPr/>
          <p:nvPr/>
        </p:nvCxnSpPr>
        <p:spPr>
          <a:xfrm flipH="1" rot="10800000">
            <a:off x="4916575" y="2901150"/>
            <a:ext cx="197700" cy="277500"/>
          </a:xfrm>
          <a:prstGeom prst="straightConnector1">
            <a:avLst/>
          </a:prstGeom>
          <a:noFill/>
          <a:ln cap="flat" cmpd="sng" w="28575">
            <a:solidFill>
              <a:schemeClr val="accent1"/>
            </a:solidFill>
            <a:prstDash val="solid"/>
            <a:round/>
            <a:headEnd len="med" w="med" type="none"/>
            <a:tailEnd len="med" w="med" type="none"/>
          </a:ln>
        </p:spPr>
      </p:cxnSp>
      <p:sp>
        <p:nvSpPr>
          <p:cNvPr id="591" name="Google Shape;591;p35"/>
          <p:cNvSpPr txBox="1"/>
          <p:nvPr/>
        </p:nvSpPr>
        <p:spPr>
          <a:xfrm>
            <a:off x="4862113" y="2659874"/>
            <a:ext cx="306600" cy="27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rgbClr val="FF0000"/>
                </a:solidFill>
              </a:rPr>
              <a:t>1</a:t>
            </a:r>
            <a:endParaRPr sz="1200">
              <a:solidFill>
                <a:srgbClr val="FF0000"/>
              </a:solidFill>
            </a:endParaRPr>
          </a:p>
        </p:txBody>
      </p:sp>
      <p:sp>
        <p:nvSpPr>
          <p:cNvPr id="592" name="Google Shape;592;p35"/>
          <p:cNvSpPr txBox="1"/>
          <p:nvPr/>
        </p:nvSpPr>
        <p:spPr>
          <a:xfrm>
            <a:off x="6471197" y="3072100"/>
            <a:ext cx="1405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7. 2. 5</a:t>
            </a:r>
            <a:endParaRPr sz="1800">
              <a:solidFill>
                <a:schemeClr val="dk2"/>
              </a:solidFill>
            </a:endParaRPr>
          </a:p>
        </p:txBody>
      </p:sp>
      <p:cxnSp>
        <p:nvCxnSpPr>
          <p:cNvPr id="593" name="Google Shape;593;p35"/>
          <p:cNvCxnSpPr/>
          <p:nvPr/>
        </p:nvCxnSpPr>
        <p:spPr>
          <a:xfrm>
            <a:off x="6478672" y="3572975"/>
            <a:ext cx="867300" cy="7500"/>
          </a:xfrm>
          <a:prstGeom prst="straightConnector1">
            <a:avLst/>
          </a:prstGeom>
          <a:noFill/>
          <a:ln cap="flat" cmpd="sng" w="9525">
            <a:solidFill>
              <a:schemeClr val="dk2"/>
            </a:solidFill>
            <a:prstDash val="solid"/>
            <a:round/>
            <a:headEnd len="med" w="med" type="none"/>
            <a:tailEnd len="med" w="med" type="none"/>
          </a:ln>
        </p:spPr>
      </p:cxnSp>
      <p:sp>
        <p:nvSpPr>
          <p:cNvPr id="594" name="Google Shape;594;p35"/>
          <p:cNvSpPr txBox="1"/>
          <p:nvPr/>
        </p:nvSpPr>
        <p:spPr>
          <a:xfrm>
            <a:off x="5364150" y="3914175"/>
            <a:ext cx="306600" cy="3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rgbClr val="FF0000"/>
                </a:solidFill>
              </a:rPr>
              <a:t>1</a:t>
            </a:r>
            <a:endParaRPr sz="1200">
              <a:solidFill>
                <a:srgbClr val="FF0000"/>
              </a:solidFill>
            </a:endParaRPr>
          </a:p>
        </p:txBody>
      </p:sp>
      <p:sp>
        <p:nvSpPr>
          <p:cNvPr id="595" name="Google Shape;595;p35"/>
          <p:cNvSpPr txBox="1"/>
          <p:nvPr/>
        </p:nvSpPr>
        <p:spPr>
          <a:xfrm>
            <a:off x="7536200" y="3244250"/>
            <a:ext cx="300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2"/>
                </a:solidFill>
              </a:rPr>
              <a:t>=</a:t>
            </a:r>
            <a:endParaRPr/>
          </a:p>
        </p:txBody>
      </p:sp>
      <p:sp>
        <p:nvSpPr>
          <p:cNvPr id="596" name="Google Shape;596;p35"/>
          <p:cNvSpPr txBox="1"/>
          <p:nvPr/>
        </p:nvSpPr>
        <p:spPr>
          <a:xfrm>
            <a:off x="6670224" y="3643700"/>
            <a:ext cx="48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1</a:t>
            </a:r>
            <a:endParaRPr/>
          </a:p>
        </p:txBody>
      </p:sp>
      <p:sp>
        <p:nvSpPr>
          <p:cNvPr id="597" name="Google Shape;597;p35"/>
          <p:cNvSpPr txBox="1"/>
          <p:nvPr/>
        </p:nvSpPr>
        <p:spPr>
          <a:xfrm>
            <a:off x="7906700" y="3301250"/>
            <a:ext cx="484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100">
                <a:solidFill>
                  <a:schemeClr val="dk2"/>
                </a:solidFill>
              </a:rPr>
              <a:t>70</a:t>
            </a:r>
            <a:endParaRPr b="1" sz="2100">
              <a:solidFill>
                <a:schemeClr val="dk2"/>
              </a:solidFill>
            </a:endParaRPr>
          </a:p>
        </p:txBody>
      </p:sp>
      <p:sp>
        <p:nvSpPr>
          <p:cNvPr id="598" name="Google Shape;598;p35"/>
          <p:cNvSpPr txBox="1"/>
          <p:nvPr/>
        </p:nvSpPr>
        <p:spPr>
          <a:xfrm>
            <a:off x="7592700" y="7475"/>
            <a:ext cx="1551300" cy="4710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t>Combinación</a:t>
            </a: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02" name="Shape 602"/>
        <p:cNvGrpSpPr/>
        <p:nvPr/>
      </p:nvGrpSpPr>
      <p:grpSpPr>
        <a:xfrm>
          <a:off x="0" y="0"/>
          <a:ext cx="0" cy="0"/>
          <a:chOff x="0" y="0"/>
          <a:chExt cx="0" cy="0"/>
        </a:xfrm>
      </p:grpSpPr>
      <p:sp>
        <p:nvSpPr>
          <p:cNvPr id="603" name="Google Shape;603;p36"/>
          <p:cNvSpPr txBox="1"/>
          <p:nvPr/>
        </p:nvSpPr>
        <p:spPr>
          <a:xfrm>
            <a:off x="414475" y="416789"/>
            <a:ext cx="8380200" cy="9234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Char char="●"/>
            </a:pPr>
            <a:r>
              <a:rPr b="1" lang="es" sz="1600">
                <a:solidFill>
                  <a:schemeClr val="dk1"/>
                </a:solidFill>
              </a:rPr>
              <a:t>En un fuero federal hay 12 juzgados. Se registran 10 causas nuevas. </a:t>
            </a:r>
            <a:r>
              <a:rPr lang="es" sz="1600">
                <a:solidFill>
                  <a:schemeClr val="dk1"/>
                </a:solidFill>
              </a:rPr>
              <a:t>Queremos contar </a:t>
            </a:r>
            <a:r>
              <a:rPr b="1" lang="es" sz="1600">
                <a:solidFill>
                  <a:schemeClr val="dk1"/>
                </a:solidFill>
              </a:rPr>
              <a:t>de cuántas formas distintas</a:t>
            </a:r>
            <a:r>
              <a:rPr lang="es" sz="1600">
                <a:solidFill>
                  <a:schemeClr val="dk1"/>
                </a:solidFill>
              </a:rPr>
              <a:t> pueden </a:t>
            </a:r>
            <a:r>
              <a:rPr b="1" lang="es" sz="1600">
                <a:solidFill>
                  <a:schemeClr val="dk1"/>
                </a:solidFill>
              </a:rPr>
              <a:t>asignarse</a:t>
            </a:r>
            <a:r>
              <a:rPr lang="es" sz="1600">
                <a:solidFill>
                  <a:schemeClr val="dk1"/>
                </a:solidFill>
              </a:rPr>
              <a:t> las 12 juzgados a las 10 causas por azar. </a:t>
            </a:r>
            <a:endParaRPr sz="1600">
              <a:solidFill>
                <a:schemeClr val="dk2"/>
              </a:solidFill>
            </a:endParaRPr>
          </a:p>
        </p:txBody>
      </p:sp>
      <p:sp>
        <p:nvSpPr>
          <p:cNvPr id="604" name="Google Shape;604;p36"/>
          <p:cNvSpPr txBox="1"/>
          <p:nvPr/>
        </p:nvSpPr>
        <p:spPr>
          <a:xfrm>
            <a:off x="813764" y="19900"/>
            <a:ext cx="6307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¿Que tiene de distinto este problema?</a:t>
            </a:r>
            <a:endParaRPr b="1" sz="1800">
              <a:solidFill>
                <a:srgbClr val="8E7CC3"/>
              </a:solidFill>
              <a:latin typeface="Poppins"/>
              <a:ea typeface="Poppins"/>
              <a:cs typeface="Poppins"/>
              <a:sym typeface="Poppins"/>
            </a:endParaRPr>
          </a:p>
        </p:txBody>
      </p:sp>
      <p:sp>
        <p:nvSpPr>
          <p:cNvPr id="605" name="Google Shape;605;p36"/>
          <p:cNvSpPr txBox="1"/>
          <p:nvPr/>
        </p:nvSpPr>
        <p:spPr>
          <a:xfrm>
            <a:off x="787814" y="1340200"/>
            <a:ext cx="6307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 como se resuelve?</a:t>
            </a:r>
            <a:endParaRPr b="1" sz="1800">
              <a:solidFill>
                <a:srgbClr val="8E7CC3"/>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09" name="Shape 609"/>
        <p:cNvGrpSpPr/>
        <p:nvPr/>
      </p:nvGrpSpPr>
      <p:grpSpPr>
        <a:xfrm>
          <a:off x="0" y="0"/>
          <a:ext cx="0" cy="0"/>
          <a:chOff x="0" y="0"/>
          <a:chExt cx="0" cy="0"/>
        </a:xfrm>
      </p:grpSpPr>
      <p:sp>
        <p:nvSpPr>
          <p:cNvPr id="610" name="Google Shape;610;p37"/>
          <p:cNvSpPr txBox="1"/>
          <p:nvPr/>
        </p:nvSpPr>
        <p:spPr>
          <a:xfrm>
            <a:off x="414475" y="416789"/>
            <a:ext cx="8380200" cy="9234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Char char="●"/>
            </a:pPr>
            <a:r>
              <a:rPr b="1" lang="es" sz="1600">
                <a:solidFill>
                  <a:schemeClr val="dk1"/>
                </a:solidFill>
              </a:rPr>
              <a:t>En un fuero federal hay 12 juzgados. Se registran 10 causas nuevas. </a:t>
            </a:r>
            <a:r>
              <a:rPr lang="es" sz="1600">
                <a:solidFill>
                  <a:schemeClr val="dk1"/>
                </a:solidFill>
              </a:rPr>
              <a:t>Queremos contar </a:t>
            </a:r>
            <a:r>
              <a:rPr b="1" lang="es" sz="1600">
                <a:solidFill>
                  <a:schemeClr val="dk1"/>
                </a:solidFill>
              </a:rPr>
              <a:t>de cuántas formas distintas</a:t>
            </a:r>
            <a:r>
              <a:rPr lang="es" sz="1600">
                <a:solidFill>
                  <a:schemeClr val="dk1"/>
                </a:solidFill>
              </a:rPr>
              <a:t> pueden </a:t>
            </a:r>
            <a:r>
              <a:rPr b="1" lang="es" sz="1600">
                <a:solidFill>
                  <a:schemeClr val="dk1"/>
                </a:solidFill>
              </a:rPr>
              <a:t>asignarse</a:t>
            </a:r>
            <a:r>
              <a:rPr lang="es" sz="1600">
                <a:solidFill>
                  <a:schemeClr val="dk1"/>
                </a:solidFill>
              </a:rPr>
              <a:t> las 12 juzgados a las 10 causas por azar. </a:t>
            </a:r>
            <a:endParaRPr sz="1600">
              <a:solidFill>
                <a:schemeClr val="dk2"/>
              </a:solidFill>
            </a:endParaRPr>
          </a:p>
        </p:txBody>
      </p:sp>
      <p:sp>
        <p:nvSpPr>
          <p:cNvPr id="611" name="Google Shape;611;p37"/>
          <p:cNvSpPr txBox="1"/>
          <p:nvPr/>
        </p:nvSpPr>
        <p:spPr>
          <a:xfrm>
            <a:off x="813764" y="19900"/>
            <a:ext cx="6307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Un ejemplo de combinatoria </a:t>
            </a:r>
            <a:r>
              <a:rPr b="1" lang="es" sz="1800">
                <a:solidFill>
                  <a:srgbClr val="8E7CC3"/>
                </a:solidFill>
                <a:latin typeface="Poppins"/>
                <a:ea typeface="Poppins"/>
                <a:cs typeface="Poppins"/>
                <a:sym typeface="Poppins"/>
              </a:rPr>
              <a:t>con repetición</a:t>
            </a:r>
            <a:endParaRPr b="1" sz="1800">
              <a:solidFill>
                <a:srgbClr val="8E7CC3"/>
              </a:solidFill>
              <a:latin typeface="Poppins"/>
              <a:ea typeface="Poppins"/>
              <a:cs typeface="Poppins"/>
              <a:sym typeface="Poppins"/>
            </a:endParaRPr>
          </a:p>
        </p:txBody>
      </p:sp>
      <p:pic>
        <p:nvPicPr>
          <p:cNvPr id="612" name="Google Shape;612;p37"/>
          <p:cNvPicPr preferRelativeResize="0"/>
          <p:nvPr/>
        </p:nvPicPr>
        <p:blipFill>
          <a:blip r:embed="rId3">
            <a:alphaModFix/>
          </a:blip>
          <a:stretch>
            <a:fillRect/>
          </a:stretch>
        </p:blipFill>
        <p:spPr>
          <a:xfrm>
            <a:off x="755600" y="1764990"/>
            <a:ext cx="3524250" cy="714375"/>
          </a:xfrm>
          <a:prstGeom prst="rect">
            <a:avLst/>
          </a:prstGeom>
          <a:noFill/>
          <a:ln>
            <a:noFill/>
          </a:ln>
        </p:spPr>
      </p:pic>
      <p:pic>
        <p:nvPicPr>
          <p:cNvPr id="613" name="Google Shape;613;p37"/>
          <p:cNvPicPr preferRelativeResize="0"/>
          <p:nvPr/>
        </p:nvPicPr>
        <p:blipFill>
          <a:blip r:embed="rId4">
            <a:alphaModFix/>
          </a:blip>
          <a:stretch>
            <a:fillRect/>
          </a:stretch>
        </p:blipFill>
        <p:spPr>
          <a:xfrm>
            <a:off x="5886575" y="1677325"/>
            <a:ext cx="2071249" cy="955875"/>
          </a:xfrm>
          <a:prstGeom prst="rect">
            <a:avLst/>
          </a:prstGeom>
          <a:noFill/>
          <a:ln>
            <a:noFill/>
          </a:ln>
        </p:spPr>
      </p:pic>
      <p:cxnSp>
        <p:nvCxnSpPr>
          <p:cNvPr id="614" name="Google Shape;614;p37"/>
          <p:cNvCxnSpPr/>
          <p:nvPr/>
        </p:nvCxnSpPr>
        <p:spPr>
          <a:xfrm flipH="1" rot="10800000">
            <a:off x="5956875" y="1805838"/>
            <a:ext cx="1754400" cy="632700"/>
          </a:xfrm>
          <a:prstGeom prst="straightConnector1">
            <a:avLst/>
          </a:prstGeom>
          <a:noFill/>
          <a:ln cap="flat" cmpd="sng" w="28575">
            <a:solidFill>
              <a:srgbClr val="FF0000"/>
            </a:solidFill>
            <a:prstDash val="solid"/>
            <a:round/>
            <a:headEnd len="med" w="med" type="none"/>
            <a:tailEnd len="med" w="med" type="none"/>
          </a:ln>
        </p:spPr>
      </p:cxnSp>
      <p:pic>
        <p:nvPicPr>
          <p:cNvPr id="615" name="Google Shape;615;p37"/>
          <p:cNvPicPr preferRelativeResize="0"/>
          <p:nvPr/>
        </p:nvPicPr>
        <p:blipFill>
          <a:blip r:embed="rId5">
            <a:alphaModFix/>
          </a:blip>
          <a:stretch>
            <a:fillRect/>
          </a:stretch>
        </p:blipFill>
        <p:spPr>
          <a:xfrm>
            <a:off x="755600" y="2805075"/>
            <a:ext cx="3905250" cy="647700"/>
          </a:xfrm>
          <a:prstGeom prst="rect">
            <a:avLst/>
          </a:prstGeom>
          <a:noFill/>
          <a:ln>
            <a:noFill/>
          </a:ln>
        </p:spPr>
      </p:pic>
      <p:pic>
        <p:nvPicPr>
          <p:cNvPr id="616" name="Google Shape;616;p37"/>
          <p:cNvPicPr preferRelativeResize="0"/>
          <p:nvPr/>
        </p:nvPicPr>
        <p:blipFill>
          <a:blip r:embed="rId6">
            <a:alphaModFix/>
          </a:blip>
          <a:stretch>
            <a:fillRect/>
          </a:stretch>
        </p:blipFill>
        <p:spPr>
          <a:xfrm>
            <a:off x="755600" y="3718600"/>
            <a:ext cx="5210175" cy="657225"/>
          </a:xfrm>
          <a:prstGeom prst="rect">
            <a:avLst/>
          </a:prstGeom>
          <a:noFill/>
          <a:ln>
            <a:noFill/>
          </a:ln>
        </p:spPr>
      </p:pic>
      <p:sp>
        <p:nvSpPr>
          <p:cNvPr id="617" name="Google Shape;617;p37"/>
          <p:cNvSpPr txBox="1"/>
          <p:nvPr/>
        </p:nvSpPr>
        <p:spPr>
          <a:xfrm>
            <a:off x="787814" y="1340200"/>
            <a:ext cx="6307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 como se resuelve?</a:t>
            </a:r>
            <a:endParaRPr b="1" sz="1800">
              <a:solidFill>
                <a:srgbClr val="8E7CC3"/>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21" name="Shape 621"/>
        <p:cNvGrpSpPr/>
        <p:nvPr/>
      </p:nvGrpSpPr>
      <p:grpSpPr>
        <a:xfrm>
          <a:off x="0" y="0"/>
          <a:ext cx="0" cy="0"/>
          <a:chOff x="0" y="0"/>
          <a:chExt cx="0" cy="0"/>
        </a:xfrm>
      </p:grpSpPr>
      <p:sp>
        <p:nvSpPr>
          <p:cNvPr id="622" name="Google Shape;622;p38"/>
          <p:cNvSpPr txBox="1"/>
          <p:nvPr/>
        </p:nvSpPr>
        <p:spPr>
          <a:xfrm>
            <a:off x="414475" y="416789"/>
            <a:ext cx="8380200" cy="9234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Char char="●"/>
            </a:pPr>
            <a:r>
              <a:rPr b="1" lang="es" sz="1600">
                <a:solidFill>
                  <a:schemeClr val="dk1"/>
                </a:solidFill>
              </a:rPr>
              <a:t>En un fuero federal hay 12 juzgados. Se registran 10 causas nuevas. </a:t>
            </a:r>
            <a:r>
              <a:rPr lang="es" sz="1600">
                <a:solidFill>
                  <a:schemeClr val="dk1"/>
                </a:solidFill>
              </a:rPr>
              <a:t>Queremos contar </a:t>
            </a:r>
            <a:r>
              <a:rPr b="1" lang="es" sz="1600">
                <a:solidFill>
                  <a:schemeClr val="dk1"/>
                </a:solidFill>
              </a:rPr>
              <a:t>de cuántas formas distintas</a:t>
            </a:r>
            <a:r>
              <a:rPr lang="es" sz="1600">
                <a:solidFill>
                  <a:schemeClr val="dk1"/>
                </a:solidFill>
              </a:rPr>
              <a:t> pueden </a:t>
            </a:r>
            <a:r>
              <a:rPr b="1" lang="es" sz="1600">
                <a:solidFill>
                  <a:schemeClr val="dk1"/>
                </a:solidFill>
              </a:rPr>
              <a:t>asignarse</a:t>
            </a:r>
            <a:r>
              <a:rPr lang="es" sz="1600">
                <a:solidFill>
                  <a:schemeClr val="dk1"/>
                </a:solidFill>
              </a:rPr>
              <a:t> las 12 juzgados a las 10 causas por azar. </a:t>
            </a:r>
            <a:endParaRPr sz="1600">
              <a:solidFill>
                <a:schemeClr val="dk2"/>
              </a:solidFill>
            </a:endParaRPr>
          </a:p>
        </p:txBody>
      </p:sp>
      <p:sp>
        <p:nvSpPr>
          <p:cNvPr id="623" name="Google Shape;623;p38"/>
          <p:cNvSpPr txBox="1"/>
          <p:nvPr/>
        </p:nvSpPr>
        <p:spPr>
          <a:xfrm>
            <a:off x="813764" y="19900"/>
            <a:ext cx="6307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Un ejemplo de combinatoria </a:t>
            </a:r>
            <a:r>
              <a:rPr b="1" lang="es" sz="1800">
                <a:solidFill>
                  <a:srgbClr val="8E7CC3"/>
                </a:solidFill>
                <a:latin typeface="Poppins"/>
                <a:ea typeface="Poppins"/>
                <a:cs typeface="Poppins"/>
                <a:sym typeface="Poppins"/>
              </a:rPr>
              <a:t>con repetición</a:t>
            </a:r>
            <a:endParaRPr b="1" sz="1800">
              <a:solidFill>
                <a:srgbClr val="8E7CC3"/>
              </a:solidFill>
              <a:latin typeface="Poppins"/>
              <a:ea typeface="Poppins"/>
              <a:cs typeface="Poppins"/>
              <a:sym typeface="Poppins"/>
            </a:endParaRPr>
          </a:p>
        </p:txBody>
      </p:sp>
      <p:sp>
        <p:nvSpPr>
          <p:cNvPr id="624" name="Google Shape;624;p38"/>
          <p:cNvSpPr txBox="1"/>
          <p:nvPr/>
        </p:nvSpPr>
        <p:spPr>
          <a:xfrm>
            <a:off x="5996200" y="1863675"/>
            <a:ext cx="2301900" cy="11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E06666"/>
                </a:solidFill>
                <a:latin typeface="Poppins"/>
                <a:ea typeface="Poppins"/>
                <a:cs typeface="Poppins"/>
                <a:sym typeface="Poppins"/>
              </a:rPr>
              <a:t>¿Y QUE TIENE QUE VER ESTO CON LA </a:t>
            </a:r>
            <a:r>
              <a:rPr b="1" lang="es" sz="1800">
                <a:solidFill>
                  <a:srgbClr val="E06666"/>
                </a:solidFill>
                <a:latin typeface="Poppins"/>
                <a:ea typeface="Poppins"/>
                <a:cs typeface="Poppins"/>
                <a:sym typeface="Poppins"/>
              </a:rPr>
              <a:t>PROBABILIDAD</a:t>
            </a:r>
            <a:r>
              <a:rPr b="1" lang="es" sz="1800">
                <a:solidFill>
                  <a:srgbClr val="E06666"/>
                </a:solidFill>
                <a:latin typeface="Poppins"/>
                <a:ea typeface="Poppins"/>
                <a:cs typeface="Poppins"/>
                <a:sym typeface="Poppins"/>
              </a:rPr>
              <a:t>?</a:t>
            </a:r>
            <a:endParaRPr b="1" sz="1800">
              <a:solidFill>
                <a:srgbClr val="E06666"/>
              </a:solidFill>
              <a:latin typeface="Poppins"/>
              <a:ea typeface="Poppins"/>
              <a:cs typeface="Poppins"/>
              <a:sym typeface="Poppins"/>
            </a:endParaRPr>
          </a:p>
        </p:txBody>
      </p:sp>
      <p:pic>
        <p:nvPicPr>
          <p:cNvPr id="625" name="Google Shape;625;p38"/>
          <p:cNvPicPr preferRelativeResize="0"/>
          <p:nvPr/>
        </p:nvPicPr>
        <p:blipFill>
          <a:blip r:embed="rId3">
            <a:alphaModFix/>
          </a:blip>
          <a:stretch>
            <a:fillRect/>
          </a:stretch>
        </p:blipFill>
        <p:spPr>
          <a:xfrm>
            <a:off x="755600" y="1764990"/>
            <a:ext cx="3524250" cy="714375"/>
          </a:xfrm>
          <a:prstGeom prst="rect">
            <a:avLst/>
          </a:prstGeom>
          <a:noFill/>
          <a:ln>
            <a:noFill/>
          </a:ln>
        </p:spPr>
      </p:pic>
      <p:pic>
        <p:nvPicPr>
          <p:cNvPr id="626" name="Google Shape;626;p38"/>
          <p:cNvPicPr preferRelativeResize="0"/>
          <p:nvPr/>
        </p:nvPicPr>
        <p:blipFill>
          <a:blip r:embed="rId4">
            <a:alphaModFix/>
          </a:blip>
          <a:stretch>
            <a:fillRect/>
          </a:stretch>
        </p:blipFill>
        <p:spPr>
          <a:xfrm>
            <a:off x="755600" y="2805075"/>
            <a:ext cx="3905250" cy="647700"/>
          </a:xfrm>
          <a:prstGeom prst="rect">
            <a:avLst/>
          </a:prstGeom>
          <a:noFill/>
          <a:ln>
            <a:noFill/>
          </a:ln>
        </p:spPr>
      </p:pic>
      <p:pic>
        <p:nvPicPr>
          <p:cNvPr id="627" name="Google Shape;627;p38"/>
          <p:cNvPicPr preferRelativeResize="0"/>
          <p:nvPr/>
        </p:nvPicPr>
        <p:blipFill>
          <a:blip r:embed="rId5">
            <a:alphaModFix/>
          </a:blip>
          <a:stretch>
            <a:fillRect/>
          </a:stretch>
        </p:blipFill>
        <p:spPr>
          <a:xfrm>
            <a:off x="755600" y="3718600"/>
            <a:ext cx="5210175" cy="657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31" name="Shape 631"/>
        <p:cNvGrpSpPr/>
        <p:nvPr/>
      </p:nvGrpSpPr>
      <p:grpSpPr>
        <a:xfrm>
          <a:off x="0" y="0"/>
          <a:ext cx="0" cy="0"/>
          <a:chOff x="0" y="0"/>
          <a:chExt cx="0" cy="0"/>
        </a:xfrm>
      </p:grpSpPr>
      <p:sp>
        <p:nvSpPr>
          <p:cNvPr id="632" name="Google Shape;632;p39"/>
          <p:cNvSpPr txBox="1"/>
          <p:nvPr/>
        </p:nvSpPr>
        <p:spPr>
          <a:xfrm>
            <a:off x="414475" y="416789"/>
            <a:ext cx="8380200" cy="9234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Char char="●"/>
            </a:pPr>
            <a:r>
              <a:rPr b="1" lang="es" sz="1600">
                <a:solidFill>
                  <a:schemeClr val="dk1"/>
                </a:solidFill>
              </a:rPr>
              <a:t>En un fuero federal hay 12 juzgados. Se registran 10 causas nuevas. </a:t>
            </a:r>
            <a:r>
              <a:rPr lang="es" sz="1600">
                <a:solidFill>
                  <a:schemeClr val="dk1"/>
                </a:solidFill>
              </a:rPr>
              <a:t>Queremos contar </a:t>
            </a:r>
            <a:r>
              <a:rPr b="1" lang="es" sz="1600">
                <a:solidFill>
                  <a:schemeClr val="dk1"/>
                </a:solidFill>
              </a:rPr>
              <a:t>de cuántas formas distintas</a:t>
            </a:r>
            <a:r>
              <a:rPr lang="es" sz="1600">
                <a:solidFill>
                  <a:schemeClr val="dk1"/>
                </a:solidFill>
              </a:rPr>
              <a:t> pueden </a:t>
            </a:r>
            <a:r>
              <a:rPr b="1" lang="es" sz="1600">
                <a:solidFill>
                  <a:schemeClr val="dk1"/>
                </a:solidFill>
              </a:rPr>
              <a:t>asignarse</a:t>
            </a:r>
            <a:r>
              <a:rPr lang="es" sz="1600">
                <a:solidFill>
                  <a:schemeClr val="dk1"/>
                </a:solidFill>
              </a:rPr>
              <a:t> las 12 juzgados a las 10 causas por azar. </a:t>
            </a:r>
            <a:endParaRPr sz="1600">
              <a:solidFill>
                <a:schemeClr val="dk2"/>
              </a:solidFill>
            </a:endParaRPr>
          </a:p>
        </p:txBody>
      </p:sp>
      <p:sp>
        <p:nvSpPr>
          <p:cNvPr id="633" name="Google Shape;633;p39"/>
          <p:cNvSpPr txBox="1"/>
          <p:nvPr/>
        </p:nvSpPr>
        <p:spPr>
          <a:xfrm>
            <a:off x="813764" y="19900"/>
            <a:ext cx="6307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Aplicación</a:t>
            </a:r>
            <a:r>
              <a:rPr b="1" lang="es" sz="1800">
                <a:solidFill>
                  <a:schemeClr val="dk2"/>
                </a:solidFill>
                <a:latin typeface="Poppins"/>
                <a:ea typeface="Poppins"/>
                <a:cs typeface="Poppins"/>
                <a:sym typeface="Poppins"/>
              </a:rPr>
              <a:t> en probabilidad</a:t>
            </a:r>
            <a:endParaRPr b="1" sz="1800">
              <a:solidFill>
                <a:srgbClr val="8E7CC3"/>
              </a:solidFill>
              <a:latin typeface="Poppins"/>
              <a:ea typeface="Poppins"/>
              <a:cs typeface="Poppins"/>
              <a:sym typeface="Poppins"/>
            </a:endParaRPr>
          </a:p>
        </p:txBody>
      </p:sp>
      <p:sp>
        <p:nvSpPr>
          <p:cNvPr id="634" name="Google Shape;634;p39"/>
          <p:cNvSpPr txBox="1"/>
          <p:nvPr/>
        </p:nvSpPr>
        <p:spPr>
          <a:xfrm>
            <a:off x="2496525" y="940000"/>
            <a:ext cx="142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Rta: </a:t>
            </a:r>
            <a:r>
              <a:rPr b="1" lang="es">
                <a:solidFill>
                  <a:srgbClr val="FF0000"/>
                </a:solidFill>
              </a:rPr>
              <a:t>352,716</a:t>
            </a:r>
            <a:endParaRPr b="1">
              <a:solidFill>
                <a:srgbClr val="FF0000"/>
              </a:solidFill>
            </a:endParaRPr>
          </a:p>
        </p:txBody>
      </p:sp>
      <p:sp>
        <p:nvSpPr>
          <p:cNvPr id="635" name="Google Shape;635;p39"/>
          <p:cNvSpPr txBox="1"/>
          <p:nvPr/>
        </p:nvSpPr>
        <p:spPr>
          <a:xfrm>
            <a:off x="868525" y="1260275"/>
            <a:ext cx="7692600" cy="6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500">
                <a:solidFill>
                  <a:srgbClr val="E06666"/>
                </a:solidFill>
                <a:latin typeface="Poppins"/>
                <a:ea typeface="Poppins"/>
                <a:cs typeface="Poppins"/>
                <a:sym typeface="Poppins"/>
              </a:rPr>
              <a:t>¿Cual es la probabilidad de que 9 de ellas sean asignadas a un mismo juzgado cualquiera? </a:t>
            </a:r>
            <a:r>
              <a:rPr b="1" lang="es" sz="1500">
                <a:solidFill>
                  <a:srgbClr val="E06666"/>
                </a:solidFill>
                <a:latin typeface="Poppins"/>
                <a:ea typeface="Poppins"/>
                <a:cs typeface="Poppins"/>
                <a:sym typeface="Poppins"/>
              </a:rPr>
              <a:t>(suponiendo equiprobabilidad de las secuencias)</a:t>
            </a:r>
            <a:endParaRPr b="1" sz="1500">
              <a:solidFill>
                <a:srgbClr val="E06666"/>
              </a:solidFill>
              <a:latin typeface="Poppins"/>
              <a:ea typeface="Poppins"/>
              <a:cs typeface="Poppins"/>
              <a:sym typeface="Poppins"/>
            </a:endParaRPr>
          </a:p>
        </p:txBody>
      </p:sp>
      <p:sp>
        <p:nvSpPr>
          <p:cNvPr id="636" name="Google Shape;636;p39"/>
          <p:cNvSpPr/>
          <p:nvPr/>
        </p:nvSpPr>
        <p:spPr>
          <a:xfrm>
            <a:off x="0" y="0"/>
            <a:ext cx="447000" cy="3567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t>1</a:t>
            </a:r>
            <a:endParaRPr b="1"/>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40" name="Shape 640"/>
        <p:cNvGrpSpPr/>
        <p:nvPr/>
      </p:nvGrpSpPr>
      <p:grpSpPr>
        <a:xfrm>
          <a:off x="0" y="0"/>
          <a:ext cx="0" cy="0"/>
          <a:chOff x="0" y="0"/>
          <a:chExt cx="0" cy="0"/>
        </a:xfrm>
      </p:grpSpPr>
      <p:sp>
        <p:nvSpPr>
          <p:cNvPr id="641" name="Google Shape;641;p40"/>
          <p:cNvSpPr txBox="1"/>
          <p:nvPr/>
        </p:nvSpPr>
        <p:spPr>
          <a:xfrm>
            <a:off x="414475" y="416789"/>
            <a:ext cx="8380200" cy="9234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Char char="●"/>
            </a:pPr>
            <a:r>
              <a:rPr b="1" lang="es" sz="1600">
                <a:solidFill>
                  <a:schemeClr val="dk1"/>
                </a:solidFill>
              </a:rPr>
              <a:t>En un fuero federal hay 12 juzgados. Se registran 10 causas nuevas. </a:t>
            </a:r>
            <a:r>
              <a:rPr lang="es" sz="1600">
                <a:solidFill>
                  <a:schemeClr val="dk1"/>
                </a:solidFill>
              </a:rPr>
              <a:t>Queremos contar </a:t>
            </a:r>
            <a:r>
              <a:rPr b="1" lang="es" sz="1600">
                <a:solidFill>
                  <a:schemeClr val="dk1"/>
                </a:solidFill>
              </a:rPr>
              <a:t>de cuántas formas distintas</a:t>
            </a:r>
            <a:r>
              <a:rPr lang="es" sz="1600">
                <a:solidFill>
                  <a:schemeClr val="dk1"/>
                </a:solidFill>
              </a:rPr>
              <a:t> pueden </a:t>
            </a:r>
            <a:r>
              <a:rPr b="1" lang="es" sz="1600">
                <a:solidFill>
                  <a:schemeClr val="dk1"/>
                </a:solidFill>
              </a:rPr>
              <a:t>asignarse</a:t>
            </a:r>
            <a:r>
              <a:rPr lang="es" sz="1600">
                <a:solidFill>
                  <a:schemeClr val="dk1"/>
                </a:solidFill>
              </a:rPr>
              <a:t> las 12 juzgados a las 10 causas por azar. </a:t>
            </a:r>
            <a:endParaRPr sz="1600">
              <a:solidFill>
                <a:schemeClr val="dk2"/>
              </a:solidFill>
            </a:endParaRPr>
          </a:p>
        </p:txBody>
      </p:sp>
      <p:sp>
        <p:nvSpPr>
          <p:cNvPr id="642" name="Google Shape;642;p40"/>
          <p:cNvSpPr txBox="1"/>
          <p:nvPr/>
        </p:nvSpPr>
        <p:spPr>
          <a:xfrm>
            <a:off x="813764" y="19900"/>
            <a:ext cx="6307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Aplicación en probabilidad</a:t>
            </a:r>
            <a:endParaRPr b="1" sz="1800">
              <a:solidFill>
                <a:srgbClr val="8E7CC3"/>
              </a:solidFill>
              <a:latin typeface="Poppins"/>
              <a:ea typeface="Poppins"/>
              <a:cs typeface="Poppins"/>
              <a:sym typeface="Poppins"/>
            </a:endParaRPr>
          </a:p>
        </p:txBody>
      </p:sp>
      <p:sp>
        <p:nvSpPr>
          <p:cNvPr id="643" name="Google Shape;643;p40"/>
          <p:cNvSpPr txBox="1"/>
          <p:nvPr/>
        </p:nvSpPr>
        <p:spPr>
          <a:xfrm>
            <a:off x="2496525" y="940000"/>
            <a:ext cx="142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Rta: </a:t>
            </a:r>
            <a:r>
              <a:rPr b="1" lang="es">
                <a:solidFill>
                  <a:srgbClr val="FF0000"/>
                </a:solidFill>
              </a:rPr>
              <a:t>352,716</a:t>
            </a:r>
            <a:endParaRPr b="1">
              <a:solidFill>
                <a:srgbClr val="FF0000"/>
              </a:solidFill>
            </a:endParaRPr>
          </a:p>
        </p:txBody>
      </p:sp>
      <p:sp>
        <p:nvSpPr>
          <p:cNvPr id="644" name="Google Shape;644;p40"/>
          <p:cNvSpPr txBox="1"/>
          <p:nvPr/>
        </p:nvSpPr>
        <p:spPr>
          <a:xfrm>
            <a:off x="868525" y="1260275"/>
            <a:ext cx="7692600" cy="6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500">
                <a:solidFill>
                  <a:srgbClr val="E06666"/>
                </a:solidFill>
                <a:latin typeface="Poppins"/>
                <a:ea typeface="Poppins"/>
                <a:cs typeface="Poppins"/>
                <a:sym typeface="Poppins"/>
              </a:rPr>
              <a:t>¿Cual es la probabilidad de que 9 de ellas sean asignadas a un mismo juzgado cualquiera? (suponiendo equiprobabilidad de las secuencias)</a:t>
            </a:r>
            <a:endParaRPr b="1" sz="1500">
              <a:solidFill>
                <a:srgbClr val="E06666"/>
              </a:solidFill>
              <a:latin typeface="Poppins"/>
              <a:ea typeface="Poppins"/>
              <a:cs typeface="Poppins"/>
              <a:sym typeface="Poppins"/>
            </a:endParaRPr>
          </a:p>
        </p:txBody>
      </p:sp>
      <p:pic>
        <p:nvPicPr>
          <p:cNvPr id="645" name="Google Shape;645;p40"/>
          <p:cNvPicPr preferRelativeResize="0"/>
          <p:nvPr/>
        </p:nvPicPr>
        <p:blipFill>
          <a:blip r:embed="rId3">
            <a:alphaModFix/>
          </a:blip>
          <a:stretch>
            <a:fillRect/>
          </a:stretch>
        </p:blipFill>
        <p:spPr>
          <a:xfrm>
            <a:off x="969438" y="2190474"/>
            <a:ext cx="5915025" cy="2028825"/>
          </a:xfrm>
          <a:prstGeom prst="rect">
            <a:avLst/>
          </a:prstGeom>
          <a:noFill/>
          <a:ln>
            <a:noFill/>
          </a:ln>
        </p:spPr>
      </p:pic>
      <p:sp>
        <p:nvSpPr>
          <p:cNvPr id="646" name="Google Shape;646;p40"/>
          <p:cNvSpPr txBox="1"/>
          <p:nvPr/>
        </p:nvSpPr>
        <p:spPr>
          <a:xfrm>
            <a:off x="6977125" y="3667975"/>
            <a:ext cx="1974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solidFill>
                  <a:srgbClr val="CC0000"/>
                </a:solidFill>
              </a:rPr>
              <a:t>1 vez cada 2.673 sorteos</a:t>
            </a:r>
            <a:endParaRPr b="1">
              <a:solidFill>
                <a:srgbClr val="CC0000"/>
              </a:solidFill>
            </a:endParaRPr>
          </a:p>
        </p:txBody>
      </p:sp>
      <p:sp>
        <p:nvSpPr>
          <p:cNvPr id="647" name="Google Shape;647;p40"/>
          <p:cNvSpPr txBox="1"/>
          <p:nvPr/>
        </p:nvSpPr>
        <p:spPr>
          <a:xfrm>
            <a:off x="930514" y="1783700"/>
            <a:ext cx="6307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Modelo de composiciones equiprobables</a:t>
            </a:r>
            <a:endParaRPr b="1" sz="1800">
              <a:solidFill>
                <a:srgbClr val="8E7CC3"/>
              </a:solidFill>
              <a:latin typeface="Poppins"/>
              <a:ea typeface="Poppins"/>
              <a:cs typeface="Poppins"/>
              <a:sym typeface="Poppins"/>
            </a:endParaRPr>
          </a:p>
        </p:txBody>
      </p:sp>
      <p:sp>
        <p:nvSpPr>
          <p:cNvPr id="648" name="Google Shape;648;p40"/>
          <p:cNvSpPr txBox="1"/>
          <p:nvPr/>
        </p:nvSpPr>
        <p:spPr>
          <a:xfrm>
            <a:off x="6977125" y="2190475"/>
            <a:ext cx="20508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solidFill>
                  <a:srgbClr val="666666"/>
                </a:solidFill>
              </a:rPr>
              <a:t>Supone que 1 causa en cada juzgado tiene misma probabilidad que 5 causas en 1 y 5 en otro por dar un ejemplo</a:t>
            </a:r>
            <a:endParaRPr b="1">
              <a:solidFill>
                <a:srgbClr val="666666"/>
              </a:solidFill>
            </a:endParaRPr>
          </a:p>
        </p:txBody>
      </p:sp>
      <p:sp>
        <p:nvSpPr>
          <p:cNvPr id="649" name="Google Shape;649;p40"/>
          <p:cNvSpPr/>
          <p:nvPr/>
        </p:nvSpPr>
        <p:spPr>
          <a:xfrm>
            <a:off x="0" y="0"/>
            <a:ext cx="447000" cy="3567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t>1</a:t>
            </a:r>
            <a:endParaRPr b="1"/>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53" name="Shape 653"/>
        <p:cNvGrpSpPr/>
        <p:nvPr/>
      </p:nvGrpSpPr>
      <p:grpSpPr>
        <a:xfrm>
          <a:off x="0" y="0"/>
          <a:ext cx="0" cy="0"/>
          <a:chOff x="0" y="0"/>
          <a:chExt cx="0" cy="0"/>
        </a:xfrm>
      </p:grpSpPr>
      <p:sp>
        <p:nvSpPr>
          <p:cNvPr id="654" name="Google Shape;654;p41"/>
          <p:cNvSpPr txBox="1"/>
          <p:nvPr/>
        </p:nvSpPr>
        <p:spPr>
          <a:xfrm>
            <a:off x="813764" y="19900"/>
            <a:ext cx="6307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Aplicación en probabilidad</a:t>
            </a:r>
            <a:endParaRPr b="1" sz="1800">
              <a:solidFill>
                <a:srgbClr val="8E7CC3"/>
              </a:solidFill>
              <a:latin typeface="Poppins"/>
              <a:ea typeface="Poppins"/>
              <a:cs typeface="Poppins"/>
              <a:sym typeface="Poppins"/>
            </a:endParaRPr>
          </a:p>
        </p:txBody>
      </p:sp>
      <p:sp>
        <p:nvSpPr>
          <p:cNvPr id="655" name="Google Shape;655;p41"/>
          <p:cNvSpPr txBox="1"/>
          <p:nvPr/>
        </p:nvSpPr>
        <p:spPr>
          <a:xfrm>
            <a:off x="904600" y="416800"/>
            <a:ext cx="7692600" cy="6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500">
                <a:solidFill>
                  <a:srgbClr val="E06666"/>
                </a:solidFill>
                <a:latin typeface="Poppins"/>
                <a:ea typeface="Poppins"/>
                <a:cs typeface="Poppins"/>
                <a:sym typeface="Poppins"/>
              </a:rPr>
              <a:t>¿Cual es la probabilidad de que 9 de ellas sean asignadas a un mismo juzgado cualquiera? </a:t>
            </a:r>
            <a:r>
              <a:rPr b="1" lang="es" sz="1500">
                <a:solidFill>
                  <a:srgbClr val="434343"/>
                </a:solidFill>
                <a:latin typeface="Poppins"/>
                <a:ea typeface="Poppins"/>
                <a:cs typeface="Poppins"/>
                <a:sym typeface="Poppins"/>
              </a:rPr>
              <a:t>en un sorteo real</a:t>
            </a:r>
            <a:endParaRPr b="1" sz="1500">
              <a:solidFill>
                <a:srgbClr val="434343"/>
              </a:solidFill>
              <a:latin typeface="Poppins"/>
              <a:ea typeface="Poppins"/>
              <a:cs typeface="Poppins"/>
              <a:sym typeface="Poppins"/>
            </a:endParaRPr>
          </a:p>
        </p:txBody>
      </p:sp>
      <p:sp>
        <p:nvSpPr>
          <p:cNvPr id="656" name="Google Shape;656;p41"/>
          <p:cNvSpPr/>
          <p:nvPr/>
        </p:nvSpPr>
        <p:spPr>
          <a:xfrm>
            <a:off x="0" y="0"/>
            <a:ext cx="447000" cy="3567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t>2</a:t>
            </a:r>
            <a:endParaRPr b="1"/>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60" name="Shape 660"/>
        <p:cNvGrpSpPr/>
        <p:nvPr/>
      </p:nvGrpSpPr>
      <p:grpSpPr>
        <a:xfrm>
          <a:off x="0" y="0"/>
          <a:ext cx="0" cy="0"/>
          <a:chOff x="0" y="0"/>
          <a:chExt cx="0" cy="0"/>
        </a:xfrm>
      </p:grpSpPr>
      <p:sp>
        <p:nvSpPr>
          <p:cNvPr id="661" name="Google Shape;661;p42"/>
          <p:cNvSpPr txBox="1"/>
          <p:nvPr/>
        </p:nvSpPr>
        <p:spPr>
          <a:xfrm>
            <a:off x="813764" y="19900"/>
            <a:ext cx="6307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Aplicación en probabilidad</a:t>
            </a:r>
            <a:endParaRPr b="1" sz="1800">
              <a:solidFill>
                <a:srgbClr val="8E7CC3"/>
              </a:solidFill>
              <a:latin typeface="Poppins"/>
              <a:ea typeface="Poppins"/>
              <a:cs typeface="Poppins"/>
              <a:sym typeface="Poppins"/>
            </a:endParaRPr>
          </a:p>
        </p:txBody>
      </p:sp>
      <p:sp>
        <p:nvSpPr>
          <p:cNvPr id="662" name="Google Shape;662;p42"/>
          <p:cNvSpPr txBox="1"/>
          <p:nvPr/>
        </p:nvSpPr>
        <p:spPr>
          <a:xfrm>
            <a:off x="904600" y="416800"/>
            <a:ext cx="7692600" cy="6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500">
                <a:solidFill>
                  <a:srgbClr val="E06666"/>
                </a:solidFill>
                <a:latin typeface="Poppins"/>
                <a:ea typeface="Poppins"/>
                <a:cs typeface="Poppins"/>
                <a:sym typeface="Poppins"/>
              </a:rPr>
              <a:t>¿Cual es la probabilidad de que 9 de ellas sean asignadas a un mismo juzgado cualquiera? </a:t>
            </a:r>
            <a:r>
              <a:rPr b="1" lang="es" sz="1500">
                <a:solidFill>
                  <a:srgbClr val="434343"/>
                </a:solidFill>
                <a:latin typeface="Poppins"/>
                <a:ea typeface="Poppins"/>
                <a:cs typeface="Poppins"/>
                <a:sym typeface="Poppins"/>
              </a:rPr>
              <a:t>en un sorteo real</a:t>
            </a:r>
            <a:endParaRPr b="1" sz="1500">
              <a:solidFill>
                <a:srgbClr val="434343"/>
              </a:solidFill>
              <a:latin typeface="Poppins"/>
              <a:ea typeface="Poppins"/>
              <a:cs typeface="Poppins"/>
              <a:sym typeface="Poppins"/>
            </a:endParaRPr>
          </a:p>
        </p:txBody>
      </p:sp>
      <p:sp>
        <p:nvSpPr>
          <p:cNvPr id="663" name="Google Shape;663;p42"/>
          <p:cNvSpPr txBox="1"/>
          <p:nvPr/>
        </p:nvSpPr>
        <p:spPr>
          <a:xfrm>
            <a:off x="7030475" y="3997350"/>
            <a:ext cx="1476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solidFill>
                  <a:srgbClr val="CC0000"/>
                </a:solidFill>
              </a:rPr>
              <a:t>1 vez cada 47 millones de sorteos</a:t>
            </a:r>
            <a:endParaRPr b="1">
              <a:solidFill>
                <a:srgbClr val="CC0000"/>
              </a:solidFill>
            </a:endParaRPr>
          </a:p>
        </p:txBody>
      </p:sp>
      <p:sp>
        <p:nvSpPr>
          <p:cNvPr id="664" name="Google Shape;664;p42"/>
          <p:cNvSpPr txBox="1"/>
          <p:nvPr/>
        </p:nvSpPr>
        <p:spPr>
          <a:xfrm>
            <a:off x="904600" y="1109150"/>
            <a:ext cx="78900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Modelo iid (independent and  identical distribuited) para sorteo </a:t>
            </a:r>
            <a:endParaRPr b="1" sz="1800">
              <a:solidFill>
                <a:srgbClr val="8E7CC3"/>
              </a:solidFill>
              <a:latin typeface="Poppins"/>
              <a:ea typeface="Poppins"/>
              <a:cs typeface="Poppins"/>
              <a:sym typeface="Poppins"/>
            </a:endParaRPr>
          </a:p>
        </p:txBody>
      </p:sp>
      <p:pic>
        <p:nvPicPr>
          <p:cNvPr id="665" name="Google Shape;665;p42"/>
          <p:cNvPicPr preferRelativeResize="0"/>
          <p:nvPr/>
        </p:nvPicPr>
        <p:blipFill>
          <a:blip r:embed="rId3">
            <a:alphaModFix/>
          </a:blip>
          <a:stretch>
            <a:fillRect/>
          </a:stretch>
        </p:blipFill>
        <p:spPr>
          <a:xfrm>
            <a:off x="904600" y="1580100"/>
            <a:ext cx="6046525" cy="3210625"/>
          </a:xfrm>
          <a:prstGeom prst="rect">
            <a:avLst/>
          </a:prstGeom>
          <a:noFill/>
          <a:ln>
            <a:noFill/>
          </a:ln>
        </p:spPr>
      </p:pic>
      <p:sp>
        <p:nvSpPr>
          <p:cNvPr id="666" name="Google Shape;666;p42"/>
          <p:cNvSpPr/>
          <p:nvPr/>
        </p:nvSpPr>
        <p:spPr>
          <a:xfrm>
            <a:off x="0" y="0"/>
            <a:ext cx="447000" cy="3567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t>2</a:t>
            </a:r>
            <a:endParaRPr b="1"/>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70" name="Shape 670"/>
        <p:cNvGrpSpPr/>
        <p:nvPr/>
      </p:nvGrpSpPr>
      <p:grpSpPr>
        <a:xfrm>
          <a:off x="0" y="0"/>
          <a:ext cx="0" cy="0"/>
          <a:chOff x="0" y="0"/>
          <a:chExt cx="0" cy="0"/>
        </a:xfrm>
      </p:grpSpPr>
      <p:sp>
        <p:nvSpPr>
          <p:cNvPr id="671" name="Google Shape;671;p43"/>
          <p:cNvSpPr txBox="1"/>
          <p:nvPr/>
        </p:nvSpPr>
        <p:spPr>
          <a:xfrm>
            <a:off x="813764" y="19900"/>
            <a:ext cx="6307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Aplicación en probabilidad</a:t>
            </a:r>
            <a:endParaRPr b="1" sz="1800">
              <a:solidFill>
                <a:srgbClr val="8E7CC3"/>
              </a:solidFill>
              <a:latin typeface="Poppins"/>
              <a:ea typeface="Poppins"/>
              <a:cs typeface="Poppins"/>
              <a:sym typeface="Poppins"/>
            </a:endParaRPr>
          </a:p>
        </p:txBody>
      </p:sp>
      <p:sp>
        <p:nvSpPr>
          <p:cNvPr id="672" name="Google Shape;672;p43"/>
          <p:cNvSpPr txBox="1"/>
          <p:nvPr/>
        </p:nvSpPr>
        <p:spPr>
          <a:xfrm>
            <a:off x="904600" y="416800"/>
            <a:ext cx="7692600" cy="6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500">
                <a:solidFill>
                  <a:srgbClr val="E06666"/>
                </a:solidFill>
                <a:latin typeface="Poppins"/>
                <a:ea typeface="Poppins"/>
                <a:cs typeface="Poppins"/>
                <a:sym typeface="Poppins"/>
              </a:rPr>
              <a:t>¿Cual es la probabilidad de que 9 de ellas sean asignadas </a:t>
            </a:r>
            <a:r>
              <a:rPr b="1" lang="es" sz="1500">
                <a:solidFill>
                  <a:srgbClr val="3C78D8"/>
                </a:solidFill>
                <a:latin typeface="Poppins"/>
                <a:ea typeface="Poppins"/>
                <a:cs typeface="Poppins"/>
                <a:sym typeface="Poppins"/>
              </a:rPr>
              <a:t>a un juzgado en particular</a:t>
            </a:r>
            <a:r>
              <a:rPr b="1" lang="es" sz="1500">
                <a:solidFill>
                  <a:srgbClr val="E06666"/>
                </a:solidFill>
                <a:latin typeface="Poppins"/>
                <a:ea typeface="Poppins"/>
                <a:cs typeface="Poppins"/>
                <a:sym typeface="Poppins"/>
              </a:rPr>
              <a:t> ? </a:t>
            </a:r>
            <a:r>
              <a:rPr b="1" lang="es" sz="1500">
                <a:solidFill>
                  <a:srgbClr val="434343"/>
                </a:solidFill>
                <a:latin typeface="Poppins"/>
                <a:ea typeface="Poppins"/>
                <a:cs typeface="Poppins"/>
                <a:sym typeface="Poppins"/>
              </a:rPr>
              <a:t>en un sorteo real</a:t>
            </a:r>
            <a:endParaRPr b="1" sz="1500">
              <a:solidFill>
                <a:srgbClr val="434343"/>
              </a:solidFill>
              <a:latin typeface="Poppins"/>
              <a:ea typeface="Poppins"/>
              <a:cs typeface="Poppins"/>
              <a:sym typeface="Poppins"/>
            </a:endParaRPr>
          </a:p>
        </p:txBody>
      </p:sp>
      <p:sp>
        <p:nvSpPr>
          <p:cNvPr id="673" name="Google Shape;673;p43"/>
          <p:cNvSpPr/>
          <p:nvPr/>
        </p:nvSpPr>
        <p:spPr>
          <a:xfrm>
            <a:off x="0" y="0"/>
            <a:ext cx="447000" cy="3567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t>3</a:t>
            </a:r>
            <a:endParaRPr b="1"/>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77" name="Shape 677"/>
        <p:cNvGrpSpPr/>
        <p:nvPr/>
      </p:nvGrpSpPr>
      <p:grpSpPr>
        <a:xfrm>
          <a:off x="0" y="0"/>
          <a:ext cx="0" cy="0"/>
          <a:chOff x="0" y="0"/>
          <a:chExt cx="0" cy="0"/>
        </a:xfrm>
      </p:grpSpPr>
      <p:sp>
        <p:nvSpPr>
          <p:cNvPr id="678" name="Google Shape;678;p44"/>
          <p:cNvSpPr txBox="1"/>
          <p:nvPr/>
        </p:nvSpPr>
        <p:spPr>
          <a:xfrm>
            <a:off x="813764" y="19900"/>
            <a:ext cx="63075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Aplicación en probabilidad</a:t>
            </a:r>
            <a:endParaRPr b="1" sz="1800">
              <a:solidFill>
                <a:srgbClr val="8E7CC3"/>
              </a:solidFill>
              <a:latin typeface="Poppins"/>
              <a:ea typeface="Poppins"/>
              <a:cs typeface="Poppins"/>
              <a:sym typeface="Poppins"/>
            </a:endParaRPr>
          </a:p>
        </p:txBody>
      </p:sp>
      <p:sp>
        <p:nvSpPr>
          <p:cNvPr id="679" name="Google Shape;679;p44"/>
          <p:cNvSpPr txBox="1"/>
          <p:nvPr/>
        </p:nvSpPr>
        <p:spPr>
          <a:xfrm>
            <a:off x="904600" y="416800"/>
            <a:ext cx="7692600" cy="6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500">
                <a:solidFill>
                  <a:srgbClr val="E06666"/>
                </a:solidFill>
                <a:latin typeface="Poppins"/>
                <a:ea typeface="Poppins"/>
                <a:cs typeface="Poppins"/>
                <a:sym typeface="Poppins"/>
              </a:rPr>
              <a:t>¿Cual es la probabilidad de que 9 de ellas sean asignadas </a:t>
            </a:r>
            <a:r>
              <a:rPr b="1" lang="es" sz="1500">
                <a:solidFill>
                  <a:srgbClr val="3C78D8"/>
                </a:solidFill>
                <a:latin typeface="Poppins"/>
                <a:ea typeface="Poppins"/>
                <a:cs typeface="Poppins"/>
                <a:sym typeface="Poppins"/>
              </a:rPr>
              <a:t>a un juzgado en particular</a:t>
            </a:r>
            <a:r>
              <a:rPr b="1" lang="es" sz="1500">
                <a:solidFill>
                  <a:srgbClr val="E06666"/>
                </a:solidFill>
                <a:latin typeface="Poppins"/>
                <a:ea typeface="Poppins"/>
                <a:cs typeface="Poppins"/>
                <a:sym typeface="Poppins"/>
              </a:rPr>
              <a:t> ? </a:t>
            </a:r>
            <a:r>
              <a:rPr b="1" lang="es" sz="1500">
                <a:solidFill>
                  <a:srgbClr val="434343"/>
                </a:solidFill>
                <a:latin typeface="Poppins"/>
                <a:ea typeface="Poppins"/>
                <a:cs typeface="Poppins"/>
                <a:sym typeface="Poppins"/>
              </a:rPr>
              <a:t>en un sorteo real</a:t>
            </a:r>
            <a:endParaRPr b="1" sz="1500">
              <a:solidFill>
                <a:srgbClr val="434343"/>
              </a:solidFill>
              <a:latin typeface="Poppins"/>
              <a:ea typeface="Poppins"/>
              <a:cs typeface="Poppins"/>
              <a:sym typeface="Poppins"/>
            </a:endParaRPr>
          </a:p>
        </p:txBody>
      </p:sp>
      <p:sp>
        <p:nvSpPr>
          <p:cNvPr id="680" name="Google Shape;680;p44"/>
          <p:cNvSpPr txBox="1"/>
          <p:nvPr/>
        </p:nvSpPr>
        <p:spPr>
          <a:xfrm>
            <a:off x="7004525" y="4081450"/>
            <a:ext cx="1476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solidFill>
                  <a:srgbClr val="CC0000"/>
                </a:solidFill>
              </a:rPr>
              <a:t>1 vez cada 563 millones de sorteos</a:t>
            </a:r>
            <a:endParaRPr b="1">
              <a:solidFill>
                <a:srgbClr val="CC0000"/>
              </a:solidFill>
            </a:endParaRPr>
          </a:p>
        </p:txBody>
      </p:sp>
      <p:sp>
        <p:nvSpPr>
          <p:cNvPr id="681" name="Google Shape;681;p44"/>
          <p:cNvSpPr txBox="1"/>
          <p:nvPr/>
        </p:nvSpPr>
        <p:spPr>
          <a:xfrm>
            <a:off x="904600" y="1109150"/>
            <a:ext cx="78900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latin typeface="Poppins"/>
                <a:ea typeface="Poppins"/>
                <a:cs typeface="Poppins"/>
                <a:sym typeface="Poppins"/>
              </a:rPr>
              <a:t>Modelo iid de Paenza</a:t>
            </a:r>
            <a:endParaRPr b="1" sz="1800">
              <a:solidFill>
                <a:srgbClr val="8E7CC3"/>
              </a:solidFill>
              <a:latin typeface="Poppins"/>
              <a:ea typeface="Poppins"/>
              <a:cs typeface="Poppins"/>
              <a:sym typeface="Poppins"/>
            </a:endParaRPr>
          </a:p>
        </p:txBody>
      </p:sp>
      <p:pic>
        <p:nvPicPr>
          <p:cNvPr id="682" name="Google Shape;682;p44"/>
          <p:cNvPicPr preferRelativeResize="0"/>
          <p:nvPr/>
        </p:nvPicPr>
        <p:blipFill>
          <a:blip r:embed="rId3">
            <a:alphaModFix/>
          </a:blip>
          <a:stretch>
            <a:fillRect/>
          </a:stretch>
        </p:blipFill>
        <p:spPr>
          <a:xfrm>
            <a:off x="963175" y="1580100"/>
            <a:ext cx="5798474" cy="3332650"/>
          </a:xfrm>
          <a:prstGeom prst="rect">
            <a:avLst/>
          </a:prstGeom>
          <a:noFill/>
          <a:ln>
            <a:noFill/>
          </a:ln>
        </p:spPr>
      </p:pic>
      <p:sp>
        <p:nvSpPr>
          <p:cNvPr id="683" name="Google Shape;683;p44"/>
          <p:cNvSpPr/>
          <p:nvPr/>
        </p:nvSpPr>
        <p:spPr>
          <a:xfrm>
            <a:off x="0" y="0"/>
            <a:ext cx="447000" cy="3567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t>3</a:t>
            </a:r>
            <a:endParaRPr b="1"/>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