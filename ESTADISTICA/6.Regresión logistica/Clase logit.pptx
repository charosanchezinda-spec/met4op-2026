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Poppi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oppins-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Poppins-italic.fntdata"/><Relationship Id="rId21" Type="http://schemas.openxmlformats.org/officeDocument/2006/relationships/slide" Target="slides/slide16.xml"/><Relationship Id="rId43" Type="http://schemas.openxmlformats.org/officeDocument/2006/relationships/font" Target="fonts/Poppins-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d5b72286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d5b72286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d5b722865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d5b722865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d5b72286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d5b72286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d5b722865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d5b722865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1c1162de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1c1162de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d5b722865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d5b722865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d5b722865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d5b722865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d5b722865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d5b722865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d5b722865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d5b722865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1c1162de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1c1162de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5b7228654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5b7228654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d5b7228654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d5b7228654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5b7228654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d5b7228654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5b7228654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5b7228654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d5b722865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d5b722865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d5b7228654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d5b7228654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d5b7228654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d5b7228654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5b7228654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5b7228654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d5b7228654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d5b7228654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5b722865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d5b7228654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d5b722865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d5b722865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d5b7228654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d5b7228654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d5b7228654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d5b7228654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d5b7228654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d5b7228654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d5b7228654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d5b7228654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d5b7228654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d5b7228654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d5b7228654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d5b7228654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d5b7228654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d5b7228654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d5b7228654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d5b7228654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d5b7228654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d5b7228654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d5b7228654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d5b7228654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5b7228654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d5b7228654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a1c1162de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a1c1162de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a1c1162de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a1c1162de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a1c1162de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a1c1162de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0.png"/><Relationship Id="rId4" Type="http://schemas.openxmlformats.org/officeDocument/2006/relationships/image" Target="../media/image3.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9.png"/><Relationship Id="rId9" Type="http://schemas.openxmlformats.org/officeDocument/2006/relationships/image" Target="../media/image27.png"/><Relationship Id="rId5" Type="http://schemas.openxmlformats.org/officeDocument/2006/relationships/image" Target="../media/image14.png"/><Relationship Id="rId6" Type="http://schemas.openxmlformats.org/officeDocument/2006/relationships/image" Target="../media/image24.png"/><Relationship Id="rId7" Type="http://schemas.openxmlformats.org/officeDocument/2006/relationships/image" Target="../media/image11.png"/><Relationship Id="rId8"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37.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5.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34.png"/><Relationship Id="rId5"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8.png"/><Relationship Id="rId4" Type="http://schemas.openxmlformats.org/officeDocument/2006/relationships/image" Target="../media/image41.png"/><Relationship Id="rId5"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6.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46450" y="205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320"/>
              <a:t>Modelo de regresión logística</a:t>
            </a:r>
            <a:endParaRPr sz="2320"/>
          </a:p>
        </p:txBody>
      </p:sp>
      <p:sp>
        <p:nvSpPr>
          <p:cNvPr id="55" name="Google Shape;55;p13"/>
          <p:cNvSpPr txBox="1"/>
          <p:nvPr>
            <p:ph type="title"/>
          </p:nvPr>
        </p:nvSpPr>
        <p:spPr>
          <a:xfrm>
            <a:off x="311700" y="1119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320"/>
              <a:t>En el modelo de regresión lineal visto anteriormente la variable de interés era numérica, por ejemplo: salario.</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rPr lang="es" sz="2320"/>
              <a:t>Pero ¿qué sucede cuando se quiere explicar una variable categórica en función de ciertas variables observadas?</a:t>
            </a:r>
            <a:endParaRPr sz="2320"/>
          </a:p>
          <a:p>
            <a:pPr indent="0" lvl="0" marL="0" rtl="0" algn="l">
              <a:spcBef>
                <a:spcPts val="0"/>
              </a:spcBef>
              <a:spcAft>
                <a:spcPts val="0"/>
              </a:spcAft>
              <a:buSzPts val="990"/>
              <a:buNone/>
            </a:pPr>
            <a:r>
              <a:rPr lang="es" sz="2320"/>
              <a:t>por ejemplo: ser peronista o antiperonista.</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t/>
            </a:r>
            <a:endParaRPr sz="23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7784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320"/>
              <a:t>En estos casos se utiliza el método de regresión logística o modelo logit:</a:t>
            </a:r>
            <a:endParaRPr sz="2320"/>
          </a:p>
          <a:p>
            <a:pPr indent="0" lvl="0" marL="0" rtl="0" algn="l">
              <a:spcBef>
                <a:spcPts val="0"/>
              </a:spcBef>
              <a:spcAft>
                <a:spcPts val="0"/>
              </a:spcAft>
              <a:buSzPts val="990"/>
              <a:buNone/>
            </a:pPr>
            <a:r>
              <a:t/>
            </a:r>
            <a:endParaRPr sz="2320"/>
          </a:p>
          <a:p>
            <a:pPr indent="-375920" lvl="0" marL="457200" rtl="0" algn="l">
              <a:spcBef>
                <a:spcPts val="0"/>
              </a:spcBef>
              <a:spcAft>
                <a:spcPts val="0"/>
              </a:spcAft>
              <a:buSzPts val="2320"/>
              <a:buChar char="●"/>
            </a:pPr>
            <a:r>
              <a:rPr lang="es" sz="2320"/>
              <a:t>Binomial (cuando la variable dependiente admite dos valores: 0, 1, sí, no)</a:t>
            </a:r>
            <a:endParaRPr sz="2320"/>
          </a:p>
          <a:p>
            <a:pPr indent="-375920" lvl="0" marL="457200" rtl="0" algn="l">
              <a:spcBef>
                <a:spcPts val="0"/>
              </a:spcBef>
              <a:spcAft>
                <a:spcPts val="0"/>
              </a:spcAft>
              <a:buSzPts val="2320"/>
              <a:buChar char="●"/>
            </a:pPr>
            <a:r>
              <a:rPr lang="es" sz="2320"/>
              <a:t>Multinomial (cuando la variable dependiente se representa en tres o más categorías: votante de la UCR, votante del peronismo, votante del PRO)</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rPr lang="es" sz="2320"/>
              <a:t>Los nombres se deben en cada caso a la distribución asociada a la estimación de la probabilidad.</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t/>
            </a:r>
            <a:endParaRPr sz="2320"/>
          </a:p>
        </p:txBody>
      </p:sp>
      <p:sp>
        <p:nvSpPr>
          <p:cNvPr id="61" name="Google Shape;61;p14"/>
          <p:cNvSpPr txBox="1"/>
          <p:nvPr>
            <p:ph type="title"/>
          </p:nvPr>
        </p:nvSpPr>
        <p:spPr>
          <a:xfrm>
            <a:off x="246450" y="205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320"/>
              <a:t>Modelo de regresión logística</a:t>
            </a:r>
            <a:endParaRPr sz="232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latin typeface="Poppins"/>
                <a:ea typeface="Poppins"/>
                <a:cs typeface="Poppins"/>
                <a:sym typeface="Poppins"/>
              </a:rPr>
              <a:t>Regresión logística</a:t>
            </a:r>
            <a:endParaRPr>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0" y="205775"/>
            <a:ext cx="924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320"/>
              <a:t>Modelo de regresión logística con variable dependiente binaria o dummy</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rPr lang="es" sz="2320"/>
              <a:t>Ejemplo: puntaje crediticio.</a:t>
            </a:r>
            <a:endParaRPr sz="2320"/>
          </a:p>
          <a:p>
            <a:pPr indent="0" lvl="0" marL="0" rtl="0" algn="l">
              <a:spcBef>
                <a:spcPts val="0"/>
              </a:spcBef>
              <a:spcAft>
                <a:spcPts val="0"/>
              </a:spcAft>
              <a:buSzPts val="990"/>
              <a:buNone/>
            </a:pPr>
            <a:r>
              <a:rPr lang="es" sz="2320"/>
              <a:t>Se busca estimar la probabilidad de repago de un crédito dadas ciertas variables explicativas consideradas relevantes para explicar esta probabilidad.</a:t>
            </a:r>
            <a:endParaRPr sz="2320"/>
          </a:p>
          <a:p>
            <a:pPr indent="0" lvl="0" marL="0" rtl="0" algn="l">
              <a:spcBef>
                <a:spcPts val="0"/>
              </a:spcBef>
              <a:spcAft>
                <a:spcPts val="0"/>
              </a:spcAft>
              <a:buSzPts val="990"/>
              <a:buNone/>
            </a:pPr>
            <a:r>
              <a:t/>
            </a:r>
            <a:endParaRPr sz="2320"/>
          </a:p>
          <a:p>
            <a:pPr indent="0" lvl="0" marL="0" rtl="0" algn="l">
              <a:spcBef>
                <a:spcPts val="0"/>
              </a:spcBef>
              <a:spcAft>
                <a:spcPts val="0"/>
              </a:spcAft>
              <a:buSzPts val="990"/>
              <a:buNone/>
            </a:pPr>
            <a:r>
              <a:rPr lang="es" sz="2320"/>
              <a:t>Variable dependiente: probabilidad de repago de un crédito</a:t>
            </a:r>
            <a:endParaRPr sz="2320"/>
          </a:p>
          <a:p>
            <a:pPr indent="0" lvl="0" marL="0" rtl="0" algn="l">
              <a:spcBef>
                <a:spcPts val="0"/>
              </a:spcBef>
              <a:spcAft>
                <a:spcPts val="0"/>
              </a:spcAft>
              <a:buSzPts val="990"/>
              <a:buNone/>
            </a:pPr>
            <a:r>
              <a:rPr lang="es" sz="2320"/>
              <a:t>1 = se paga el crédito</a:t>
            </a:r>
            <a:endParaRPr sz="2320"/>
          </a:p>
          <a:p>
            <a:pPr indent="0" lvl="0" marL="0" rtl="0" algn="l">
              <a:spcBef>
                <a:spcPts val="0"/>
              </a:spcBef>
              <a:spcAft>
                <a:spcPts val="0"/>
              </a:spcAft>
              <a:buSzPts val="990"/>
              <a:buNone/>
            </a:pPr>
            <a:r>
              <a:rPr lang="es" sz="2320"/>
              <a:t>0 = no se paga el crédito</a:t>
            </a:r>
            <a:endParaRPr sz="23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47175" y="0"/>
            <a:ext cx="937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 </a:t>
            </a:r>
            <a:endParaRPr sz="2220"/>
          </a:p>
          <a:p>
            <a:pPr indent="0" lvl="0" marL="0" rtl="0" algn="l">
              <a:spcBef>
                <a:spcPts val="0"/>
              </a:spcBef>
              <a:spcAft>
                <a:spcPts val="0"/>
              </a:spcAft>
              <a:buSzPts val="990"/>
              <a:buNone/>
            </a:pPr>
            <a:r>
              <a:rPr b="1" lang="es" sz="2220"/>
              <a:t>Modelo de probabilidad lineal</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rPr lang="es" sz="2020"/>
              <a:t>El valor esperado de Y es el promedio de sus valores posibles, ponderados por la probabilidad de que cada uno ocurra</a:t>
            </a:r>
            <a:r>
              <a:rPr lang="es" sz="2020"/>
              <a:t>. Siendo que Y = 0 o 1:</a:t>
            </a:r>
            <a:endParaRPr sz="2020"/>
          </a:p>
          <a:p>
            <a:pPr indent="0" lvl="0" marL="0" rtl="0" algn="l">
              <a:spcBef>
                <a:spcPts val="0"/>
              </a:spcBef>
              <a:spcAft>
                <a:spcPts val="0"/>
              </a:spcAft>
              <a:buSzPts val="990"/>
              <a:buNone/>
            </a:pPr>
            <a:r>
              <a:t/>
            </a:r>
            <a:endParaRPr sz="2220"/>
          </a:p>
          <a:p>
            <a:pPr indent="0" lvl="0" marL="0" rtl="0" algn="l">
              <a:spcBef>
                <a:spcPts val="0"/>
              </a:spcBef>
              <a:spcAft>
                <a:spcPts val="0"/>
              </a:spcAft>
              <a:buNone/>
            </a:pPr>
            <a:r>
              <a:t/>
            </a:r>
            <a:endParaRPr sz="600">
              <a:solidFill>
                <a:srgbClr val="000000"/>
              </a:solidFill>
            </a:endParaRPr>
          </a:p>
          <a:p>
            <a:pPr indent="0" lvl="0" marL="0" rtl="0" algn="l">
              <a:spcBef>
                <a:spcPts val="0"/>
              </a:spcBef>
              <a:spcAft>
                <a:spcPts val="0"/>
              </a:spcAft>
              <a:buSzPts val="990"/>
              <a:buNone/>
            </a:pPr>
            <a:r>
              <a:t/>
            </a:r>
            <a:endParaRPr sz="2220"/>
          </a:p>
        </p:txBody>
      </p:sp>
      <p:sp>
        <p:nvSpPr>
          <p:cNvPr id="77" name="Google Shape;77;p17"/>
          <p:cNvSpPr txBox="1"/>
          <p:nvPr/>
        </p:nvSpPr>
        <p:spPr>
          <a:xfrm>
            <a:off x="107425" y="4282850"/>
            <a:ext cx="9031500" cy="83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20">
                <a:solidFill>
                  <a:schemeClr val="dk1"/>
                </a:solidFill>
              </a:rPr>
              <a:t>Cuando la VD es binaria, la esperanza coincide con la probabilidad del evento analizado. Si es repago es probabilidad de repago, por ejemplo.</a:t>
            </a:r>
            <a:endParaRPr/>
          </a:p>
        </p:txBody>
      </p:sp>
      <p:pic>
        <p:nvPicPr>
          <p:cNvPr id="78" name="Google Shape;78;p17"/>
          <p:cNvPicPr preferRelativeResize="0"/>
          <p:nvPr/>
        </p:nvPicPr>
        <p:blipFill>
          <a:blip r:embed="rId3">
            <a:alphaModFix/>
          </a:blip>
          <a:stretch>
            <a:fillRect/>
          </a:stretch>
        </p:blipFill>
        <p:spPr>
          <a:xfrm>
            <a:off x="2794625" y="2071100"/>
            <a:ext cx="3305175" cy="742950"/>
          </a:xfrm>
          <a:prstGeom prst="rect">
            <a:avLst/>
          </a:prstGeom>
          <a:noFill/>
          <a:ln>
            <a:noFill/>
          </a:ln>
        </p:spPr>
      </p:pic>
      <p:pic>
        <p:nvPicPr>
          <p:cNvPr id="79" name="Google Shape;79;p17"/>
          <p:cNvPicPr preferRelativeResize="0"/>
          <p:nvPr/>
        </p:nvPicPr>
        <p:blipFill>
          <a:blip r:embed="rId4">
            <a:alphaModFix/>
          </a:blip>
          <a:stretch>
            <a:fillRect/>
          </a:stretch>
        </p:blipFill>
        <p:spPr>
          <a:xfrm>
            <a:off x="2199313" y="2884509"/>
            <a:ext cx="4495800" cy="428625"/>
          </a:xfrm>
          <a:prstGeom prst="rect">
            <a:avLst/>
          </a:prstGeom>
          <a:noFill/>
          <a:ln>
            <a:noFill/>
          </a:ln>
        </p:spPr>
      </p:pic>
      <p:pic>
        <p:nvPicPr>
          <p:cNvPr id="80" name="Google Shape;80;p17"/>
          <p:cNvPicPr preferRelativeResize="0"/>
          <p:nvPr/>
        </p:nvPicPr>
        <p:blipFill>
          <a:blip r:embed="rId5">
            <a:alphaModFix/>
          </a:blip>
          <a:stretch>
            <a:fillRect/>
          </a:stretch>
        </p:blipFill>
        <p:spPr>
          <a:xfrm>
            <a:off x="3110121" y="3444325"/>
            <a:ext cx="1476375" cy="54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47175" y="0"/>
            <a:ext cx="937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El promedio de la variable binaria coincide con la probabilidad de ocurrencia:</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86" name="Google Shape;86;p18"/>
          <p:cNvPicPr preferRelativeResize="0"/>
          <p:nvPr/>
        </p:nvPicPr>
        <p:blipFill>
          <a:blip r:embed="rId3">
            <a:alphaModFix/>
          </a:blip>
          <a:stretch>
            <a:fillRect/>
          </a:stretch>
        </p:blipFill>
        <p:spPr>
          <a:xfrm>
            <a:off x="2295525" y="948211"/>
            <a:ext cx="4552950" cy="1981200"/>
          </a:xfrm>
          <a:prstGeom prst="rect">
            <a:avLst/>
          </a:prstGeom>
          <a:noFill/>
          <a:ln>
            <a:noFill/>
          </a:ln>
        </p:spPr>
      </p:pic>
      <p:pic>
        <p:nvPicPr>
          <p:cNvPr id="87" name="Google Shape;87;p18"/>
          <p:cNvPicPr preferRelativeResize="0"/>
          <p:nvPr/>
        </p:nvPicPr>
        <p:blipFill>
          <a:blip r:embed="rId4">
            <a:alphaModFix/>
          </a:blip>
          <a:stretch>
            <a:fillRect/>
          </a:stretch>
        </p:blipFill>
        <p:spPr>
          <a:xfrm>
            <a:off x="1784698" y="3081811"/>
            <a:ext cx="5440548" cy="19092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47175" y="0"/>
            <a:ext cx="903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b="1" lang="es" sz="2220"/>
              <a:t>Modelo de probabilidad lineal</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93" name="Google Shape;93;p19"/>
          <p:cNvPicPr preferRelativeResize="0"/>
          <p:nvPr/>
        </p:nvPicPr>
        <p:blipFill>
          <a:blip r:embed="rId3">
            <a:alphaModFix/>
          </a:blip>
          <a:stretch>
            <a:fillRect/>
          </a:stretch>
        </p:blipFill>
        <p:spPr>
          <a:xfrm>
            <a:off x="2459675" y="1614800"/>
            <a:ext cx="4422521" cy="572700"/>
          </a:xfrm>
          <a:prstGeom prst="rect">
            <a:avLst/>
          </a:prstGeom>
          <a:noFill/>
          <a:ln>
            <a:noFill/>
          </a:ln>
        </p:spPr>
      </p:pic>
      <p:sp>
        <p:nvSpPr>
          <p:cNvPr id="94" name="Google Shape;94;p19"/>
          <p:cNvSpPr txBox="1"/>
          <p:nvPr/>
        </p:nvSpPr>
        <p:spPr>
          <a:xfrm>
            <a:off x="584088" y="2853100"/>
            <a:ext cx="7975800" cy="86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Se expresa la probabilidad del evento estudiado como función lineal de los coeficientes del modelo.</a:t>
            </a:r>
            <a:endParaRPr/>
          </a:p>
        </p:txBody>
      </p:sp>
      <p:sp>
        <p:nvSpPr>
          <p:cNvPr id="95" name="Google Shape;95;p19"/>
          <p:cNvSpPr txBox="1"/>
          <p:nvPr/>
        </p:nvSpPr>
        <p:spPr>
          <a:xfrm>
            <a:off x="0" y="-45300"/>
            <a:ext cx="9144000" cy="51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20">
                <a:solidFill>
                  <a:schemeClr val="dk1"/>
                </a:solidFill>
              </a:rPr>
              <a:t>Modelo de regresión logística con variable dependiente binaria o dummy</a:t>
            </a:r>
            <a:endParaRPr sz="212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47175" y="0"/>
            <a:ext cx="925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 </a:t>
            </a:r>
            <a:endParaRPr sz="2220"/>
          </a:p>
          <a:p>
            <a:pPr indent="0" lvl="0" marL="0" rtl="0" algn="l">
              <a:spcBef>
                <a:spcPts val="0"/>
              </a:spcBef>
              <a:spcAft>
                <a:spcPts val="0"/>
              </a:spcAft>
              <a:buSzPts val="990"/>
              <a:buNone/>
            </a:pPr>
            <a:r>
              <a:rPr b="1" lang="es" sz="2220"/>
              <a:t>Modelo de probabilidad lineal</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sp>
        <p:nvSpPr>
          <p:cNvPr id="101" name="Google Shape;101;p20"/>
          <p:cNvSpPr txBox="1"/>
          <p:nvPr/>
        </p:nvSpPr>
        <p:spPr>
          <a:xfrm>
            <a:off x="126000" y="894725"/>
            <a:ext cx="8892000" cy="155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Limitación de este modelo: el método de mínimos cuadrados clásicos estima una recta que minimiza la suma de residuos al cuadrado, pero que puede arrojar valores de Y negativos y por encima de 1, es decir fuera del intervalo [0, 1] que es lo que admite la probabilidad.</a:t>
            </a:r>
            <a:endParaRPr/>
          </a:p>
        </p:txBody>
      </p:sp>
      <p:pic>
        <p:nvPicPr>
          <p:cNvPr id="102" name="Google Shape;102;p20"/>
          <p:cNvPicPr preferRelativeResize="0"/>
          <p:nvPr/>
        </p:nvPicPr>
        <p:blipFill>
          <a:blip r:embed="rId3">
            <a:alphaModFix/>
          </a:blip>
          <a:stretch>
            <a:fillRect/>
          </a:stretch>
        </p:blipFill>
        <p:spPr>
          <a:xfrm>
            <a:off x="3438850" y="2571750"/>
            <a:ext cx="2433981" cy="2392375"/>
          </a:xfrm>
          <a:prstGeom prst="rect">
            <a:avLst/>
          </a:prstGeom>
          <a:noFill/>
          <a:ln>
            <a:noFill/>
          </a:ln>
        </p:spPr>
      </p:pic>
      <p:pic>
        <p:nvPicPr>
          <p:cNvPr id="103" name="Google Shape;103;p20"/>
          <p:cNvPicPr preferRelativeResize="0"/>
          <p:nvPr/>
        </p:nvPicPr>
        <p:blipFill>
          <a:blip r:embed="rId4">
            <a:alphaModFix/>
          </a:blip>
          <a:stretch>
            <a:fillRect/>
          </a:stretch>
        </p:blipFill>
        <p:spPr>
          <a:xfrm>
            <a:off x="5214850" y="3034500"/>
            <a:ext cx="358575" cy="438775"/>
          </a:xfrm>
          <a:prstGeom prst="rect">
            <a:avLst/>
          </a:prstGeom>
          <a:noFill/>
          <a:ln>
            <a:noFill/>
          </a:ln>
        </p:spPr>
      </p:pic>
      <p:sp>
        <p:nvSpPr>
          <p:cNvPr id="104" name="Google Shape;104;p20"/>
          <p:cNvSpPr txBox="1"/>
          <p:nvPr/>
        </p:nvSpPr>
        <p:spPr>
          <a:xfrm>
            <a:off x="3223363" y="4061450"/>
            <a:ext cx="30000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0</a:t>
            </a:r>
            <a:endParaRPr/>
          </a:p>
        </p:txBody>
      </p:sp>
      <p:sp>
        <p:nvSpPr>
          <p:cNvPr id="105" name="Google Shape;105;p20"/>
          <p:cNvSpPr txBox="1"/>
          <p:nvPr/>
        </p:nvSpPr>
        <p:spPr>
          <a:xfrm>
            <a:off x="3223375" y="2768350"/>
            <a:ext cx="30000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pic>
        <p:nvPicPr>
          <p:cNvPr id="106" name="Google Shape;106;p20"/>
          <p:cNvPicPr preferRelativeResize="0"/>
          <p:nvPr/>
        </p:nvPicPr>
        <p:blipFill>
          <a:blip r:embed="rId5">
            <a:alphaModFix/>
          </a:blip>
          <a:stretch>
            <a:fillRect/>
          </a:stretch>
        </p:blipFill>
        <p:spPr>
          <a:xfrm>
            <a:off x="5872825" y="4392833"/>
            <a:ext cx="358575" cy="4388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47175" y="0"/>
            <a:ext cx="9433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 </a:t>
            </a:r>
            <a:endParaRPr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sp>
        <p:nvSpPr>
          <p:cNvPr id="112" name="Google Shape;112;p21"/>
          <p:cNvSpPr txBox="1"/>
          <p:nvPr/>
        </p:nvSpPr>
        <p:spPr>
          <a:xfrm>
            <a:off x="126000" y="894725"/>
            <a:ext cx="8892000" cy="86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Para solucionar este problema se utiliza la función logística que transforma las probabilidades originales para que estén entre 0 y 1</a:t>
            </a:r>
            <a:endParaRPr/>
          </a:p>
        </p:txBody>
      </p:sp>
      <p:pic>
        <p:nvPicPr>
          <p:cNvPr id="113" name="Google Shape;113;p21"/>
          <p:cNvPicPr preferRelativeResize="0"/>
          <p:nvPr/>
        </p:nvPicPr>
        <p:blipFill>
          <a:blip r:embed="rId3">
            <a:alphaModFix/>
          </a:blip>
          <a:stretch>
            <a:fillRect/>
          </a:stretch>
        </p:blipFill>
        <p:spPr>
          <a:xfrm>
            <a:off x="2920245" y="2180500"/>
            <a:ext cx="3048000" cy="2286000"/>
          </a:xfrm>
          <a:prstGeom prst="rect">
            <a:avLst/>
          </a:prstGeom>
          <a:noFill/>
          <a:ln>
            <a:noFill/>
          </a:ln>
        </p:spPr>
      </p:pic>
      <p:pic>
        <p:nvPicPr>
          <p:cNvPr id="114" name="Google Shape;114;p21"/>
          <p:cNvPicPr preferRelativeResize="0"/>
          <p:nvPr/>
        </p:nvPicPr>
        <p:blipFill rotWithShape="1">
          <a:blip r:embed="rId4">
            <a:alphaModFix/>
          </a:blip>
          <a:srcRect b="-5680" l="0" r="0" t="5680"/>
          <a:stretch/>
        </p:blipFill>
        <p:spPr>
          <a:xfrm>
            <a:off x="6799025" y="2689191"/>
            <a:ext cx="1524000" cy="828675"/>
          </a:xfrm>
          <a:prstGeom prst="rect">
            <a:avLst/>
          </a:prstGeom>
          <a:noFill/>
          <a:ln>
            <a:noFill/>
          </a:ln>
        </p:spPr>
      </p:pic>
      <p:sp>
        <p:nvSpPr>
          <p:cNvPr id="115" name="Google Shape;115;p21"/>
          <p:cNvSpPr txBox="1"/>
          <p:nvPr/>
        </p:nvSpPr>
        <p:spPr>
          <a:xfrm>
            <a:off x="6163505" y="3651841"/>
            <a:ext cx="3000000" cy="68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chemeClr val="dk1"/>
                </a:solidFill>
              </a:rPr>
              <a:t>Chances de éxito relativas a chances de éxito + fracaso</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89525" y="0"/>
            <a:ext cx="949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 </a:t>
            </a:r>
            <a:endParaRPr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121" name="Google Shape;121;p22"/>
          <p:cNvPicPr preferRelativeResize="0"/>
          <p:nvPr/>
        </p:nvPicPr>
        <p:blipFill>
          <a:blip r:embed="rId3">
            <a:alphaModFix/>
          </a:blip>
          <a:stretch>
            <a:fillRect/>
          </a:stretch>
        </p:blipFill>
        <p:spPr>
          <a:xfrm>
            <a:off x="1206575" y="911175"/>
            <a:ext cx="6906700" cy="3517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89525" y="0"/>
            <a:ext cx="949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 </a:t>
            </a:r>
            <a:endParaRPr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sp>
        <p:nvSpPr>
          <p:cNvPr id="127" name="Google Shape;127;p23"/>
          <p:cNvSpPr txBox="1"/>
          <p:nvPr>
            <p:ph type="title"/>
          </p:nvPr>
        </p:nvSpPr>
        <p:spPr>
          <a:xfrm>
            <a:off x="-58716" y="408282"/>
            <a:ext cx="949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120"/>
              <a:t>Ejemplo con VD llamada luego de recibir el CV</a:t>
            </a:r>
            <a:endParaRPr sz="2120"/>
          </a:p>
          <a:p>
            <a:pPr indent="0" lvl="0" marL="0" rtl="0" algn="l">
              <a:spcBef>
                <a:spcPts val="0"/>
              </a:spcBef>
              <a:spcAft>
                <a:spcPts val="0"/>
              </a:spcAft>
              <a:buSzPts val="990"/>
              <a:buNone/>
            </a:pPr>
            <a:r>
              <a:t/>
            </a:r>
            <a:endParaRPr b="1" sz="2120"/>
          </a:p>
          <a:p>
            <a:pPr indent="0" lvl="0" marL="0" rtl="0" algn="l">
              <a:spcBef>
                <a:spcPts val="0"/>
              </a:spcBef>
              <a:spcAft>
                <a:spcPts val="0"/>
              </a:spcAft>
              <a:buSzPts val="990"/>
              <a:buNone/>
            </a:pPr>
            <a:r>
              <a:t/>
            </a:r>
            <a:endParaRPr b="1" sz="2120"/>
          </a:p>
          <a:p>
            <a:pPr indent="0" lvl="0" marL="0" rtl="0" algn="l">
              <a:spcBef>
                <a:spcPts val="0"/>
              </a:spcBef>
              <a:spcAft>
                <a:spcPts val="0"/>
              </a:spcAft>
              <a:buSzPts val="990"/>
              <a:buNone/>
            </a:pPr>
            <a:r>
              <a:t/>
            </a:r>
            <a:endParaRPr sz="2120"/>
          </a:p>
        </p:txBody>
      </p:sp>
      <p:pic>
        <p:nvPicPr>
          <p:cNvPr id="128" name="Google Shape;128;p23"/>
          <p:cNvPicPr preferRelativeResize="0"/>
          <p:nvPr/>
        </p:nvPicPr>
        <p:blipFill>
          <a:blip r:embed="rId3">
            <a:alphaModFix/>
          </a:blip>
          <a:stretch>
            <a:fillRect/>
          </a:stretch>
        </p:blipFill>
        <p:spPr>
          <a:xfrm>
            <a:off x="1728699" y="898528"/>
            <a:ext cx="5862450" cy="369050"/>
          </a:xfrm>
          <a:prstGeom prst="rect">
            <a:avLst/>
          </a:prstGeom>
          <a:noFill/>
          <a:ln>
            <a:noFill/>
          </a:ln>
        </p:spPr>
      </p:pic>
      <p:pic>
        <p:nvPicPr>
          <p:cNvPr id="129" name="Google Shape;129;p23"/>
          <p:cNvPicPr preferRelativeResize="0"/>
          <p:nvPr/>
        </p:nvPicPr>
        <p:blipFill>
          <a:blip r:embed="rId4">
            <a:alphaModFix/>
          </a:blip>
          <a:stretch>
            <a:fillRect/>
          </a:stretch>
        </p:blipFill>
        <p:spPr>
          <a:xfrm>
            <a:off x="1867400" y="1395920"/>
            <a:ext cx="5193222" cy="3107755"/>
          </a:xfrm>
          <a:prstGeom prst="rect">
            <a:avLst/>
          </a:prstGeom>
          <a:noFill/>
          <a:ln>
            <a:noFill/>
          </a:ln>
        </p:spPr>
      </p:pic>
      <p:pic>
        <p:nvPicPr>
          <p:cNvPr id="130" name="Google Shape;130;p23"/>
          <p:cNvPicPr preferRelativeResize="0"/>
          <p:nvPr/>
        </p:nvPicPr>
        <p:blipFill>
          <a:blip r:embed="rId5">
            <a:alphaModFix/>
          </a:blip>
          <a:stretch>
            <a:fillRect/>
          </a:stretch>
        </p:blipFill>
        <p:spPr>
          <a:xfrm>
            <a:off x="1925588" y="4667250"/>
            <a:ext cx="5076825" cy="476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47175" y="0"/>
            <a:ext cx="925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Definamos la probabilidad de repago de un crédito en función de utilidades:</a:t>
            </a:r>
            <a:endParaRPr sz="2220"/>
          </a:p>
          <a:p>
            <a:pPr indent="0" lvl="0" marL="0" rtl="0" algn="l">
              <a:spcBef>
                <a:spcPts val="0"/>
              </a:spcBef>
              <a:spcAft>
                <a:spcPts val="0"/>
              </a:spcAft>
              <a:buSzPts val="990"/>
              <a:buNone/>
            </a:pPr>
            <a:r>
              <a:t/>
            </a:r>
            <a:endParaRPr sz="2220"/>
          </a:p>
          <a:p>
            <a:pPr indent="-369570" lvl="0" marL="457200" rtl="0" algn="l">
              <a:spcBef>
                <a:spcPts val="0"/>
              </a:spcBef>
              <a:spcAft>
                <a:spcPts val="0"/>
              </a:spcAft>
              <a:buSzPts val="2220"/>
              <a:buChar char="●"/>
            </a:pPr>
            <a:r>
              <a:rPr lang="es" sz="2220"/>
              <a:t>i repaga el crédito si </a:t>
            </a:r>
            <a:endParaRPr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136" name="Google Shape;136;p24"/>
          <p:cNvPicPr preferRelativeResize="0"/>
          <p:nvPr/>
        </p:nvPicPr>
        <p:blipFill>
          <a:blip r:embed="rId3">
            <a:alphaModFix/>
          </a:blip>
          <a:stretch>
            <a:fillRect/>
          </a:stretch>
        </p:blipFill>
        <p:spPr>
          <a:xfrm>
            <a:off x="3563700" y="2289525"/>
            <a:ext cx="1809750" cy="685800"/>
          </a:xfrm>
          <a:prstGeom prst="rect">
            <a:avLst/>
          </a:prstGeom>
          <a:noFill/>
          <a:ln>
            <a:noFill/>
          </a:ln>
        </p:spPr>
      </p:pic>
      <p:pic>
        <p:nvPicPr>
          <p:cNvPr id="137" name="Google Shape;137;p24"/>
          <p:cNvPicPr preferRelativeResize="0"/>
          <p:nvPr/>
        </p:nvPicPr>
        <p:blipFill>
          <a:blip r:embed="rId4">
            <a:alphaModFix/>
          </a:blip>
          <a:stretch>
            <a:fillRect/>
          </a:stretch>
        </p:blipFill>
        <p:spPr>
          <a:xfrm>
            <a:off x="2881313" y="3161500"/>
            <a:ext cx="3381375" cy="638175"/>
          </a:xfrm>
          <a:prstGeom prst="rect">
            <a:avLst/>
          </a:prstGeom>
          <a:noFill/>
          <a:ln>
            <a:noFill/>
          </a:ln>
        </p:spPr>
      </p:pic>
      <p:pic>
        <p:nvPicPr>
          <p:cNvPr id="138" name="Google Shape;138;p24"/>
          <p:cNvPicPr preferRelativeResize="0"/>
          <p:nvPr/>
        </p:nvPicPr>
        <p:blipFill>
          <a:blip r:embed="rId5">
            <a:alphaModFix/>
          </a:blip>
          <a:stretch>
            <a:fillRect/>
          </a:stretch>
        </p:blipFill>
        <p:spPr>
          <a:xfrm>
            <a:off x="2763575" y="3985850"/>
            <a:ext cx="4171950" cy="781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47175" y="0"/>
            <a:ext cx="931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356870" lvl="0" marL="457200" rtl="0" algn="l">
              <a:spcBef>
                <a:spcPts val="0"/>
              </a:spcBef>
              <a:spcAft>
                <a:spcPts val="0"/>
              </a:spcAft>
              <a:buSzPts val="2020"/>
              <a:buChar char="●"/>
            </a:pPr>
            <a:r>
              <a:rPr lang="es" sz="2020"/>
              <a:t>i repaga el crédito si</a:t>
            </a:r>
            <a:endParaRPr sz="20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sp>
        <p:nvSpPr>
          <p:cNvPr id="144" name="Google Shape;144;p25"/>
          <p:cNvSpPr txBox="1"/>
          <p:nvPr/>
        </p:nvSpPr>
        <p:spPr>
          <a:xfrm>
            <a:off x="141150" y="3694645"/>
            <a:ext cx="8921400" cy="136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20">
                <a:solidFill>
                  <a:schemeClr val="dk1"/>
                </a:solidFill>
              </a:rPr>
              <a:t>Con distribución logística,</a:t>
            </a:r>
            <a:endParaRPr sz="1920">
              <a:solidFill>
                <a:schemeClr val="dk1"/>
              </a:solidFill>
            </a:endParaRPr>
          </a:p>
          <a:p>
            <a:pPr indent="0" lvl="0" marL="0" rtl="0" algn="l">
              <a:spcBef>
                <a:spcPts val="0"/>
              </a:spcBef>
              <a:spcAft>
                <a:spcPts val="0"/>
              </a:spcAft>
              <a:buNone/>
            </a:pPr>
            <a:r>
              <a:t/>
            </a:r>
            <a:endParaRPr sz="1920">
              <a:solidFill>
                <a:schemeClr val="dk1"/>
              </a:solidFill>
            </a:endParaRPr>
          </a:p>
          <a:p>
            <a:pPr indent="0" lvl="0" marL="0" rtl="0" algn="l">
              <a:spcBef>
                <a:spcPts val="0"/>
              </a:spcBef>
              <a:spcAft>
                <a:spcPts val="0"/>
              </a:spcAft>
              <a:buNone/>
            </a:pPr>
            <a:r>
              <a:t/>
            </a:r>
            <a:endParaRPr sz="1920">
              <a:solidFill>
                <a:schemeClr val="dk1"/>
              </a:solidFill>
            </a:endParaRPr>
          </a:p>
          <a:p>
            <a:pPr indent="0" lvl="0" marL="0" rtl="0" algn="l">
              <a:spcBef>
                <a:spcPts val="0"/>
              </a:spcBef>
              <a:spcAft>
                <a:spcPts val="0"/>
              </a:spcAft>
              <a:buNone/>
            </a:pPr>
            <a:r>
              <a:rPr lang="es" sz="1920">
                <a:solidFill>
                  <a:schemeClr val="dk1"/>
                </a:solidFill>
              </a:rPr>
              <a:t>representa la función de distribución acumulada hasta  </a:t>
            </a:r>
            <a:endParaRPr sz="1100"/>
          </a:p>
        </p:txBody>
      </p:sp>
      <p:pic>
        <p:nvPicPr>
          <p:cNvPr id="145" name="Google Shape;145;p25"/>
          <p:cNvPicPr preferRelativeResize="0"/>
          <p:nvPr/>
        </p:nvPicPr>
        <p:blipFill>
          <a:blip r:embed="rId3">
            <a:alphaModFix/>
          </a:blip>
          <a:stretch>
            <a:fillRect/>
          </a:stretch>
        </p:blipFill>
        <p:spPr>
          <a:xfrm>
            <a:off x="3282697" y="4101966"/>
            <a:ext cx="2476500" cy="400050"/>
          </a:xfrm>
          <a:prstGeom prst="rect">
            <a:avLst/>
          </a:prstGeom>
          <a:noFill/>
          <a:ln>
            <a:noFill/>
          </a:ln>
        </p:spPr>
      </p:pic>
      <p:pic>
        <p:nvPicPr>
          <p:cNvPr id="146" name="Google Shape;146;p25"/>
          <p:cNvPicPr preferRelativeResize="0"/>
          <p:nvPr/>
        </p:nvPicPr>
        <p:blipFill>
          <a:blip r:embed="rId4">
            <a:alphaModFix/>
          </a:blip>
          <a:stretch>
            <a:fillRect/>
          </a:stretch>
        </p:blipFill>
        <p:spPr>
          <a:xfrm>
            <a:off x="6521754" y="4571366"/>
            <a:ext cx="1190625" cy="400050"/>
          </a:xfrm>
          <a:prstGeom prst="rect">
            <a:avLst/>
          </a:prstGeom>
          <a:noFill/>
          <a:ln>
            <a:noFill/>
          </a:ln>
        </p:spPr>
      </p:pic>
      <p:pic>
        <p:nvPicPr>
          <p:cNvPr id="147" name="Google Shape;147;p25"/>
          <p:cNvPicPr preferRelativeResize="0"/>
          <p:nvPr/>
        </p:nvPicPr>
        <p:blipFill>
          <a:blip r:embed="rId5">
            <a:alphaModFix/>
          </a:blip>
          <a:stretch>
            <a:fillRect/>
          </a:stretch>
        </p:blipFill>
        <p:spPr>
          <a:xfrm>
            <a:off x="3874975" y="560680"/>
            <a:ext cx="1295400" cy="542925"/>
          </a:xfrm>
          <a:prstGeom prst="rect">
            <a:avLst/>
          </a:prstGeom>
          <a:noFill/>
          <a:ln>
            <a:noFill/>
          </a:ln>
        </p:spPr>
      </p:pic>
      <p:pic>
        <p:nvPicPr>
          <p:cNvPr id="148" name="Google Shape;148;p25"/>
          <p:cNvPicPr preferRelativeResize="0"/>
          <p:nvPr/>
        </p:nvPicPr>
        <p:blipFill>
          <a:blip r:embed="rId6">
            <a:alphaModFix/>
          </a:blip>
          <a:stretch>
            <a:fillRect/>
          </a:stretch>
        </p:blipFill>
        <p:spPr>
          <a:xfrm>
            <a:off x="2477544" y="1256005"/>
            <a:ext cx="4124325" cy="400050"/>
          </a:xfrm>
          <a:prstGeom prst="rect">
            <a:avLst/>
          </a:prstGeom>
          <a:noFill/>
          <a:ln>
            <a:noFill/>
          </a:ln>
        </p:spPr>
      </p:pic>
      <p:pic>
        <p:nvPicPr>
          <p:cNvPr id="149" name="Google Shape;149;p25"/>
          <p:cNvPicPr preferRelativeResize="0"/>
          <p:nvPr/>
        </p:nvPicPr>
        <p:blipFill>
          <a:blip r:embed="rId7">
            <a:alphaModFix/>
          </a:blip>
          <a:stretch>
            <a:fillRect/>
          </a:stretch>
        </p:blipFill>
        <p:spPr>
          <a:xfrm>
            <a:off x="2398593" y="1831941"/>
            <a:ext cx="4248150" cy="495300"/>
          </a:xfrm>
          <a:prstGeom prst="rect">
            <a:avLst/>
          </a:prstGeom>
          <a:noFill/>
          <a:ln>
            <a:noFill/>
          </a:ln>
        </p:spPr>
      </p:pic>
      <p:pic>
        <p:nvPicPr>
          <p:cNvPr id="150" name="Google Shape;150;p25"/>
          <p:cNvPicPr preferRelativeResize="0"/>
          <p:nvPr/>
        </p:nvPicPr>
        <p:blipFill>
          <a:blip r:embed="rId8">
            <a:alphaModFix/>
          </a:blip>
          <a:stretch>
            <a:fillRect/>
          </a:stretch>
        </p:blipFill>
        <p:spPr>
          <a:xfrm>
            <a:off x="2624600" y="2336887"/>
            <a:ext cx="3954494" cy="1028950"/>
          </a:xfrm>
          <a:prstGeom prst="rect">
            <a:avLst/>
          </a:prstGeom>
          <a:noFill/>
          <a:ln>
            <a:noFill/>
          </a:ln>
        </p:spPr>
      </p:pic>
      <p:pic>
        <p:nvPicPr>
          <p:cNvPr id="151" name="Google Shape;151;p25"/>
          <p:cNvPicPr preferRelativeResize="0"/>
          <p:nvPr/>
        </p:nvPicPr>
        <p:blipFill>
          <a:blip r:embed="rId9">
            <a:alphaModFix/>
          </a:blip>
          <a:stretch>
            <a:fillRect/>
          </a:stretch>
        </p:blipFill>
        <p:spPr>
          <a:xfrm>
            <a:off x="3667118" y="3308600"/>
            <a:ext cx="1809750" cy="495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47175" y="0"/>
            <a:ext cx="9477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157" name="Google Shape;157;p26"/>
          <p:cNvPicPr preferRelativeResize="0"/>
          <p:nvPr/>
        </p:nvPicPr>
        <p:blipFill>
          <a:blip r:embed="rId3">
            <a:alphaModFix/>
          </a:blip>
          <a:stretch>
            <a:fillRect/>
          </a:stretch>
        </p:blipFill>
        <p:spPr>
          <a:xfrm>
            <a:off x="1547825" y="882675"/>
            <a:ext cx="1495425" cy="504825"/>
          </a:xfrm>
          <a:prstGeom prst="rect">
            <a:avLst/>
          </a:prstGeom>
          <a:noFill/>
          <a:ln>
            <a:noFill/>
          </a:ln>
        </p:spPr>
      </p:pic>
      <p:cxnSp>
        <p:nvCxnSpPr>
          <p:cNvPr id="158" name="Google Shape;158;p26"/>
          <p:cNvCxnSpPr/>
          <p:nvPr/>
        </p:nvCxnSpPr>
        <p:spPr>
          <a:xfrm flipH="1">
            <a:off x="3119450" y="1129988"/>
            <a:ext cx="436500" cy="5100"/>
          </a:xfrm>
          <a:prstGeom prst="straightConnector1">
            <a:avLst/>
          </a:prstGeom>
          <a:noFill/>
          <a:ln cap="flat" cmpd="sng" w="9525">
            <a:solidFill>
              <a:schemeClr val="dk2"/>
            </a:solidFill>
            <a:prstDash val="solid"/>
            <a:round/>
            <a:headEnd len="med" w="med" type="none"/>
            <a:tailEnd len="med" w="med" type="triangle"/>
          </a:ln>
        </p:spPr>
      </p:cxnSp>
      <p:sp>
        <p:nvSpPr>
          <p:cNvPr id="159" name="Google Shape;159;p26"/>
          <p:cNvSpPr txBox="1"/>
          <p:nvPr/>
        </p:nvSpPr>
        <p:spPr>
          <a:xfrm>
            <a:off x="3632150" y="793925"/>
            <a:ext cx="4453200" cy="86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función de distribución acumulada de la logística hasta </a:t>
            </a:r>
            <a:endParaRPr/>
          </a:p>
        </p:txBody>
      </p:sp>
      <p:pic>
        <p:nvPicPr>
          <p:cNvPr id="160" name="Google Shape;160;p26"/>
          <p:cNvPicPr preferRelativeResize="0"/>
          <p:nvPr/>
        </p:nvPicPr>
        <p:blipFill>
          <a:blip r:embed="rId4">
            <a:alphaModFix/>
          </a:blip>
          <a:stretch>
            <a:fillRect/>
          </a:stretch>
        </p:blipFill>
        <p:spPr>
          <a:xfrm>
            <a:off x="6308675" y="1218025"/>
            <a:ext cx="1066800" cy="361950"/>
          </a:xfrm>
          <a:prstGeom prst="rect">
            <a:avLst/>
          </a:prstGeom>
          <a:noFill/>
          <a:ln>
            <a:noFill/>
          </a:ln>
        </p:spPr>
      </p:pic>
      <p:pic>
        <p:nvPicPr>
          <p:cNvPr id="161" name="Google Shape;161;p26"/>
          <p:cNvPicPr preferRelativeResize="0"/>
          <p:nvPr/>
        </p:nvPicPr>
        <p:blipFill>
          <a:blip r:embed="rId5">
            <a:alphaModFix/>
          </a:blip>
          <a:stretch>
            <a:fillRect/>
          </a:stretch>
        </p:blipFill>
        <p:spPr>
          <a:xfrm>
            <a:off x="1255400" y="2399775"/>
            <a:ext cx="6257925" cy="723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47175" y="0"/>
            <a:ext cx="936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Se puede modelar la probabilidad de repago de un crédito de la siguiente manera: </a:t>
            </a:r>
            <a:endParaRPr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167" name="Google Shape;167;p27"/>
          <p:cNvPicPr preferRelativeResize="0"/>
          <p:nvPr/>
        </p:nvPicPr>
        <p:blipFill>
          <a:blip r:embed="rId3">
            <a:alphaModFix/>
          </a:blip>
          <a:stretch>
            <a:fillRect/>
          </a:stretch>
        </p:blipFill>
        <p:spPr>
          <a:xfrm>
            <a:off x="2525513" y="2023350"/>
            <a:ext cx="4092974" cy="869850"/>
          </a:xfrm>
          <a:prstGeom prst="rect">
            <a:avLst/>
          </a:prstGeom>
          <a:noFill/>
          <a:ln>
            <a:noFill/>
          </a:ln>
        </p:spPr>
      </p:pic>
      <p:sp>
        <p:nvSpPr>
          <p:cNvPr id="168" name="Google Shape;168;p27"/>
          <p:cNvSpPr txBox="1"/>
          <p:nvPr/>
        </p:nvSpPr>
        <p:spPr>
          <a:xfrm>
            <a:off x="137300" y="3573900"/>
            <a:ext cx="8790000" cy="86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En este caso, el modelo es no lineal en los parámetros, por lo que MCC no dará buenos estimadores</a:t>
            </a:r>
            <a:endParaRPr/>
          </a:p>
        </p:txBody>
      </p:sp>
      <p:sp>
        <p:nvSpPr>
          <p:cNvPr id="169" name="Google Shape;169;p27"/>
          <p:cNvSpPr txBox="1"/>
          <p:nvPr/>
        </p:nvSpPr>
        <p:spPr>
          <a:xfrm>
            <a:off x="512575" y="2893200"/>
            <a:ext cx="6670200" cy="51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20">
                <a:solidFill>
                  <a:schemeClr val="dk1"/>
                </a:solidFill>
              </a:rPr>
              <a:t>*donde         admite K variables explicativas </a:t>
            </a:r>
            <a:endParaRPr sz="1300"/>
          </a:p>
        </p:txBody>
      </p:sp>
      <p:pic>
        <p:nvPicPr>
          <p:cNvPr id="170" name="Google Shape;170;p27"/>
          <p:cNvPicPr preferRelativeResize="0"/>
          <p:nvPr/>
        </p:nvPicPr>
        <p:blipFill>
          <a:blip r:embed="rId4">
            <a:alphaModFix/>
          </a:blip>
          <a:stretch>
            <a:fillRect/>
          </a:stretch>
        </p:blipFill>
        <p:spPr>
          <a:xfrm>
            <a:off x="1573100" y="3009573"/>
            <a:ext cx="458975" cy="34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47175" y="0"/>
            <a:ext cx="942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Se utiliza el método de maximización de la función de maximización de verosimilitud, y puntualmente la maximización de su logaritmo natural.</a:t>
            </a:r>
            <a:endParaRPr sz="2220"/>
          </a:p>
          <a:p>
            <a:pPr indent="0" lvl="0" marL="0" rtl="0" algn="l">
              <a:spcBef>
                <a:spcPts val="0"/>
              </a:spcBef>
              <a:spcAft>
                <a:spcPts val="0"/>
              </a:spcAft>
              <a:buSzPts val="990"/>
              <a:buNone/>
            </a:pPr>
            <a:r>
              <a:rPr lang="es" sz="2220"/>
              <a:t>La función de verosimilitud es una función de probabilidad conjunta</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b="1" lang="es" sz="1720"/>
              <a:t>Ejemplo: muestra de 3 clientes de un banco:</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Clr>
                <a:srgbClr val="000000"/>
              </a:buClr>
              <a:buSzPts val="990"/>
              <a:buFont typeface="Arial"/>
              <a:buNone/>
            </a:pPr>
            <a:r>
              <a:t/>
            </a:r>
            <a:endParaRPr sz="2220"/>
          </a:p>
        </p:txBody>
      </p:sp>
      <p:cxnSp>
        <p:nvCxnSpPr>
          <p:cNvPr id="176" name="Google Shape;176;p28"/>
          <p:cNvCxnSpPr/>
          <p:nvPr/>
        </p:nvCxnSpPr>
        <p:spPr>
          <a:xfrm>
            <a:off x="4504225" y="2930775"/>
            <a:ext cx="22800" cy="2155800"/>
          </a:xfrm>
          <a:prstGeom prst="straightConnector1">
            <a:avLst/>
          </a:prstGeom>
          <a:noFill/>
          <a:ln cap="flat" cmpd="sng" w="9525">
            <a:solidFill>
              <a:schemeClr val="dk2"/>
            </a:solidFill>
            <a:prstDash val="solid"/>
            <a:round/>
            <a:headEnd len="med" w="med" type="none"/>
            <a:tailEnd len="med" w="med" type="none"/>
          </a:ln>
        </p:spPr>
      </p:cxnSp>
      <p:sp>
        <p:nvSpPr>
          <p:cNvPr id="177" name="Google Shape;177;p28"/>
          <p:cNvSpPr txBox="1"/>
          <p:nvPr/>
        </p:nvSpPr>
        <p:spPr>
          <a:xfrm>
            <a:off x="3911525" y="2863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i</a:t>
            </a:r>
            <a:endParaRPr/>
          </a:p>
        </p:txBody>
      </p:sp>
      <p:sp>
        <p:nvSpPr>
          <p:cNvPr id="178" name="Google Shape;178;p28"/>
          <p:cNvSpPr txBox="1"/>
          <p:nvPr/>
        </p:nvSpPr>
        <p:spPr>
          <a:xfrm>
            <a:off x="5076850" y="3060650"/>
            <a:ext cx="457500" cy="4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20">
                <a:solidFill>
                  <a:schemeClr val="dk1"/>
                </a:solidFill>
              </a:rPr>
              <a:t>i</a:t>
            </a:r>
            <a:endParaRPr sz="700"/>
          </a:p>
        </p:txBody>
      </p:sp>
      <p:sp>
        <p:nvSpPr>
          <p:cNvPr id="179" name="Google Shape;179;p28"/>
          <p:cNvSpPr txBox="1"/>
          <p:nvPr/>
        </p:nvSpPr>
        <p:spPr>
          <a:xfrm>
            <a:off x="4853550" y="2863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Y</a:t>
            </a:r>
            <a:endParaRPr/>
          </a:p>
        </p:txBody>
      </p:sp>
      <p:sp>
        <p:nvSpPr>
          <p:cNvPr id="180" name="Google Shape;180;p28"/>
          <p:cNvSpPr txBox="1"/>
          <p:nvPr/>
        </p:nvSpPr>
        <p:spPr>
          <a:xfrm>
            <a:off x="3855250" y="3389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181" name="Google Shape;181;p28"/>
          <p:cNvSpPr txBox="1"/>
          <p:nvPr/>
        </p:nvSpPr>
        <p:spPr>
          <a:xfrm>
            <a:off x="3855250" y="3916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2</a:t>
            </a:r>
            <a:endParaRPr/>
          </a:p>
        </p:txBody>
      </p:sp>
      <p:sp>
        <p:nvSpPr>
          <p:cNvPr id="182" name="Google Shape;182;p28"/>
          <p:cNvSpPr txBox="1"/>
          <p:nvPr/>
        </p:nvSpPr>
        <p:spPr>
          <a:xfrm>
            <a:off x="3855250" y="4442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3</a:t>
            </a:r>
            <a:endParaRPr/>
          </a:p>
        </p:txBody>
      </p:sp>
      <p:sp>
        <p:nvSpPr>
          <p:cNvPr id="183" name="Google Shape;183;p28"/>
          <p:cNvSpPr txBox="1"/>
          <p:nvPr/>
        </p:nvSpPr>
        <p:spPr>
          <a:xfrm>
            <a:off x="4853550" y="3389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184" name="Google Shape;184;p28"/>
          <p:cNvSpPr txBox="1"/>
          <p:nvPr/>
        </p:nvSpPr>
        <p:spPr>
          <a:xfrm>
            <a:off x="4853550" y="3916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0</a:t>
            </a:r>
            <a:endParaRPr/>
          </a:p>
        </p:txBody>
      </p:sp>
      <p:sp>
        <p:nvSpPr>
          <p:cNvPr id="185" name="Google Shape;185;p28"/>
          <p:cNvSpPr txBox="1"/>
          <p:nvPr/>
        </p:nvSpPr>
        <p:spPr>
          <a:xfrm>
            <a:off x="4853550" y="4442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47175" y="0"/>
            <a:ext cx="945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b="1" lang="es" sz="1720"/>
              <a:t>Ejemplo: muestra de 3 clientes de un banco:</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cxnSp>
        <p:nvCxnSpPr>
          <p:cNvPr id="191" name="Google Shape;191;p29"/>
          <p:cNvCxnSpPr/>
          <p:nvPr/>
        </p:nvCxnSpPr>
        <p:spPr>
          <a:xfrm>
            <a:off x="4504225" y="1025775"/>
            <a:ext cx="22800" cy="2155800"/>
          </a:xfrm>
          <a:prstGeom prst="straightConnector1">
            <a:avLst/>
          </a:prstGeom>
          <a:noFill/>
          <a:ln cap="flat" cmpd="sng" w="9525">
            <a:solidFill>
              <a:schemeClr val="dk2"/>
            </a:solidFill>
            <a:prstDash val="solid"/>
            <a:round/>
            <a:headEnd len="med" w="med" type="none"/>
            <a:tailEnd len="med" w="med" type="none"/>
          </a:ln>
        </p:spPr>
      </p:cxnSp>
      <p:sp>
        <p:nvSpPr>
          <p:cNvPr id="192" name="Google Shape;192;p29"/>
          <p:cNvSpPr txBox="1"/>
          <p:nvPr/>
        </p:nvSpPr>
        <p:spPr>
          <a:xfrm>
            <a:off x="3911525" y="958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i</a:t>
            </a:r>
            <a:endParaRPr/>
          </a:p>
        </p:txBody>
      </p:sp>
      <p:sp>
        <p:nvSpPr>
          <p:cNvPr id="193" name="Google Shape;193;p29"/>
          <p:cNvSpPr txBox="1"/>
          <p:nvPr/>
        </p:nvSpPr>
        <p:spPr>
          <a:xfrm>
            <a:off x="5076850" y="1155650"/>
            <a:ext cx="457500" cy="4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20">
                <a:solidFill>
                  <a:schemeClr val="dk1"/>
                </a:solidFill>
              </a:rPr>
              <a:t>i</a:t>
            </a:r>
            <a:endParaRPr sz="700"/>
          </a:p>
        </p:txBody>
      </p:sp>
      <p:sp>
        <p:nvSpPr>
          <p:cNvPr id="194" name="Google Shape;194;p29"/>
          <p:cNvSpPr txBox="1"/>
          <p:nvPr/>
        </p:nvSpPr>
        <p:spPr>
          <a:xfrm>
            <a:off x="4853550" y="958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Y</a:t>
            </a:r>
            <a:endParaRPr/>
          </a:p>
        </p:txBody>
      </p:sp>
      <p:sp>
        <p:nvSpPr>
          <p:cNvPr id="195" name="Google Shape;195;p29"/>
          <p:cNvSpPr txBox="1"/>
          <p:nvPr/>
        </p:nvSpPr>
        <p:spPr>
          <a:xfrm>
            <a:off x="3855250" y="1484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196" name="Google Shape;196;p29"/>
          <p:cNvSpPr txBox="1"/>
          <p:nvPr/>
        </p:nvSpPr>
        <p:spPr>
          <a:xfrm>
            <a:off x="3855250" y="2011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2</a:t>
            </a:r>
            <a:endParaRPr/>
          </a:p>
        </p:txBody>
      </p:sp>
      <p:sp>
        <p:nvSpPr>
          <p:cNvPr id="197" name="Google Shape;197;p29"/>
          <p:cNvSpPr txBox="1"/>
          <p:nvPr/>
        </p:nvSpPr>
        <p:spPr>
          <a:xfrm>
            <a:off x="3855250" y="2537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3</a:t>
            </a:r>
            <a:endParaRPr/>
          </a:p>
        </p:txBody>
      </p:sp>
      <p:sp>
        <p:nvSpPr>
          <p:cNvPr id="198" name="Google Shape;198;p29"/>
          <p:cNvSpPr txBox="1"/>
          <p:nvPr/>
        </p:nvSpPr>
        <p:spPr>
          <a:xfrm>
            <a:off x="4853550" y="1484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199" name="Google Shape;199;p29"/>
          <p:cNvSpPr txBox="1"/>
          <p:nvPr/>
        </p:nvSpPr>
        <p:spPr>
          <a:xfrm>
            <a:off x="4853550" y="2011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0</a:t>
            </a:r>
            <a:endParaRPr/>
          </a:p>
        </p:txBody>
      </p:sp>
      <p:sp>
        <p:nvSpPr>
          <p:cNvPr id="200" name="Google Shape;200;p29"/>
          <p:cNvSpPr txBox="1"/>
          <p:nvPr/>
        </p:nvSpPr>
        <p:spPr>
          <a:xfrm>
            <a:off x="4853550" y="2537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201" name="Google Shape;201;p29"/>
          <p:cNvSpPr txBox="1"/>
          <p:nvPr/>
        </p:nvSpPr>
        <p:spPr>
          <a:xfrm>
            <a:off x="118625" y="3244025"/>
            <a:ext cx="8977500" cy="155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Si suponemos que se trata de una muestra aleatoria, representativa, en la que las variables son independientes, ¿cómo se estimaría la probabilidad conjunta observada?:</a:t>
            </a:r>
            <a:endParaRPr b="1" sz="1700">
              <a:solidFill>
                <a:schemeClr val="dk1"/>
              </a:solidFill>
            </a:endParaRPr>
          </a:p>
          <a:p>
            <a:pPr indent="0" lvl="0" marL="0" rtl="0" algn="l">
              <a:spcBef>
                <a:spcPts val="0"/>
              </a:spcBef>
              <a:spcAft>
                <a:spcPts val="0"/>
              </a:spcAft>
              <a:buNone/>
            </a:pPr>
            <a:r>
              <a:t/>
            </a:r>
            <a:endParaRPr sz="2220">
              <a:solidFill>
                <a:schemeClr val="dk1"/>
              </a:solidFill>
            </a:endParaRPr>
          </a:p>
        </p:txBody>
      </p:sp>
      <p:pic>
        <p:nvPicPr>
          <p:cNvPr id="202" name="Google Shape;202;p29"/>
          <p:cNvPicPr preferRelativeResize="0"/>
          <p:nvPr/>
        </p:nvPicPr>
        <p:blipFill>
          <a:blip r:embed="rId3">
            <a:alphaModFix/>
          </a:blip>
          <a:stretch>
            <a:fillRect/>
          </a:stretch>
        </p:blipFill>
        <p:spPr>
          <a:xfrm>
            <a:off x="4572000" y="3976250"/>
            <a:ext cx="3523500" cy="418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47175" y="0"/>
            <a:ext cx="934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b="1" lang="es" sz="1720"/>
              <a:t>Ejemplo: muestra de 3 clientes de un banco:</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cxnSp>
        <p:nvCxnSpPr>
          <p:cNvPr id="208" name="Google Shape;208;p30"/>
          <p:cNvCxnSpPr/>
          <p:nvPr/>
        </p:nvCxnSpPr>
        <p:spPr>
          <a:xfrm>
            <a:off x="4504225" y="1025775"/>
            <a:ext cx="22800" cy="2155800"/>
          </a:xfrm>
          <a:prstGeom prst="straightConnector1">
            <a:avLst/>
          </a:prstGeom>
          <a:noFill/>
          <a:ln cap="flat" cmpd="sng" w="9525">
            <a:solidFill>
              <a:schemeClr val="dk2"/>
            </a:solidFill>
            <a:prstDash val="solid"/>
            <a:round/>
            <a:headEnd len="med" w="med" type="none"/>
            <a:tailEnd len="med" w="med" type="none"/>
          </a:ln>
        </p:spPr>
      </p:cxnSp>
      <p:sp>
        <p:nvSpPr>
          <p:cNvPr id="209" name="Google Shape;209;p30"/>
          <p:cNvSpPr txBox="1"/>
          <p:nvPr/>
        </p:nvSpPr>
        <p:spPr>
          <a:xfrm>
            <a:off x="3911525" y="958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i</a:t>
            </a:r>
            <a:endParaRPr/>
          </a:p>
        </p:txBody>
      </p:sp>
      <p:sp>
        <p:nvSpPr>
          <p:cNvPr id="210" name="Google Shape;210;p30"/>
          <p:cNvSpPr txBox="1"/>
          <p:nvPr/>
        </p:nvSpPr>
        <p:spPr>
          <a:xfrm>
            <a:off x="5076850" y="1155650"/>
            <a:ext cx="457500" cy="4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20">
                <a:solidFill>
                  <a:schemeClr val="dk1"/>
                </a:solidFill>
              </a:rPr>
              <a:t>i</a:t>
            </a:r>
            <a:endParaRPr sz="700"/>
          </a:p>
        </p:txBody>
      </p:sp>
      <p:sp>
        <p:nvSpPr>
          <p:cNvPr id="211" name="Google Shape;211;p30"/>
          <p:cNvSpPr txBox="1"/>
          <p:nvPr/>
        </p:nvSpPr>
        <p:spPr>
          <a:xfrm>
            <a:off x="4853550" y="958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Y</a:t>
            </a:r>
            <a:endParaRPr/>
          </a:p>
        </p:txBody>
      </p:sp>
      <p:sp>
        <p:nvSpPr>
          <p:cNvPr id="212" name="Google Shape;212;p30"/>
          <p:cNvSpPr txBox="1"/>
          <p:nvPr/>
        </p:nvSpPr>
        <p:spPr>
          <a:xfrm>
            <a:off x="3855250" y="1484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213" name="Google Shape;213;p30"/>
          <p:cNvSpPr txBox="1"/>
          <p:nvPr/>
        </p:nvSpPr>
        <p:spPr>
          <a:xfrm>
            <a:off x="3855250" y="2011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2</a:t>
            </a:r>
            <a:endParaRPr/>
          </a:p>
        </p:txBody>
      </p:sp>
      <p:sp>
        <p:nvSpPr>
          <p:cNvPr id="214" name="Google Shape;214;p30"/>
          <p:cNvSpPr txBox="1"/>
          <p:nvPr/>
        </p:nvSpPr>
        <p:spPr>
          <a:xfrm>
            <a:off x="3855250" y="2537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3</a:t>
            </a:r>
            <a:endParaRPr/>
          </a:p>
        </p:txBody>
      </p:sp>
      <p:sp>
        <p:nvSpPr>
          <p:cNvPr id="215" name="Google Shape;215;p30"/>
          <p:cNvSpPr txBox="1"/>
          <p:nvPr/>
        </p:nvSpPr>
        <p:spPr>
          <a:xfrm>
            <a:off x="4853550" y="1484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216" name="Google Shape;216;p30"/>
          <p:cNvSpPr txBox="1"/>
          <p:nvPr/>
        </p:nvSpPr>
        <p:spPr>
          <a:xfrm>
            <a:off x="4853550" y="20112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0</a:t>
            </a:r>
            <a:endParaRPr/>
          </a:p>
        </p:txBody>
      </p:sp>
      <p:sp>
        <p:nvSpPr>
          <p:cNvPr id="217" name="Google Shape;217;p30"/>
          <p:cNvSpPr txBox="1"/>
          <p:nvPr/>
        </p:nvSpPr>
        <p:spPr>
          <a:xfrm>
            <a:off x="4853550" y="2537725"/>
            <a:ext cx="4575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1</a:t>
            </a:r>
            <a:endParaRPr/>
          </a:p>
        </p:txBody>
      </p:sp>
      <p:sp>
        <p:nvSpPr>
          <p:cNvPr id="218" name="Google Shape;218;p30"/>
          <p:cNvSpPr txBox="1"/>
          <p:nvPr/>
        </p:nvSpPr>
        <p:spPr>
          <a:xfrm>
            <a:off x="118625" y="3244025"/>
            <a:ext cx="8977500" cy="189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Si suponemos que se trata de una muestra aleatoria, representativa, en la que las variables son independientes, ¿cómo se estimaría la probabilidad conjunta observada?: </a:t>
            </a:r>
            <a:endParaRPr b="1" sz="1700">
              <a:solidFill>
                <a:schemeClr val="dk1"/>
              </a:solidFill>
            </a:endParaRPr>
          </a:p>
          <a:p>
            <a:pPr indent="0" lvl="0" marL="0" rtl="0" algn="l">
              <a:spcBef>
                <a:spcPts val="0"/>
              </a:spcBef>
              <a:spcAft>
                <a:spcPts val="0"/>
              </a:spcAft>
              <a:buClr>
                <a:schemeClr val="dk1"/>
              </a:buClr>
              <a:buSzPts val="1100"/>
              <a:buFont typeface="Arial"/>
              <a:buNone/>
            </a:pPr>
            <a:r>
              <a:rPr lang="es" sz="2220">
                <a:solidFill>
                  <a:schemeClr val="dk1"/>
                </a:solidFill>
              </a:rPr>
              <a:t>En este caso se cumple que la probabilidad conjunta es igual a la multiplicación de las probabilidades individuales</a:t>
            </a:r>
            <a:endParaRPr sz="2220">
              <a:solidFill>
                <a:schemeClr val="dk1"/>
              </a:solidFill>
            </a:endParaRPr>
          </a:p>
        </p:txBody>
      </p:sp>
      <p:pic>
        <p:nvPicPr>
          <p:cNvPr id="219" name="Google Shape;219;p30"/>
          <p:cNvPicPr preferRelativeResize="0"/>
          <p:nvPr/>
        </p:nvPicPr>
        <p:blipFill>
          <a:blip r:embed="rId3">
            <a:alphaModFix/>
          </a:blip>
          <a:stretch>
            <a:fillRect/>
          </a:stretch>
        </p:blipFill>
        <p:spPr>
          <a:xfrm>
            <a:off x="4572000" y="3976250"/>
            <a:ext cx="3523500" cy="418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type="title"/>
          </p:nvPr>
        </p:nvSpPr>
        <p:spPr>
          <a:xfrm>
            <a:off x="-47175" y="0"/>
            <a:ext cx="9357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225" name="Google Shape;225;p31"/>
          <p:cNvPicPr preferRelativeResize="0"/>
          <p:nvPr/>
        </p:nvPicPr>
        <p:blipFill>
          <a:blip r:embed="rId3">
            <a:alphaModFix/>
          </a:blip>
          <a:stretch>
            <a:fillRect/>
          </a:stretch>
        </p:blipFill>
        <p:spPr>
          <a:xfrm>
            <a:off x="2706825" y="813600"/>
            <a:ext cx="3523500" cy="418500"/>
          </a:xfrm>
          <a:prstGeom prst="rect">
            <a:avLst/>
          </a:prstGeom>
          <a:noFill/>
          <a:ln>
            <a:noFill/>
          </a:ln>
        </p:spPr>
      </p:pic>
      <p:cxnSp>
        <p:nvCxnSpPr>
          <p:cNvPr id="226" name="Google Shape;226;p31"/>
          <p:cNvCxnSpPr/>
          <p:nvPr/>
        </p:nvCxnSpPr>
        <p:spPr>
          <a:xfrm flipH="1" rot="10800000">
            <a:off x="2715525" y="2421650"/>
            <a:ext cx="10500" cy="495300"/>
          </a:xfrm>
          <a:prstGeom prst="straightConnector1">
            <a:avLst/>
          </a:prstGeom>
          <a:noFill/>
          <a:ln cap="flat" cmpd="sng" w="9525">
            <a:solidFill>
              <a:schemeClr val="dk2"/>
            </a:solidFill>
            <a:prstDash val="solid"/>
            <a:round/>
            <a:headEnd len="med" w="med" type="none"/>
            <a:tailEnd len="med" w="med" type="triangle"/>
          </a:ln>
        </p:spPr>
      </p:cxnSp>
      <p:cxnSp>
        <p:nvCxnSpPr>
          <p:cNvPr id="227" name="Google Shape;227;p31"/>
          <p:cNvCxnSpPr/>
          <p:nvPr/>
        </p:nvCxnSpPr>
        <p:spPr>
          <a:xfrm rot="10800000">
            <a:off x="4191000" y="2425500"/>
            <a:ext cx="0" cy="483900"/>
          </a:xfrm>
          <a:prstGeom prst="straightConnector1">
            <a:avLst/>
          </a:prstGeom>
          <a:noFill/>
          <a:ln cap="flat" cmpd="sng" w="9525">
            <a:solidFill>
              <a:schemeClr val="dk2"/>
            </a:solidFill>
            <a:prstDash val="solid"/>
            <a:round/>
            <a:headEnd len="med" w="med" type="none"/>
            <a:tailEnd len="med" w="med" type="triangle"/>
          </a:ln>
        </p:spPr>
      </p:cxnSp>
      <p:sp>
        <p:nvSpPr>
          <p:cNvPr id="228" name="Google Shape;228;p31"/>
          <p:cNvSpPr txBox="1"/>
          <p:nvPr/>
        </p:nvSpPr>
        <p:spPr>
          <a:xfrm>
            <a:off x="1640850" y="2857175"/>
            <a:ext cx="3215100" cy="38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20">
                <a:solidFill>
                  <a:schemeClr val="dk1"/>
                </a:solidFill>
              </a:rPr>
              <a:t>Probabilidad de pagar</a:t>
            </a:r>
            <a:endParaRPr sz="500"/>
          </a:p>
        </p:txBody>
      </p:sp>
      <p:sp>
        <p:nvSpPr>
          <p:cNvPr id="229" name="Google Shape;229;p31"/>
          <p:cNvSpPr txBox="1"/>
          <p:nvPr/>
        </p:nvSpPr>
        <p:spPr>
          <a:xfrm>
            <a:off x="3602700" y="2886775"/>
            <a:ext cx="2409600" cy="38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20">
                <a:solidFill>
                  <a:schemeClr val="dk1"/>
                </a:solidFill>
              </a:rPr>
              <a:t>Probabilidad de no pagar</a:t>
            </a:r>
            <a:endParaRPr sz="500"/>
          </a:p>
        </p:txBody>
      </p:sp>
      <p:pic>
        <p:nvPicPr>
          <p:cNvPr id="230" name="Google Shape;230;p31"/>
          <p:cNvPicPr preferRelativeResize="0"/>
          <p:nvPr/>
        </p:nvPicPr>
        <p:blipFill>
          <a:blip r:embed="rId4">
            <a:alphaModFix/>
          </a:blip>
          <a:stretch>
            <a:fillRect/>
          </a:stretch>
        </p:blipFill>
        <p:spPr>
          <a:xfrm>
            <a:off x="2144550" y="1473000"/>
            <a:ext cx="5026825" cy="915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47175" y="0"/>
            <a:ext cx="934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pic>
        <p:nvPicPr>
          <p:cNvPr id="236" name="Google Shape;236;p32"/>
          <p:cNvPicPr preferRelativeResize="0"/>
          <p:nvPr/>
        </p:nvPicPr>
        <p:blipFill>
          <a:blip r:embed="rId3">
            <a:alphaModFix/>
          </a:blip>
          <a:stretch>
            <a:fillRect/>
          </a:stretch>
        </p:blipFill>
        <p:spPr>
          <a:xfrm>
            <a:off x="2706825" y="813600"/>
            <a:ext cx="3523500" cy="418500"/>
          </a:xfrm>
          <a:prstGeom prst="rect">
            <a:avLst/>
          </a:prstGeom>
          <a:noFill/>
          <a:ln>
            <a:noFill/>
          </a:ln>
        </p:spPr>
      </p:pic>
      <p:cxnSp>
        <p:nvCxnSpPr>
          <p:cNvPr id="237" name="Google Shape;237;p32"/>
          <p:cNvCxnSpPr/>
          <p:nvPr/>
        </p:nvCxnSpPr>
        <p:spPr>
          <a:xfrm flipH="1" rot="10800000">
            <a:off x="2715525" y="2421650"/>
            <a:ext cx="10500" cy="495300"/>
          </a:xfrm>
          <a:prstGeom prst="straightConnector1">
            <a:avLst/>
          </a:prstGeom>
          <a:noFill/>
          <a:ln cap="flat" cmpd="sng" w="9525">
            <a:solidFill>
              <a:schemeClr val="dk2"/>
            </a:solidFill>
            <a:prstDash val="solid"/>
            <a:round/>
            <a:headEnd len="med" w="med" type="none"/>
            <a:tailEnd len="med" w="med" type="triangle"/>
          </a:ln>
        </p:spPr>
      </p:cxnSp>
      <p:cxnSp>
        <p:nvCxnSpPr>
          <p:cNvPr id="238" name="Google Shape;238;p32"/>
          <p:cNvCxnSpPr/>
          <p:nvPr/>
        </p:nvCxnSpPr>
        <p:spPr>
          <a:xfrm rot="10800000">
            <a:off x="4191000" y="2425500"/>
            <a:ext cx="0" cy="483900"/>
          </a:xfrm>
          <a:prstGeom prst="straightConnector1">
            <a:avLst/>
          </a:prstGeom>
          <a:noFill/>
          <a:ln cap="flat" cmpd="sng" w="9525">
            <a:solidFill>
              <a:schemeClr val="dk2"/>
            </a:solidFill>
            <a:prstDash val="solid"/>
            <a:round/>
            <a:headEnd len="med" w="med" type="none"/>
            <a:tailEnd len="med" w="med" type="triangle"/>
          </a:ln>
        </p:spPr>
      </p:cxnSp>
      <p:sp>
        <p:nvSpPr>
          <p:cNvPr id="239" name="Google Shape;239;p32"/>
          <p:cNvSpPr txBox="1"/>
          <p:nvPr/>
        </p:nvSpPr>
        <p:spPr>
          <a:xfrm>
            <a:off x="1640850" y="2857175"/>
            <a:ext cx="3215100" cy="38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20">
                <a:solidFill>
                  <a:schemeClr val="dk1"/>
                </a:solidFill>
              </a:rPr>
              <a:t>Probabilidad de pagar</a:t>
            </a:r>
            <a:endParaRPr sz="500"/>
          </a:p>
        </p:txBody>
      </p:sp>
      <p:sp>
        <p:nvSpPr>
          <p:cNvPr id="240" name="Google Shape;240;p32"/>
          <p:cNvSpPr txBox="1"/>
          <p:nvPr/>
        </p:nvSpPr>
        <p:spPr>
          <a:xfrm>
            <a:off x="3602700" y="2886775"/>
            <a:ext cx="2409600" cy="38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20">
                <a:solidFill>
                  <a:schemeClr val="dk1"/>
                </a:solidFill>
              </a:rPr>
              <a:t>Probabilidad de no pagar</a:t>
            </a:r>
            <a:endParaRPr sz="500"/>
          </a:p>
        </p:txBody>
      </p:sp>
      <p:pic>
        <p:nvPicPr>
          <p:cNvPr id="241" name="Google Shape;241;p32"/>
          <p:cNvPicPr preferRelativeResize="0"/>
          <p:nvPr/>
        </p:nvPicPr>
        <p:blipFill>
          <a:blip r:embed="rId4">
            <a:alphaModFix/>
          </a:blip>
          <a:stretch>
            <a:fillRect/>
          </a:stretch>
        </p:blipFill>
        <p:spPr>
          <a:xfrm>
            <a:off x="2144550" y="1473000"/>
            <a:ext cx="5026825" cy="915050"/>
          </a:xfrm>
          <a:prstGeom prst="rect">
            <a:avLst/>
          </a:prstGeom>
          <a:noFill/>
          <a:ln>
            <a:noFill/>
          </a:ln>
        </p:spPr>
      </p:pic>
      <p:sp>
        <p:nvSpPr>
          <p:cNvPr id="242" name="Google Shape;242;p32"/>
          <p:cNvSpPr txBox="1"/>
          <p:nvPr>
            <p:ph type="title"/>
          </p:nvPr>
        </p:nvSpPr>
        <p:spPr>
          <a:xfrm>
            <a:off x="56250" y="3618925"/>
            <a:ext cx="903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Esta es la función de probabilidad conjunta cuando el argumento son las X. </a:t>
            </a:r>
            <a:endParaRPr sz="2220"/>
          </a:p>
          <a:p>
            <a:pPr indent="0" lvl="0" marL="0" rtl="0" algn="l">
              <a:spcBef>
                <a:spcPts val="0"/>
              </a:spcBef>
              <a:spcAft>
                <a:spcPts val="0"/>
              </a:spcAft>
              <a:buSzPts val="990"/>
              <a:buNone/>
            </a:pPr>
            <a:r>
              <a:rPr lang="es" sz="2220"/>
              <a:t>Cuando en cambio el argumento son los β, se trata de una función de verosimilitud.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type="title"/>
          </p:nvPr>
        </p:nvSpPr>
        <p:spPr>
          <a:xfrm>
            <a:off x="-47175" y="0"/>
            <a:ext cx="936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Clr>
                <a:schemeClr val="dk1"/>
              </a:buClr>
              <a:buSzPts val="990"/>
              <a:buFont typeface="Arial"/>
              <a:buNone/>
            </a:pPr>
            <a:r>
              <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Aplicado a la muestra de n=3</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248" name="Google Shape;248;p33"/>
          <p:cNvSpPr txBox="1"/>
          <p:nvPr/>
        </p:nvSpPr>
        <p:spPr>
          <a:xfrm>
            <a:off x="0" y="832850"/>
            <a:ext cx="40992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En términos generales:</a:t>
            </a:r>
            <a:endParaRPr/>
          </a:p>
        </p:txBody>
      </p:sp>
      <p:pic>
        <p:nvPicPr>
          <p:cNvPr id="249" name="Google Shape;249;p33"/>
          <p:cNvPicPr preferRelativeResize="0"/>
          <p:nvPr/>
        </p:nvPicPr>
        <p:blipFill>
          <a:blip r:embed="rId3">
            <a:alphaModFix/>
          </a:blip>
          <a:stretch>
            <a:fillRect/>
          </a:stretch>
        </p:blipFill>
        <p:spPr>
          <a:xfrm>
            <a:off x="1773100" y="1359350"/>
            <a:ext cx="6150909" cy="1094500"/>
          </a:xfrm>
          <a:prstGeom prst="rect">
            <a:avLst/>
          </a:prstGeom>
          <a:noFill/>
          <a:ln>
            <a:noFill/>
          </a:ln>
        </p:spPr>
      </p:pic>
      <p:pic>
        <p:nvPicPr>
          <p:cNvPr id="250" name="Google Shape;250;p33"/>
          <p:cNvPicPr preferRelativeResize="0"/>
          <p:nvPr/>
        </p:nvPicPr>
        <p:blipFill>
          <a:blip r:embed="rId4">
            <a:alphaModFix/>
          </a:blip>
          <a:stretch>
            <a:fillRect/>
          </a:stretch>
        </p:blipFill>
        <p:spPr>
          <a:xfrm>
            <a:off x="1239600" y="3394050"/>
            <a:ext cx="6457950" cy="485775"/>
          </a:xfrm>
          <a:prstGeom prst="rect">
            <a:avLst/>
          </a:prstGeom>
          <a:noFill/>
          <a:ln>
            <a:noFill/>
          </a:ln>
        </p:spPr>
      </p:pic>
      <p:pic>
        <p:nvPicPr>
          <p:cNvPr id="251" name="Google Shape;251;p33"/>
          <p:cNvPicPr preferRelativeResize="0"/>
          <p:nvPr/>
        </p:nvPicPr>
        <p:blipFill>
          <a:blip r:embed="rId5">
            <a:alphaModFix/>
          </a:blip>
          <a:stretch>
            <a:fillRect/>
          </a:stretch>
        </p:blipFill>
        <p:spPr>
          <a:xfrm>
            <a:off x="1157288" y="3942200"/>
            <a:ext cx="6829425" cy="409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type="title"/>
          </p:nvPr>
        </p:nvSpPr>
        <p:spPr>
          <a:xfrm>
            <a:off x="-47175" y="0"/>
            <a:ext cx="936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b="1" sz="1720"/>
          </a:p>
          <a:p>
            <a:pPr indent="0" lvl="0" marL="0" rtl="0" algn="l">
              <a:spcBef>
                <a:spcPts val="0"/>
              </a:spcBef>
              <a:spcAft>
                <a:spcPts val="0"/>
              </a:spcAft>
              <a:buSzPts val="990"/>
              <a:buNone/>
            </a:pPr>
            <a:r>
              <a:t/>
            </a:r>
            <a:endParaRPr b="1"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Aplicado a la muestra de n=3</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257" name="Google Shape;257;p34"/>
          <p:cNvSpPr txBox="1"/>
          <p:nvPr/>
        </p:nvSpPr>
        <p:spPr>
          <a:xfrm>
            <a:off x="0" y="832850"/>
            <a:ext cx="4099200" cy="52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En términos generales:</a:t>
            </a:r>
            <a:endParaRPr/>
          </a:p>
        </p:txBody>
      </p:sp>
      <p:pic>
        <p:nvPicPr>
          <p:cNvPr id="258" name="Google Shape;258;p34"/>
          <p:cNvPicPr preferRelativeResize="0"/>
          <p:nvPr/>
        </p:nvPicPr>
        <p:blipFill>
          <a:blip r:embed="rId3">
            <a:alphaModFix/>
          </a:blip>
          <a:stretch>
            <a:fillRect/>
          </a:stretch>
        </p:blipFill>
        <p:spPr>
          <a:xfrm>
            <a:off x="1773100" y="1359350"/>
            <a:ext cx="6150909" cy="1094500"/>
          </a:xfrm>
          <a:prstGeom prst="rect">
            <a:avLst/>
          </a:prstGeom>
          <a:noFill/>
          <a:ln>
            <a:noFill/>
          </a:ln>
        </p:spPr>
      </p:pic>
      <p:pic>
        <p:nvPicPr>
          <p:cNvPr id="259" name="Google Shape;259;p34"/>
          <p:cNvPicPr preferRelativeResize="0"/>
          <p:nvPr/>
        </p:nvPicPr>
        <p:blipFill>
          <a:blip r:embed="rId4">
            <a:alphaModFix/>
          </a:blip>
          <a:stretch>
            <a:fillRect/>
          </a:stretch>
        </p:blipFill>
        <p:spPr>
          <a:xfrm>
            <a:off x="1239600" y="3394050"/>
            <a:ext cx="6457950" cy="485775"/>
          </a:xfrm>
          <a:prstGeom prst="rect">
            <a:avLst/>
          </a:prstGeom>
          <a:noFill/>
          <a:ln>
            <a:noFill/>
          </a:ln>
        </p:spPr>
      </p:pic>
      <p:pic>
        <p:nvPicPr>
          <p:cNvPr id="260" name="Google Shape;260;p34"/>
          <p:cNvPicPr preferRelativeResize="0"/>
          <p:nvPr/>
        </p:nvPicPr>
        <p:blipFill>
          <a:blip r:embed="rId5">
            <a:alphaModFix/>
          </a:blip>
          <a:stretch>
            <a:fillRect/>
          </a:stretch>
        </p:blipFill>
        <p:spPr>
          <a:xfrm>
            <a:off x="1157288" y="3942200"/>
            <a:ext cx="6829425" cy="409575"/>
          </a:xfrm>
          <a:prstGeom prst="rect">
            <a:avLst/>
          </a:prstGeom>
          <a:noFill/>
          <a:ln>
            <a:noFill/>
          </a:ln>
        </p:spPr>
      </p:pic>
      <p:sp>
        <p:nvSpPr>
          <p:cNvPr id="261" name="Google Shape;261;p34"/>
          <p:cNvSpPr txBox="1"/>
          <p:nvPr/>
        </p:nvSpPr>
        <p:spPr>
          <a:xfrm>
            <a:off x="2975100" y="3164275"/>
            <a:ext cx="423900" cy="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rgbClr val="FF0000"/>
                </a:solidFill>
              </a:rPr>
              <a:t>1</a:t>
            </a:r>
            <a:endParaRPr sz="800">
              <a:solidFill>
                <a:srgbClr val="FF0000"/>
              </a:solidFill>
            </a:endParaRPr>
          </a:p>
        </p:txBody>
      </p:sp>
      <p:sp>
        <p:nvSpPr>
          <p:cNvPr id="262" name="Google Shape;262;p34"/>
          <p:cNvSpPr txBox="1"/>
          <p:nvPr/>
        </p:nvSpPr>
        <p:spPr>
          <a:xfrm>
            <a:off x="3180875" y="3688100"/>
            <a:ext cx="423900" cy="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rgbClr val="FF0000"/>
                </a:solidFill>
              </a:rPr>
              <a:t>1</a:t>
            </a:r>
            <a:endParaRPr sz="800">
              <a:solidFill>
                <a:srgbClr val="FF0000"/>
              </a:solidFill>
            </a:endParaRPr>
          </a:p>
        </p:txBody>
      </p:sp>
      <p:sp>
        <p:nvSpPr>
          <p:cNvPr id="263" name="Google Shape;263;p34"/>
          <p:cNvSpPr txBox="1"/>
          <p:nvPr/>
        </p:nvSpPr>
        <p:spPr>
          <a:xfrm>
            <a:off x="5130875" y="3688100"/>
            <a:ext cx="423900" cy="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rgbClr val="FF0000"/>
                </a:solidFill>
              </a:rPr>
              <a:t>1</a:t>
            </a:r>
            <a:endParaRPr sz="800">
              <a:solidFill>
                <a:srgbClr val="FF0000"/>
              </a:solidFill>
            </a:endParaRPr>
          </a:p>
        </p:txBody>
      </p:sp>
      <p:sp>
        <p:nvSpPr>
          <p:cNvPr id="264" name="Google Shape;264;p34"/>
          <p:cNvSpPr txBox="1"/>
          <p:nvPr/>
        </p:nvSpPr>
        <p:spPr>
          <a:xfrm>
            <a:off x="5452100" y="3063575"/>
            <a:ext cx="423900" cy="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rgbClr val="FF0000"/>
                </a:solidFill>
              </a:rPr>
              <a:t>0</a:t>
            </a:r>
            <a:endParaRPr sz="800">
              <a:solidFill>
                <a:srgbClr val="FF0000"/>
              </a:solidFill>
            </a:endParaRPr>
          </a:p>
        </p:txBody>
      </p:sp>
      <p:sp>
        <p:nvSpPr>
          <p:cNvPr id="265" name="Google Shape;265;p34"/>
          <p:cNvSpPr txBox="1"/>
          <p:nvPr/>
        </p:nvSpPr>
        <p:spPr>
          <a:xfrm>
            <a:off x="7273650" y="3063575"/>
            <a:ext cx="423900" cy="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rgbClr val="FF0000"/>
                </a:solidFill>
              </a:rPr>
              <a:t>0</a:t>
            </a:r>
            <a:endParaRPr sz="800">
              <a:solidFill>
                <a:srgbClr val="FF0000"/>
              </a:solidFill>
            </a:endParaRPr>
          </a:p>
        </p:txBody>
      </p:sp>
      <p:sp>
        <p:nvSpPr>
          <p:cNvPr id="266" name="Google Shape;266;p34"/>
          <p:cNvSpPr txBox="1"/>
          <p:nvPr/>
        </p:nvSpPr>
        <p:spPr>
          <a:xfrm>
            <a:off x="7500100" y="3598375"/>
            <a:ext cx="423900" cy="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rgbClr val="FF0000"/>
                </a:solidFill>
              </a:rPr>
              <a:t>0</a:t>
            </a:r>
            <a:endParaRPr sz="800">
              <a:solidFill>
                <a:srgbClr val="FF0000"/>
              </a:solidFill>
            </a:endParaRPr>
          </a:p>
        </p:txBody>
      </p:sp>
      <p:pic>
        <p:nvPicPr>
          <p:cNvPr id="267" name="Google Shape;267;p34"/>
          <p:cNvPicPr preferRelativeResize="0"/>
          <p:nvPr/>
        </p:nvPicPr>
        <p:blipFill>
          <a:blip r:embed="rId6">
            <a:alphaModFix/>
          </a:blip>
          <a:stretch>
            <a:fillRect/>
          </a:stretch>
        </p:blipFill>
        <p:spPr>
          <a:xfrm>
            <a:off x="1086275" y="4598525"/>
            <a:ext cx="6666491" cy="409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47175" y="0"/>
            <a:ext cx="9281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273" name="Google Shape;273;p35"/>
          <p:cNvSpPr txBox="1"/>
          <p:nvPr/>
        </p:nvSpPr>
        <p:spPr>
          <a:xfrm>
            <a:off x="0" y="1442450"/>
            <a:ext cx="9096300" cy="257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La función de verosimilitud obtenida es igual a la probabilidad conjunta</a:t>
            </a:r>
            <a:endParaRPr sz="2220">
              <a:solidFill>
                <a:schemeClr val="dk1"/>
              </a:solidFill>
            </a:endParaRPr>
          </a:p>
          <a:p>
            <a:pPr indent="0" lvl="0" marL="0" rtl="0" algn="l">
              <a:spcBef>
                <a:spcPts val="0"/>
              </a:spcBef>
              <a:spcAft>
                <a:spcPts val="0"/>
              </a:spcAft>
              <a:buNone/>
            </a:pPr>
            <a:r>
              <a:t/>
            </a:r>
            <a:endParaRPr sz="2220">
              <a:solidFill>
                <a:schemeClr val="dk1"/>
              </a:solidFill>
            </a:endParaRPr>
          </a:p>
          <a:p>
            <a:pPr indent="0" lvl="0" marL="0" rtl="0" algn="l">
              <a:spcBef>
                <a:spcPts val="0"/>
              </a:spcBef>
              <a:spcAft>
                <a:spcPts val="0"/>
              </a:spcAft>
              <a:buNone/>
            </a:pPr>
            <a:r>
              <a:t/>
            </a:r>
            <a:endParaRPr sz="2220">
              <a:solidFill>
                <a:schemeClr val="dk1"/>
              </a:solidFill>
            </a:endParaRPr>
          </a:p>
          <a:p>
            <a:pPr indent="0" lvl="0" marL="0" rtl="0" algn="l">
              <a:spcBef>
                <a:spcPts val="0"/>
              </a:spcBef>
              <a:spcAft>
                <a:spcPts val="0"/>
              </a:spcAft>
              <a:buNone/>
            </a:pPr>
            <a:r>
              <a:t/>
            </a:r>
            <a:endParaRPr sz="2220">
              <a:solidFill>
                <a:schemeClr val="dk1"/>
              </a:solidFill>
            </a:endParaRPr>
          </a:p>
          <a:p>
            <a:pPr indent="0" lvl="0" marL="0" rtl="0" algn="l">
              <a:spcBef>
                <a:spcPts val="0"/>
              </a:spcBef>
              <a:spcAft>
                <a:spcPts val="0"/>
              </a:spcAft>
              <a:buNone/>
            </a:pPr>
            <a:r>
              <a:rPr lang="es" sz="2220">
                <a:solidFill>
                  <a:schemeClr val="dk1"/>
                </a:solidFill>
              </a:rPr>
              <a:t>Pero la fórmula previa tiene la ventaja de poder ser aplicada para muchos casos, “encendiendo” o “apagando” las probabilidades indicadas</a:t>
            </a:r>
            <a:endParaRPr sz="2220">
              <a:solidFill>
                <a:schemeClr val="dk1"/>
              </a:solidFill>
            </a:endParaRPr>
          </a:p>
        </p:txBody>
      </p:sp>
      <p:pic>
        <p:nvPicPr>
          <p:cNvPr id="274" name="Google Shape;274;p35"/>
          <p:cNvPicPr preferRelativeResize="0"/>
          <p:nvPr/>
        </p:nvPicPr>
        <p:blipFill>
          <a:blip r:embed="rId3">
            <a:alphaModFix/>
          </a:blip>
          <a:stretch>
            <a:fillRect/>
          </a:stretch>
        </p:blipFill>
        <p:spPr>
          <a:xfrm>
            <a:off x="2549675" y="1968950"/>
            <a:ext cx="4149251" cy="461925"/>
          </a:xfrm>
          <a:prstGeom prst="rect">
            <a:avLst/>
          </a:prstGeom>
          <a:noFill/>
          <a:ln>
            <a:noFill/>
          </a:ln>
        </p:spPr>
      </p:pic>
      <p:pic>
        <p:nvPicPr>
          <p:cNvPr id="275" name="Google Shape;275;p35"/>
          <p:cNvPicPr preferRelativeResize="0"/>
          <p:nvPr/>
        </p:nvPicPr>
        <p:blipFill>
          <a:blip r:embed="rId4">
            <a:alphaModFix/>
          </a:blip>
          <a:stretch>
            <a:fillRect/>
          </a:stretch>
        </p:blipFill>
        <p:spPr>
          <a:xfrm>
            <a:off x="2789488" y="4019150"/>
            <a:ext cx="3669614" cy="971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47175" y="0"/>
            <a:ext cx="934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281" name="Google Shape;281;p36"/>
          <p:cNvSpPr txBox="1"/>
          <p:nvPr/>
        </p:nvSpPr>
        <p:spPr>
          <a:xfrm>
            <a:off x="100525" y="2061450"/>
            <a:ext cx="9096300" cy="49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20">
                <a:solidFill>
                  <a:schemeClr val="dk1"/>
                </a:solidFill>
              </a:rPr>
              <a:t>El procedimiento busca maximizar la función de verosimilitud eligiendo los β</a:t>
            </a:r>
            <a:endParaRPr sz="2020">
              <a:solidFill>
                <a:schemeClr val="dk1"/>
              </a:solidFill>
            </a:endParaRPr>
          </a:p>
        </p:txBody>
      </p:sp>
      <p:pic>
        <p:nvPicPr>
          <p:cNvPr id="282" name="Google Shape;282;p36"/>
          <p:cNvPicPr preferRelativeResize="0"/>
          <p:nvPr/>
        </p:nvPicPr>
        <p:blipFill>
          <a:blip r:embed="rId3">
            <a:alphaModFix/>
          </a:blip>
          <a:stretch>
            <a:fillRect/>
          </a:stretch>
        </p:blipFill>
        <p:spPr>
          <a:xfrm>
            <a:off x="2765300" y="963338"/>
            <a:ext cx="3924300" cy="1000125"/>
          </a:xfrm>
          <a:prstGeom prst="rect">
            <a:avLst/>
          </a:prstGeom>
          <a:noFill/>
          <a:ln>
            <a:noFill/>
          </a:ln>
        </p:spPr>
      </p:pic>
      <p:pic>
        <p:nvPicPr>
          <p:cNvPr id="283" name="Google Shape;283;p36"/>
          <p:cNvPicPr preferRelativeResize="0"/>
          <p:nvPr/>
        </p:nvPicPr>
        <p:blipFill>
          <a:blip r:embed="rId4">
            <a:alphaModFix/>
          </a:blip>
          <a:stretch>
            <a:fillRect/>
          </a:stretch>
        </p:blipFill>
        <p:spPr>
          <a:xfrm>
            <a:off x="3971925" y="2720675"/>
            <a:ext cx="1200150" cy="685800"/>
          </a:xfrm>
          <a:prstGeom prst="rect">
            <a:avLst/>
          </a:prstGeom>
          <a:noFill/>
          <a:ln>
            <a:noFill/>
          </a:ln>
        </p:spPr>
      </p:pic>
      <p:sp>
        <p:nvSpPr>
          <p:cNvPr id="284" name="Google Shape;284;p36"/>
          <p:cNvSpPr txBox="1"/>
          <p:nvPr/>
        </p:nvSpPr>
        <p:spPr>
          <a:xfrm>
            <a:off x="4112500" y="3022375"/>
            <a:ext cx="738900" cy="49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20">
                <a:solidFill>
                  <a:schemeClr val="dk2"/>
                </a:solidFill>
              </a:rPr>
              <a:t>{    }</a:t>
            </a:r>
            <a:endParaRPr>
              <a:solidFill>
                <a:schemeClr val="dk2"/>
              </a:solidFill>
            </a:endParaRPr>
          </a:p>
        </p:txBody>
      </p:sp>
      <p:sp>
        <p:nvSpPr>
          <p:cNvPr id="285" name="Google Shape;285;p36"/>
          <p:cNvSpPr txBox="1"/>
          <p:nvPr/>
        </p:nvSpPr>
        <p:spPr>
          <a:xfrm>
            <a:off x="100525" y="3517975"/>
            <a:ext cx="9096300" cy="11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20">
                <a:solidFill>
                  <a:schemeClr val="dk1"/>
                </a:solidFill>
              </a:rPr>
              <a:t>En la práctica, suele maximizarse el logartimo natural de la función de verosimilitud (porque es una transformación monótona en la que pasamos de estimar un producto a una sumatoria, lo cual facilita la maximización)</a:t>
            </a:r>
            <a:endParaRPr sz="2020">
              <a:solidFill>
                <a:schemeClr val="dk1"/>
              </a:solidFill>
            </a:endParaRPr>
          </a:p>
        </p:txBody>
      </p:sp>
      <p:pic>
        <p:nvPicPr>
          <p:cNvPr id="286" name="Google Shape;286;p36"/>
          <p:cNvPicPr preferRelativeResize="0"/>
          <p:nvPr/>
        </p:nvPicPr>
        <p:blipFill>
          <a:blip r:embed="rId5">
            <a:alphaModFix/>
          </a:blip>
          <a:stretch>
            <a:fillRect/>
          </a:stretch>
        </p:blipFill>
        <p:spPr>
          <a:xfrm>
            <a:off x="4020025" y="4514850"/>
            <a:ext cx="1257300" cy="628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47175" y="0"/>
            <a:ext cx="941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292" name="Google Shape;292;p37"/>
          <p:cNvSpPr txBox="1"/>
          <p:nvPr/>
        </p:nvSpPr>
        <p:spPr>
          <a:xfrm>
            <a:off x="145550" y="199050"/>
            <a:ext cx="9096300" cy="267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20">
              <a:solidFill>
                <a:schemeClr val="dk1"/>
              </a:solidFill>
            </a:endParaRPr>
          </a:p>
          <a:p>
            <a:pPr indent="0" lvl="0" marL="0" rtl="0" algn="l">
              <a:spcBef>
                <a:spcPts val="0"/>
              </a:spcBef>
              <a:spcAft>
                <a:spcPts val="0"/>
              </a:spcAft>
              <a:buNone/>
            </a:pPr>
            <a:r>
              <a:t/>
            </a:r>
            <a:endParaRPr sz="2020">
              <a:solidFill>
                <a:schemeClr val="dk1"/>
              </a:solidFill>
            </a:endParaRPr>
          </a:p>
          <a:p>
            <a:pPr indent="0" lvl="0" marL="0" rtl="0" algn="l">
              <a:spcBef>
                <a:spcPts val="0"/>
              </a:spcBef>
              <a:spcAft>
                <a:spcPts val="0"/>
              </a:spcAft>
              <a:buNone/>
            </a:pPr>
            <a:r>
              <a:t/>
            </a:r>
            <a:endParaRPr sz="2020">
              <a:solidFill>
                <a:schemeClr val="dk1"/>
              </a:solidFill>
            </a:endParaRPr>
          </a:p>
          <a:p>
            <a:pPr indent="0" lvl="0" marL="0" rtl="0" algn="l">
              <a:spcBef>
                <a:spcPts val="0"/>
              </a:spcBef>
              <a:spcAft>
                <a:spcPts val="0"/>
              </a:spcAft>
              <a:buNone/>
            </a:pPr>
            <a:r>
              <a:t/>
            </a:r>
            <a:endParaRPr sz="2020">
              <a:solidFill>
                <a:schemeClr val="dk1"/>
              </a:solidFill>
            </a:endParaRPr>
          </a:p>
          <a:p>
            <a:pPr indent="0" lvl="0" marL="0" rtl="0" algn="l">
              <a:spcBef>
                <a:spcPts val="0"/>
              </a:spcBef>
              <a:spcAft>
                <a:spcPts val="0"/>
              </a:spcAft>
              <a:buNone/>
            </a:pPr>
            <a:r>
              <a:rPr lang="es" sz="2020">
                <a:solidFill>
                  <a:schemeClr val="dk1"/>
                </a:solidFill>
              </a:rPr>
              <a:t>Para encontrar el máximo de la función eligiendo los parámetros (β) la condición de primer orden es igualar la derivada de l con respecto a β a 0. En este punto la función no está aumentando ni disminuyendo, por lo que se trata de un punto crítico</a:t>
            </a:r>
            <a:endParaRPr sz="2020">
              <a:solidFill>
                <a:schemeClr val="dk1"/>
              </a:solidFill>
            </a:endParaRPr>
          </a:p>
        </p:txBody>
      </p:sp>
      <p:pic>
        <p:nvPicPr>
          <p:cNvPr id="293" name="Google Shape;293;p37"/>
          <p:cNvPicPr preferRelativeResize="0"/>
          <p:nvPr/>
        </p:nvPicPr>
        <p:blipFill>
          <a:blip r:embed="rId3">
            <a:alphaModFix/>
          </a:blip>
          <a:stretch>
            <a:fillRect/>
          </a:stretch>
        </p:blipFill>
        <p:spPr>
          <a:xfrm>
            <a:off x="3316050" y="3245400"/>
            <a:ext cx="2305050" cy="790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47175" y="0"/>
            <a:ext cx="937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pic>
        <p:nvPicPr>
          <p:cNvPr id="299" name="Google Shape;299;p38"/>
          <p:cNvPicPr preferRelativeResize="0"/>
          <p:nvPr/>
        </p:nvPicPr>
        <p:blipFill>
          <a:blip r:embed="rId3">
            <a:alphaModFix/>
          </a:blip>
          <a:stretch>
            <a:fillRect/>
          </a:stretch>
        </p:blipFill>
        <p:spPr>
          <a:xfrm>
            <a:off x="3316050" y="788500"/>
            <a:ext cx="1911690" cy="655662"/>
          </a:xfrm>
          <a:prstGeom prst="rect">
            <a:avLst/>
          </a:prstGeom>
          <a:noFill/>
          <a:ln>
            <a:noFill/>
          </a:ln>
        </p:spPr>
      </p:pic>
      <p:pic>
        <p:nvPicPr>
          <p:cNvPr id="300" name="Google Shape;300;p38"/>
          <p:cNvPicPr preferRelativeResize="0"/>
          <p:nvPr/>
        </p:nvPicPr>
        <p:blipFill>
          <a:blip r:embed="rId4">
            <a:alphaModFix/>
          </a:blip>
          <a:stretch>
            <a:fillRect/>
          </a:stretch>
        </p:blipFill>
        <p:spPr>
          <a:xfrm>
            <a:off x="1827413" y="1444150"/>
            <a:ext cx="4888967" cy="2197388"/>
          </a:xfrm>
          <a:prstGeom prst="rect">
            <a:avLst/>
          </a:prstGeom>
          <a:noFill/>
          <a:ln>
            <a:noFill/>
          </a:ln>
        </p:spPr>
      </p:pic>
      <p:sp>
        <p:nvSpPr>
          <p:cNvPr id="301" name="Google Shape;301;p38"/>
          <p:cNvSpPr txBox="1"/>
          <p:nvPr/>
        </p:nvSpPr>
        <p:spPr>
          <a:xfrm>
            <a:off x="0" y="3816650"/>
            <a:ext cx="91440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20">
                <a:solidFill>
                  <a:schemeClr val="dk1"/>
                </a:solidFill>
              </a:rPr>
              <a:t>Este punto crítico puede ser un máximo o un mínimo. Como en este caso buscamos un máximo, es decir el punto en el que la función alcanza el valor más alto posible en un intervalo, necesitamos la condición de segundo orden.</a:t>
            </a:r>
            <a:endParaRPr sz="1620">
              <a:solidFill>
                <a:schemeClr val="dk1"/>
              </a:solidFill>
            </a:endParaRPr>
          </a:p>
          <a:p>
            <a:pPr indent="0" lvl="0" marL="0" rtl="0" algn="l">
              <a:spcBef>
                <a:spcPts val="0"/>
              </a:spcBef>
              <a:spcAft>
                <a:spcPts val="0"/>
              </a:spcAft>
              <a:buNone/>
            </a:pPr>
            <a:r>
              <a:rPr lang="es" sz="1620">
                <a:solidFill>
                  <a:schemeClr val="dk1"/>
                </a:solidFill>
              </a:rPr>
              <a:t>La función sube hasta el punto máximo y luego comienza a bajar, así que en ese máximo la pendiente cambia de positiva a negativa, pasando por un punto en el que la pendiente es = 0. </a:t>
            </a:r>
            <a:endParaRPr sz="162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47175" y="0"/>
            <a:ext cx="9412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307" name="Google Shape;307;p39"/>
          <p:cNvSpPr txBox="1"/>
          <p:nvPr/>
        </p:nvSpPr>
        <p:spPr>
          <a:xfrm>
            <a:off x="45025" y="879100"/>
            <a:ext cx="9144000" cy="96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20">
                <a:solidFill>
                  <a:schemeClr val="dk1"/>
                </a:solidFill>
              </a:rPr>
              <a:t>Condición de segundo orden:</a:t>
            </a:r>
            <a:endParaRPr b="1" sz="1820">
              <a:solidFill>
                <a:schemeClr val="dk1"/>
              </a:solidFill>
            </a:endParaRPr>
          </a:p>
          <a:p>
            <a:pPr indent="0" lvl="0" marL="0" rtl="0" algn="l">
              <a:spcBef>
                <a:spcPts val="0"/>
              </a:spcBef>
              <a:spcAft>
                <a:spcPts val="0"/>
              </a:spcAft>
              <a:buNone/>
            </a:pPr>
            <a:r>
              <a:t/>
            </a:r>
            <a:endParaRPr sz="1620">
              <a:solidFill>
                <a:schemeClr val="dk1"/>
              </a:solidFill>
            </a:endParaRPr>
          </a:p>
          <a:p>
            <a:pPr indent="0" lvl="0" marL="0" rtl="0" algn="l">
              <a:spcBef>
                <a:spcPts val="0"/>
              </a:spcBef>
              <a:spcAft>
                <a:spcPts val="0"/>
              </a:spcAft>
              <a:buNone/>
            </a:pPr>
            <a:r>
              <a:rPr lang="es" sz="1620">
                <a:solidFill>
                  <a:schemeClr val="dk1"/>
                </a:solidFill>
              </a:rPr>
              <a:t>Derivada segunda de l en ese punto negativa</a:t>
            </a:r>
            <a:r>
              <a:rPr lang="es" sz="1620">
                <a:solidFill>
                  <a:schemeClr val="dk1"/>
                </a:solidFill>
              </a:rPr>
              <a:t> </a:t>
            </a:r>
            <a:endParaRPr sz="1620">
              <a:solidFill>
                <a:schemeClr val="dk1"/>
              </a:solidFill>
            </a:endParaRPr>
          </a:p>
        </p:txBody>
      </p:sp>
      <p:pic>
        <p:nvPicPr>
          <p:cNvPr id="308" name="Google Shape;308;p39"/>
          <p:cNvPicPr preferRelativeResize="0"/>
          <p:nvPr/>
        </p:nvPicPr>
        <p:blipFill>
          <a:blip r:embed="rId3">
            <a:alphaModFix/>
          </a:blip>
          <a:stretch>
            <a:fillRect/>
          </a:stretch>
        </p:blipFill>
        <p:spPr>
          <a:xfrm>
            <a:off x="3959800" y="1941675"/>
            <a:ext cx="1314450" cy="8286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txBox="1"/>
          <p:nvPr>
            <p:ph type="title"/>
          </p:nvPr>
        </p:nvSpPr>
        <p:spPr>
          <a:xfrm>
            <a:off x="-47175" y="0"/>
            <a:ext cx="937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Función de verosimilitud</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314" name="Google Shape;314;p40"/>
          <p:cNvSpPr txBox="1"/>
          <p:nvPr/>
        </p:nvSpPr>
        <p:spPr>
          <a:xfrm>
            <a:off x="45025" y="1412500"/>
            <a:ext cx="9144000" cy="242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20">
                <a:solidFill>
                  <a:schemeClr val="dk1"/>
                </a:solidFill>
              </a:rPr>
              <a:t>Los modelos que hacen esta maximización construyen las CPO asignando valores iniciales a los β para comprobar que las condiciones se cumplan con igualdad 0.</a:t>
            </a:r>
            <a:endParaRPr sz="1820">
              <a:solidFill>
                <a:schemeClr val="dk1"/>
              </a:solidFill>
            </a:endParaRPr>
          </a:p>
          <a:p>
            <a:pPr indent="0" lvl="0" marL="0" rtl="0" algn="l">
              <a:spcBef>
                <a:spcPts val="0"/>
              </a:spcBef>
              <a:spcAft>
                <a:spcPts val="0"/>
              </a:spcAft>
              <a:buNone/>
            </a:pPr>
            <a:r>
              <a:rPr lang="es" sz="1820">
                <a:solidFill>
                  <a:schemeClr val="dk1"/>
                </a:solidFill>
              </a:rPr>
              <a:t>Se trata de un algoritmo de optimización que ajusta los valores iniciales hasta alcanzar el máximo. Es decir, hasta que todas las CPO se cumplan con igualdad 0.</a:t>
            </a:r>
            <a:endParaRPr sz="1820">
              <a:solidFill>
                <a:schemeClr val="dk1"/>
              </a:solidFill>
            </a:endParaRPr>
          </a:p>
          <a:p>
            <a:pPr indent="0" lvl="0" marL="0" rtl="0" algn="l">
              <a:spcBef>
                <a:spcPts val="0"/>
              </a:spcBef>
              <a:spcAft>
                <a:spcPts val="0"/>
              </a:spcAft>
              <a:buNone/>
            </a:pPr>
            <a:r>
              <a:rPr lang="es" sz="1820">
                <a:solidFill>
                  <a:schemeClr val="dk1"/>
                </a:solidFill>
              </a:rPr>
              <a:t>Frecuentemente los softwares utilizan valores iniciales 0 para todos los coeficientes que acompañan las X y en caso de que con estos no se cumplan las CPO, prueban con 1, y así sucesivamente. Al modelo le lleva entre 3 y 5 iteraciones alcanzar el óptimo, en general.</a:t>
            </a:r>
            <a:endParaRPr sz="182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1"/>
          <p:cNvSpPr txBox="1"/>
          <p:nvPr>
            <p:ph type="title"/>
          </p:nvPr>
        </p:nvSpPr>
        <p:spPr>
          <a:xfrm>
            <a:off x="-47175" y="0"/>
            <a:ext cx="934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Interpretación de los coeficientes</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En un modelo lineal:</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En un modelo no lineal:</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120"/>
              <a:t>β no representa cuánto cambia la probabilidad de ocurrencia del evento cuando cambia la variable explicativa</a:t>
            </a:r>
            <a:endParaRPr sz="2120"/>
          </a:p>
          <a:p>
            <a:pPr indent="0" lvl="0" marL="0" rtl="0" algn="l">
              <a:spcBef>
                <a:spcPts val="0"/>
              </a:spcBef>
              <a:spcAft>
                <a:spcPts val="0"/>
              </a:spcAft>
              <a:buSzPts val="990"/>
              <a:buNone/>
            </a:pPr>
            <a:r>
              <a:t/>
            </a:r>
            <a:endParaRPr sz="2220"/>
          </a:p>
          <a:p>
            <a:pPr indent="0" lvl="0" marL="0" rtl="0" algn="l">
              <a:spcBef>
                <a:spcPts val="0"/>
              </a:spcBef>
              <a:spcAft>
                <a:spcPts val="0"/>
              </a:spcAft>
              <a:buClr>
                <a:schemeClr val="dk1"/>
              </a:buClr>
              <a:buSzPts val="990"/>
              <a:buFont typeface="Arial"/>
              <a:buNone/>
            </a:pPr>
            <a:r>
              <a:rPr lang="es" sz="2220"/>
              <a:t>                                                                  </a:t>
            </a:r>
            <a:endParaRPr sz="2220"/>
          </a:p>
        </p:txBody>
      </p:sp>
      <p:pic>
        <p:nvPicPr>
          <p:cNvPr id="320" name="Google Shape;320;p41"/>
          <p:cNvPicPr preferRelativeResize="0"/>
          <p:nvPr/>
        </p:nvPicPr>
        <p:blipFill>
          <a:blip r:embed="rId3">
            <a:alphaModFix/>
          </a:blip>
          <a:stretch>
            <a:fillRect/>
          </a:stretch>
        </p:blipFill>
        <p:spPr>
          <a:xfrm>
            <a:off x="2327925" y="1651500"/>
            <a:ext cx="1152525" cy="685800"/>
          </a:xfrm>
          <a:prstGeom prst="rect">
            <a:avLst/>
          </a:prstGeom>
          <a:noFill/>
          <a:ln>
            <a:noFill/>
          </a:ln>
        </p:spPr>
      </p:pic>
      <p:cxnSp>
        <p:nvCxnSpPr>
          <p:cNvPr id="321" name="Google Shape;321;p41"/>
          <p:cNvCxnSpPr/>
          <p:nvPr/>
        </p:nvCxnSpPr>
        <p:spPr>
          <a:xfrm>
            <a:off x="3663425" y="2022625"/>
            <a:ext cx="438900" cy="0"/>
          </a:xfrm>
          <a:prstGeom prst="straightConnector1">
            <a:avLst/>
          </a:prstGeom>
          <a:noFill/>
          <a:ln cap="flat" cmpd="sng" w="9525">
            <a:solidFill>
              <a:schemeClr val="dk2"/>
            </a:solidFill>
            <a:prstDash val="solid"/>
            <a:round/>
            <a:headEnd len="med" w="med" type="none"/>
            <a:tailEnd len="med" w="med" type="triangle"/>
          </a:ln>
        </p:spPr>
      </p:cxnSp>
      <p:sp>
        <p:nvSpPr>
          <p:cNvPr id="322" name="Google Shape;322;p41"/>
          <p:cNvSpPr txBox="1"/>
          <p:nvPr/>
        </p:nvSpPr>
        <p:spPr>
          <a:xfrm>
            <a:off x="4285300" y="1588525"/>
            <a:ext cx="3407400" cy="86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20">
                <a:solidFill>
                  <a:schemeClr val="dk1"/>
                </a:solidFill>
              </a:rPr>
              <a:t>Captura el efecto marginal de X sobre Y</a:t>
            </a:r>
            <a:endParaRPr/>
          </a:p>
        </p:txBody>
      </p:sp>
      <p:pic>
        <p:nvPicPr>
          <p:cNvPr id="323" name="Google Shape;323;p41"/>
          <p:cNvPicPr preferRelativeResize="0"/>
          <p:nvPr/>
        </p:nvPicPr>
        <p:blipFill>
          <a:blip r:embed="rId4">
            <a:alphaModFix/>
          </a:blip>
          <a:stretch>
            <a:fillRect/>
          </a:stretch>
        </p:blipFill>
        <p:spPr>
          <a:xfrm>
            <a:off x="2201625" y="3269775"/>
            <a:ext cx="4533900" cy="619125"/>
          </a:xfrm>
          <a:prstGeom prst="rect">
            <a:avLst/>
          </a:prstGeom>
          <a:noFill/>
          <a:ln>
            <a:noFill/>
          </a:ln>
        </p:spPr>
      </p:pic>
      <p:pic>
        <p:nvPicPr>
          <p:cNvPr id="324" name="Google Shape;324;p41"/>
          <p:cNvPicPr preferRelativeResize="0"/>
          <p:nvPr/>
        </p:nvPicPr>
        <p:blipFill>
          <a:blip r:embed="rId5">
            <a:alphaModFix/>
          </a:blip>
          <a:stretch>
            <a:fillRect/>
          </a:stretch>
        </p:blipFill>
        <p:spPr>
          <a:xfrm>
            <a:off x="3416325" y="3951275"/>
            <a:ext cx="1790700" cy="457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47175" y="0"/>
            <a:ext cx="934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120"/>
              <a:t>Interpretación de los coeficientes</a:t>
            </a:r>
            <a:endParaRPr sz="21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Cómo cambia la función de densidad varía según en qué punto de la curva nos encontremos. La altura de la función de densidad puede ser más alta o más baja, por lo que el efecto marginal no es constante a lo largo de toda la función.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La única interpretación posible respecto de los </a:t>
            </a:r>
            <a:r>
              <a:rPr lang="es" sz="2120"/>
              <a:t>β es su signo: si es positivo el efecto de las variables explicativas sobre la probabilidad estimada es directo, y si es negativo, el efecto de las variables explicativas en la probabilidad es inverso. Pero no nos dice nada sobre la magnitud del impacto de X en Y. </a:t>
            </a:r>
            <a:endParaRPr b="1"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pic>
        <p:nvPicPr>
          <p:cNvPr id="330" name="Google Shape;330;p42"/>
          <p:cNvPicPr preferRelativeResize="0"/>
          <p:nvPr/>
        </p:nvPicPr>
        <p:blipFill>
          <a:blip r:embed="rId3">
            <a:alphaModFix/>
          </a:blip>
          <a:stretch>
            <a:fillRect/>
          </a:stretch>
        </p:blipFill>
        <p:spPr>
          <a:xfrm>
            <a:off x="3483850" y="991225"/>
            <a:ext cx="1790700" cy="457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type="title"/>
          </p:nvPr>
        </p:nvSpPr>
        <p:spPr>
          <a:xfrm>
            <a:off x="-47175" y="0"/>
            <a:ext cx="944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Interpretación de los coeficientes</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220"/>
              <a:t>En la práctica, se suele usar el efecto marginal en un punto. Frecuentemente se utiliza la media           efecto marginal promedio</a:t>
            </a:r>
            <a:endParaRPr sz="2220"/>
          </a:p>
          <a:p>
            <a:pPr indent="0" lvl="0" marL="0" rtl="0" algn="l">
              <a:spcBef>
                <a:spcPts val="0"/>
              </a:spcBef>
              <a:spcAft>
                <a:spcPts val="0"/>
              </a:spcAft>
              <a:buSzPts val="990"/>
              <a:buNone/>
            </a:pPr>
            <a:r>
              <a:rPr lang="es" sz="2220"/>
              <a:t>Es decir, cuánto cambia la probabilidad de repago de un crédito cuando varía el ingreso del individuo promedio, por ejemplo.</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cxnSp>
        <p:nvCxnSpPr>
          <p:cNvPr id="336" name="Google Shape;336;p43"/>
          <p:cNvCxnSpPr/>
          <p:nvPr/>
        </p:nvCxnSpPr>
        <p:spPr>
          <a:xfrm>
            <a:off x="4545778" y="1635700"/>
            <a:ext cx="5628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47175" y="0"/>
            <a:ext cx="9303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120"/>
              <a:t>Interpretación de los coeficientes</a:t>
            </a:r>
            <a:endParaRPr sz="2120"/>
          </a:p>
          <a:p>
            <a:pPr indent="0" lvl="0" marL="0" rtl="0" algn="l">
              <a:spcBef>
                <a:spcPts val="0"/>
              </a:spcBef>
              <a:spcAft>
                <a:spcPts val="0"/>
              </a:spcAft>
              <a:buSzPts val="990"/>
              <a:buNone/>
            </a:pPr>
            <a:r>
              <a:t/>
            </a:r>
            <a:endParaRPr sz="2120"/>
          </a:p>
          <a:p>
            <a:pPr indent="0" lvl="0" marL="0" rtl="0" algn="l">
              <a:spcBef>
                <a:spcPts val="0"/>
              </a:spcBef>
              <a:spcAft>
                <a:spcPts val="0"/>
              </a:spcAft>
              <a:buSzPts val="990"/>
              <a:buNone/>
            </a:pPr>
            <a:r>
              <a:rPr lang="es" sz="2120"/>
              <a:t>Otra forma común de interpretar los coeficientes del modelo logit es a través de los </a:t>
            </a:r>
            <a:r>
              <a:rPr b="1" lang="es" sz="2120"/>
              <a:t>Odds ratio (OR)</a:t>
            </a:r>
            <a:endParaRPr b="1" sz="21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1800"/>
              <a:t>Nos indica cuánto más probable es que un individuo con Xi=1 (por ejemplo: una buena historia crediticia) repague el crédito con respecto a uno en el que Xi=0</a:t>
            </a:r>
            <a:endParaRPr sz="180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pic>
        <p:nvPicPr>
          <p:cNvPr id="342" name="Google Shape;342;p44"/>
          <p:cNvPicPr preferRelativeResize="0"/>
          <p:nvPr/>
        </p:nvPicPr>
        <p:blipFill>
          <a:blip r:embed="rId3">
            <a:alphaModFix/>
          </a:blip>
          <a:stretch>
            <a:fillRect/>
          </a:stretch>
        </p:blipFill>
        <p:spPr>
          <a:xfrm>
            <a:off x="3213825" y="1688025"/>
            <a:ext cx="2781300" cy="781050"/>
          </a:xfrm>
          <a:prstGeom prst="rect">
            <a:avLst/>
          </a:prstGeom>
          <a:noFill/>
          <a:ln>
            <a:noFill/>
          </a:ln>
        </p:spPr>
      </p:pic>
      <p:pic>
        <p:nvPicPr>
          <p:cNvPr id="343" name="Google Shape;343;p44"/>
          <p:cNvPicPr preferRelativeResize="0"/>
          <p:nvPr/>
        </p:nvPicPr>
        <p:blipFill>
          <a:blip r:embed="rId4">
            <a:alphaModFix/>
          </a:blip>
          <a:stretch>
            <a:fillRect/>
          </a:stretch>
        </p:blipFill>
        <p:spPr>
          <a:xfrm>
            <a:off x="2753625" y="2703675"/>
            <a:ext cx="3701700" cy="1324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5"/>
          <p:cNvSpPr txBox="1"/>
          <p:nvPr>
            <p:ph type="title"/>
          </p:nvPr>
        </p:nvSpPr>
        <p:spPr>
          <a:xfrm>
            <a:off x="-47175" y="0"/>
            <a:ext cx="940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220"/>
              <a:t>Modelo de regresión logística con variable dependiente binaria o dummy</a:t>
            </a:r>
            <a:endParaRPr sz="2220"/>
          </a:p>
          <a:p>
            <a:pPr indent="0" lvl="0" marL="0" rtl="0" algn="l">
              <a:spcBef>
                <a:spcPts val="0"/>
              </a:spcBef>
              <a:spcAft>
                <a:spcPts val="0"/>
              </a:spcAft>
              <a:buSzPts val="990"/>
              <a:buNone/>
            </a:pPr>
            <a:r>
              <a:rPr lang="es" sz="2220"/>
              <a:t>Medida de bondad de ajuste</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020"/>
              <a:t>En el modelo lineal </a:t>
            </a:r>
            <a:r>
              <a:rPr lang="es" sz="2020"/>
              <a:t>utili</a:t>
            </a:r>
            <a:r>
              <a:rPr lang="es" sz="2000"/>
              <a:t>zamos</a:t>
            </a:r>
            <a:r>
              <a:rPr lang="es" sz="2000"/>
              <a:t> el </a:t>
            </a:r>
            <a:r>
              <a:rPr lang="es" sz="2000"/>
              <a:t>R</a:t>
            </a:r>
            <a:r>
              <a:rPr baseline="30000" lang="es" sz="2000"/>
              <a:t>2 </a:t>
            </a:r>
            <a:r>
              <a:rPr lang="es" sz="2000"/>
              <a:t>que nos indica qué porcentaje de la variación de Y se explica por el modelo. Es decir: </a:t>
            </a:r>
            <a:endParaRPr baseline="30000" sz="200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rPr lang="es" sz="2020"/>
              <a:t>Pero en un modelo no lineal, no estamos minimizando la suma de los residuos al cuadrado. </a:t>
            </a:r>
            <a:endParaRPr sz="2020"/>
          </a:p>
          <a:p>
            <a:pPr indent="0" lvl="0" marL="0" rtl="0" algn="l">
              <a:spcBef>
                <a:spcPts val="0"/>
              </a:spcBef>
              <a:spcAft>
                <a:spcPts val="0"/>
              </a:spcAft>
              <a:buSzPts val="990"/>
              <a:buNone/>
            </a:pPr>
            <a:r>
              <a:rPr lang="es" sz="2020"/>
              <a:t>Se utilizan medidas de bondad de ajuste alternativas         Pseudo </a:t>
            </a:r>
            <a:r>
              <a:rPr lang="es" sz="2000"/>
              <a:t>R</a:t>
            </a:r>
            <a:r>
              <a:rPr baseline="30000" lang="es" sz="2000"/>
              <a:t>2 </a:t>
            </a:r>
            <a:r>
              <a:rPr lang="es" sz="2020"/>
              <a:t> </a:t>
            </a:r>
            <a:endParaRPr sz="2020"/>
          </a:p>
          <a:p>
            <a:pPr indent="0" lvl="0" marL="0" rtl="0" algn="l">
              <a:spcBef>
                <a:spcPts val="0"/>
              </a:spcBef>
              <a:spcAft>
                <a:spcPts val="0"/>
              </a:spcAft>
              <a:buSzPts val="990"/>
              <a:buNone/>
            </a:pPr>
            <a:r>
              <a:rPr lang="es" sz="2020"/>
              <a:t>Uno de los más utilizados es el </a:t>
            </a:r>
            <a:r>
              <a:rPr lang="es" sz="2000"/>
              <a:t>R</a:t>
            </a:r>
            <a:r>
              <a:rPr baseline="30000" lang="es" sz="2000"/>
              <a:t>2  </a:t>
            </a:r>
            <a:r>
              <a:rPr lang="es" sz="2020"/>
              <a:t>de McFadden:</a:t>
            </a:r>
            <a:endParaRPr sz="2020"/>
          </a:p>
          <a:p>
            <a:pPr indent="0" lvl="0" marL="0" rtl="0" algn="l">
              <a:spcBef>
                <a:spcPts val="0"/>
              </a:spcBef>
              <a:spcAft>
                <a:spcPts val="0"/>
              </a:spcAft>
              <a:buSzPts val="990"/>
              <a:buNone/>
            </a:pPr>
            <a:r>
              <a:t/>
            </a:r>
            <a:endParaRPr sz="2020"/>
          </a:p>
          <a:p>
            <a:pPr indent="0" lvl="0" marL="0" rtl="0" algn="l">
              <a:spcBef>
                <a:spcPts val="0"/>
              </a:spcBef>
              <a:spcAft>
                <a:spcPts val="0"/>
              </a:spcAft>
              <a:buSzPts val="990"/>
              <a:buNone/>
            </a:pPr>
            <a:r>
              <a:t/>
            </a:r>
            <a:endParaRPr sz="2020"/>
          </a:p>
          <a:p>
            <a:pPr indent="0" lvl="0" marL="0" rtl="0" algn="l">
              <a:spcBef>
                <a:spcPts val="0"/>
              </a:spcBef>
              <a:spcAft>
                <a:spcPts val="0"/>
              </a:spcAft>
              <a:buSzPts val="990"/>
              <a:buNone/>
            </a:pPr>
            <a:r>
              <a:t/>
            </a:r>
            <a:endParaRPr sz="2020"/>
          </a:p>
          <a:p>
            <a:pPr indent="0" lvl="0" marL="0" rtl="0" algn="l">
              <a:spcBef>
                <a:spcPts val="0"/>
              </a:spcBef>
              <a:spcAft>
                <a:spcPts val="0"/>
              </a:spcAft>
              <a:buSzPts val="990"/>
              <a:buNone/>
            </a:pPr>
            <a:r>
              <a:rPr lang="es" sz="1920"/>
              <a:t>Si β es 0, es decir que cambios en X no alteran la probabilidad de ocurrencia, esta medida dará 0. El </a:t>
            </a:r>
            <a:r>
              <a:rPr lang="es" sz="1900"/>
              <a:t>R</a:t>
            </a:r>
            <a:r>
              <a:rPr baseline="30000" lang="es" sz="1900"/>
              <a:t>2 </a:t>
            </a:r>
            <a:r>
              <a:rPr lang="es" sz="1900"/>
              <a:t>MF va de 0 a 1 y tiene la misma interpretación que el </a:t>
            </a:r>
            <a:r>
              <a:rPr b="1" lang="es" sz="1800"/>
              <a:t>R</a:t>
            </a:r>
            <a:r>
              <a:rPr b="1" baseline="30000" lang="es" sz="2117"/>
              <a:t>2</a:t>
            </a:r>
            <a:endParaRPr sz="1920"/>
          </a:p>
          <a:p>
            <a:pPr indent="0" lvl="0" marL="0" rtl="0" algn="l">
              <a:spcBef>
                <a:spcPts val="0"/>
              </a:spcBef>
              <a:spcAft>
                <a:spcPts val="0"/>
              </a:spcAft>
              <a:buSzPts val="990"/>
              <a:buNone/>
            </a:pPr>
            <a:r>
              <a:t/>
            </a:r>
            <a:endParaRPr sz="2220"/>
          </a:p>
          <a:p>
            <a:pPr indent="0" lvl="0" marL="0" rtl="0" algn="l">
              <a:spcBef>
                <a:spcPts val="0"/>
              </a:spcBef>
              <a:spcAft>
                <a:spcPts val="0"/>
              </a:spcAft>
              <a:buSzPts val="990"/>
              <a:buNone/>
            </a:pPr>
            <a:r>
              <a:t/>
            </a:r>
            <a:endParaRPr sz="2220"/>
          </a:p>
        </p:txBody>
      </p:sp>
      <p:sp>
        <p:nvSpPr>
          <p:cNvPr id="349" name="Google Shape;349;p45"/>
          <p:cNvSpPr txBox="1"/>
          <p:nvPr/>
        </p:nvSpPr>
        <p:spPr>
          <a:xfrm>
            <a:off x="3726000" y="1719750"/>
            <a:ext cx="3762900" cy="52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solidFill>
                  <a:srgbClr val="000000"/>
                </a:solidFill>
              </a:rPr>
              <a:t>R</a:t>
            </a:r>
            <a:r>
              <a:rPr b="1" baseline="30000" lang="es" sz="2217">
                <a:solidFill>
                  <a:srgbClr val="000000"/>
                </a:solidFill>
              </a:rPr>
              <a:t>2</a:t>
            </a:r>
            <a:r>
              <a:rPr b="1" lang="es" sz="1900">
                <a:solidFill>
                  <a:srgbClr val="000000"/>
                </a:solidFill>
              </a:rPr>
              <a:t> = SCE / SCT</a:t>
            </a:r>
            <a:endParaRPr b="1" sz="2000"/>
          </a:p>
        </p:txBody>
      </p:sp>
      <p:cxnSp>
        <p:nvCxnSpPr>
          <p:cNvPr id="350" name="Google Shape;350;p45"/>
          <p:cNvCxnSpPr/>
          <p:nvPr/>
        </p:nvCxnSpPr>
        <p:spPr>
          <a:xfrm>
            <a:off x="6272900" y="3158475"/>
            <a:ext cx="258900" cy="0"/>
          </a:xfrm>
          <a:prstGeom prst="straightConnector1">
            <a:avLst/>
          </a:prstGeom>
          <a:noFill/>
          <a:ln cap="flat" cmpd="sng" w="9525">
            <a:solidFill>
              <a:schemeClr val="dk2"/>
            </a:solidFill>
            <a:prstDash val="solid"/>
            <a:round/>
            <a:headEnd len="med" w="med" type="none"/>
            <a:tailEnd len="med" w="med" type="triangle"/>
          </a:ln>
        </p:spPr>
      </p:cxnSp>
      <p:pic>
        <p:nvPicPr>
          <p:cNvPr id="351" name="Google Shape;351;p45"/>
          <p:cNvPicPr preferRelativeResize="0"/>
          <p:nvPr/>
        </p:nvPicPr>
        <p:blipFill>
          <a:blip r:embed="rId3">
            <a:alphaModFix/>
          </a:blip>
          <a:stretch>
            <a:fillRect/>
          </a:stretch>
        </p:blipFill>
        <p:spPr>
          <a:xfrm>
            <a:off x="3252775" y="3681100"/>
            <a:ext cx="2638425" cy="8667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6"/>
          <p:cNvSpPr txBox="1"/>
          <p:nvPr>
            <p:ph type="title"/>
          </p:nvPr>
        </p:nvSpPr>
        <p:spPr>
          <a:xfrm>
            <a:off x="311700" y="15144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020"/>
              <a:t>Ejemplo con datos: probabilidad de votar al oficialismo en base a distintas características. Coeficientes originales.</a:t>
            </a:r>
            <a:endParaRPr sz="2020"/>
          </a:p>
        </p:txBody>
      </p:sp>
      <p:pic>
        <p:nvPicPr>
          <p:cNvPr id="357" name="Google Shape;357;p46"/>
          <p:cNvPicPr preferRelativeResize="0"/>
          <p:nvPr/>
        </p:nvPicPr>
        <p:blipFill>
          <a:blip r:embed="rId3">
            <a:alphaModFix/>
          </a:blip>
          <a:stretch>
            <a:fillRect/>
          </a:stretch>
        </p:blipFill>
        <p:spPr>
          <a:xfrm>
            <a:off x="1044875" y="1287571"/>
            <a:ext cx="6953250" cy="36861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7"/>
          <p:cNvSpPr txBox="1"/>
          <p:nvPr>
            <p:ph type="title"/>
          </p:nvPr>
        </p:nvSpPr>
        <p:spPr>
          <a:xfrm>
            <a:off x="311700" y="15144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020"/>
              <a:t>Ejemplo con datos: probabilidad de votar al oficialismo en base a distintas características. Odds ratios.</a:t>
            </a:r>
            <a:endParaRPr sz="2020"/>
          </a:p>
        </p:txBody>
      </p:sp>
      <p:pic>
        <p:nvPicPr>
          <p:cNvPr id="363" name="Google Shape;363;p47"/>
          <p:cNvPicPr preferRelativeResize="0"/>
          <p:nvPr/>
        </p:nvPicPr>
        <p:blipFill rotWithShape="1">
          <a:blip r:embed="rId3">
            <a:alphaModFix/>
          </a:blip>
          <a:srcRect b="6743" l="0" r="0" t="0"/>
          <a:stretch/>
        </p:blipFill>
        <p:spPr>
          <a:xfrm>
            <a:off x="1192525" y="1017481"/>
            <a:ext cx="6758950" cy="38371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8"/>
          <p:cNvSpPr txBox="1"/>
          <p:nvPr>
            <p:ph type="title"/>
          </p:nvPr>
        </p:nvSpPr>
        <p:spPr>
          <a:xfrm>
            <a:off x="311700" y="15144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020"/>
              <a:t>Ejemplo con datos: probabilidad de votar al oficialismo en base a distintas características. Odds ratios.</a:t>
            </a:r>
            <a:endParaRPr sz="2020"/>
          </a:p>
        </p:txBody>
      </p:sp>
      <p:pic>
        <p:nvPicPr>
          <p:cNvPr id="369" name="Google Shape;369;p48"/>
          <p:cNvPicPr preferRelativeResize="0"/>
          <p:nvPr/>
        </p:nvPicPr>
        <p:blipFill>
          <a:blip r:embed="rId3">
            <a:alphaModFix/>
          </a:blip>
          <a:stretch>
            <a:fillRect/>
          </a:stretch>
        </p:blipFill>
        <p:spPr>
          <a:xfrm>
            <a:off x="2489257" y="864796"/>
            <a:ext cx="4165490" cy="411455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